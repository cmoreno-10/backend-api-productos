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356" r:id="rId4"/>
    <p:sldId id="353" r:id="rId5"/>
    <p:sldId id="355" r:id="rId6"/>
    <p:sldId id="354" r:id="rId7"/>
    <p:sldId id="382" r:id="rId8"/>
    <p:sldId id="277" r:id="rId9"/>
    <p:sldId id="276" r:id="rId10"/>
    <p:sldId id="278" r:id="rId11"/>
    <p:sldId id="273" r:id="rId12"/>
    <p:sldId id="267" r:id="rId13"/>
    <p:sldId id="257" r:id="rId14"/>
    <p:sldId id="258" r:id="rId15"/>
    <p:sldId id="385" r:id="rId16"/>
    <p:sldId id="265" r:id="rId17"/>
    <p:sldId id="269" r:id="rId18"/>
    <p:sldId id="259" r:id="rId19"/>
    <p:sldId id="318" r:id="rId20"/>
    <p:sldId id="386" r:id="rId21"/>
    <p:sldId id="387" r:id="rId22"/>
    <p:sldId id="266" r:id="rId23"/>
    <p:sldId id="279" r:id="rId24"/>
    <p:sldId id="263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85"/>
  </p:normalViewPr>
  <p:slideViewPr>
    <p:cSldViewPr>
      <p:cViewPr varScale="1">
        <p:scale>
          <a:sx n="105" d="100"/>
          <a:sy n="105" d="100"/>
        </p:scale>
        <p:origin x="93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2268C5-15D7-4C03-84B3-C2601D4FB5B4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4675A26-6699-49D2-8BB7-C2CB398C2282}">
      <dgm:prSet custT="1"/>
      <dgm:spPr>
        <a:solidFill>
          <a:schemeClr val="bg1"/>
        </a:solidFill>
        <a:ln w="19050">
          <a:solidFill>
            <a:srgbClr val="D23C46"/>
          </a:solidFill>
          <a:prstDash val="lgDashDot"/>
        </a:ln>
      </dgm:spPr>
      <dgm:t>
        <a:bodyPr/>
        <a:lstStyle/>
        <a:p>
          <a:r>
            <a:rPr lang="es-MX" sz="1500" b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rPr>
            <a:t>Protege derechos vitales </a:t>
          </a:r>
          <a:endParaRPr lang="es-CO" sz="1500" b="0" dirty="0">
            <a:solidFill>
              <a:schemeClr val="tx1">
                <a:lumMod val="50000"/>
                <a:lumOff val="50000"/>
              </a:schemeClr>
            </a:solidFill>
            <a:latin typeface="+mj-lt"/>
          </a:endParaRPr>
        </a:p>
      </dgm:t>
    </dgm:pt>
    <dgm:pt modelId="{6FECC289-5D1F-4885-960A-5C1F00188DAB}" type="parTrans" cxnId="{D628BC8B-CF76-4417-AFB2-01C5DD0C7EAE}">
      <dgm:prSet/>
      <dgm:spPr/>
      <dgm:t>
        <a:bodyPr/>
        <a:lstStyle/>
        <a:p>
          <a:endParaRPr lang="es-CO"/>
        </a:p>
      </dgm:t>
    </dgm:pt>
    <dgm:pt modelId="{D95F15FA-690B-40B8-97C8-14F8A3090CF5}" type="sibTrans" cxnId="{D628BC8B-CF76-4417-AFB2-01C5DD0C7EAE}">
      <dgm:prSet/>
      <dgm:spPr/>
      <dgm:t>
        <a:bodyPr/>
        <a:lstStyle/>
        <a:p>
          <a:endParaRPr lang="es-CO"/>
        </a:p>
      </dgm:t>
    </dgm:pt>
    <dgm:pt modelId="{EB7B43B4-2848-478A-A7D9-6AEB88CE590D}" type="pres">
      <dgm:prSet presAssocID="{BB2268C5-15D7-4C03-84B3-C2601D4FB5B4}" presName="Name0" presStyleCnt="0">
        <dgm:presLayoutVars>
          <dgm:dir/>
          <dgm:animLvl val="lvl"/>
          <dgm:resizeHandles val="exact"/>
        </dgm:presLayoutVars>
      </dgm:prSet>
      <dgm:spPr/>
    </dgm:pt>
    <dgm:pt modelId="{1B8F0194-7DDF-4101-886E-2DE40B1EB2C1}" type="pres">
      <dgm:prSet presAssocID="{54675A26-6699-49D2-8BB7-C2CB398C2282}" presName="linNode" presStyleCnt="0"/>
      <dgm:spPr/>
    </dgm:pt>
    <dgm:pt modelId="{6D84F9EA-23B5-45E1-9CAC-C2E6FFE3BBBD}" type="pres">
      <dgm:prSet presAssocID="{54675A26-6699-49D2-8BB7-C2CB398C2282}" presName="parentText" presStyleLbl="node1" presStyleIdx="0" presStyleCnt="1" custScaleX="79748" custLinFactNeighborY="2533">
        <dgm:presLayoutVars>
          <dgm:chMax val="1"/>
          <dgm:bulletEnabled val="1"/>
        </dgm:presLayoutVars>
      </dgm:prSet>
      <dgm:spPr/>
    </dgm:pt>
  </dgm:ptLst>
  <dgm:cxnLst>
    <dgm:cxn modelId="{A7A0CE04-B0C1-4C2B-BCE5-5619C1EC93F1}" type="presOf" srcId="{54675A26-6699-49D2-8BB7-C2CB398C2282}" destId="{6D84F9EA-23B5-45E1-9CAC-C2E6FFE3BBBD}" srcOrd="0" destOrd="0" presId="urn:microsoft.com/office/officeart/2005/8/layout/vList5"/>
    <dgm:cxn modelId="{D628BC8B-CF76-4417-AFB2-01C5DD0C7EAE}" srcId="{BB2268C5-15D7-4C03-84B3-C2601D4FB5B4}" destId="{54675A26-6699-49D2-8BB7-C2CB398C2282}" srcOrd="0" destOrd="0" parTransId="{6FECC289-5D1F-4885-960A-5C1F00188DAB}" sibTransId="{D95F15FA-690B-40B8-97C8-14F8A3090CF5}"/>
    <dgm:cxn modelId="{5EAFBBFA-4891-45E6-AC00-1122763A53EF}" type="presOf" srcId="{BB2268C5-15D7-4C03-84B3-C2601D4FB5B4}" destId="{EB7B43B4-2848-478A-A7D9-6AEB88CE590D}" srcOrd="0" destOrd="0" presId="urn:microsoft.com/office/officeart/2005/8/layout/vList5"/>
    <dgm:cxn modelId="{18410748-E374-4DAF-8240-E83A7E575096}" type="presParOf" srcId="{EB7B43B4-2848-478A-A7D9-6AEB88CE590D}" destId="{1B8F0194-7DDF-4101-886E-2DE40B1EB2C1}" srcOrd="0" destOrd="0" presId="urn:microsoft.com/office/officeart/2005/8/layout/vList5"/>
    <dgm:cxn modelId="{36804BE9-D402-4820-8673-C11FE42DC052}" type="presParOf" srcId="{1B8F0194-7DDF-4101-886E-2DE40B1EB2C1}" destId="{6D84F9EA-23B5-45E1-9CAC-C2E6FFE3BBB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2B3698-4297-4D8F-8015-9A2FADF19545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05E10C57-7FA0-4ACF-98AE-92339951EB48}">
      <dgm:prSet custT="1"/>
      <dgm:spPr>
        <a:solidFill>
          <a:schemeClr val="bg1"/>
        </a:solidFill>
        <a:ln w="19050">
          <a:solidFill>
            <a:srgbClr val="D23C46"/>
          </a:solidFill>
          <a:prstDash val="lgDashDot"/>
        </a:ln>
      </dgm:spPr>
      <dgm:t>
        <a:bodyPr/>
        <a:lstStyle/>
        <a:p>
          <a:r>
            <a:rPr lang="es-MX" sz="1500" b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rPr>
            <a:t>Protege derechos novedosos </a:t>
          </a:r>
          <a:endParaRPr lang="es-CO" sz="1500" b="0" dirty="0">
            <a:solidFill>
              <a:schemeClr val="tx1">
                <a:lumMod val="50000"/>
                <a:lumOff val="50000"/>
              </a:schemeClr>
            </a:solidFill>
            <a:latin typeface="+mj-lt"/>
          </a:endParaRPr>
        </a:p>
      </dgm:t>
    </dgm:pt>
    <dgm:pt modelId="{6F7D6310-FB83-435B-8DB7-89396F08F923}" type="parTrans" cxnId="{FB77987C-CCEA-4E1C-B201-D852A1C91D67}">
      <dgm:prSet/>
      <dgm:spPr/>
      <dgm:t>
        <a:bodyPr/>
        <a:lstStyle/>
        <a:p>
          <a:endParaRPr lang="es-CO"/>
        </a:p>
      </dgm:t>
    </dgm:pt>
    <dgm:pt modelId="{C344665B-55C1-4741-8A5D-05AB7E82C1CB}" type="sibTrans" cxnId="{FB77987C-CCEA-4E1C-B201-D852A1C91D67}">
      <dgm:prSet/>
      <dgm:spPr/>
      <dgm:t>
        <a:bodyPr/>
        <a:lstStyle/>
        <a:p>
          <a:endParaRPr lang="es-CO"/>
        </a:p>
      </dgm:t>
    </dgm:pt>
    <dgm:pt modelId="{461E9C82-B464-4A0A-B233-54A09AC9E833}" type="pres">
      <dgm:prSet presAssocID="{D12B3698-4297-4D8F-8015-9A2FADF19545}" presName="Name0" presStyleCnt="0">
        <dgm:presLayoutVars>
          <dgm:dir/>
          <dgm:animLvl val="lvl"/>
          <dgm:resizeHandles val="exact"/>
        </dgm:presLayoutVars>
      </dgm:prSet>
      <dgm:spPr/>
    </dgm:pt>
    <dgm:pt modelId="{F7D8609D-1E09-4AE8-8944-F845869D2827}" type="pres">
      <dgm:prSet presAssocID="{05E10C57-7FA0-4ACF-98AE-92339951EB48}" presName="linNode" presStyleCnt="0"/>
      <dgm:spPr/>
    </dgm:pt>
    <dgm:pt modelId="{0D5F3E66-471B-46D3-91AD-6AC2827D1F29}" type="pres">
      <dgm:prSet presAssocID="{05E10C57-7FA0-4ACF-98AE-92339951EB48}" presName="parentText" presStyleLbl="node1" presStyleIdx="0" presStyleCnt="1" custScaleX="77642" custLinFactNeighborX="-4865" custLinFactNeighborY="1647">
        <dgm:presLayoutVars>
          <dgm:chMax val="1"/>
          <dgm:bulletEnabled val="1"/>
        </dgm:presLayoutVars>
      </dgm:prSet>
      <dgm:spPr/>
    </dgm:pt>
  </dgm:ptLst>
  <dgm:cxnLst>
    <dgm:cxn modelId="{5BA3586F-E58E-4859-B69A-023CBA2E3DC5}" type="presOf" srcId="{D12B3698-4297-4D8F-8015-9A2FADF19545}" destId="{461E9C82-B464-4A0A-B233-54A09AC9E833}" srcOrd="0" destOrd="0" presId="urn:microsoft.com/office/officeart/2005/8/layout/vList5"/>
    <dgm:cxn modelId="{2ADD4B70-4906-4B81-971D-A5EA5088042C}" type="presOf" srcId="{05E10C57-7FA0-4ACF-98AE-92339951EB48}" destId="{0D5F3E66-471B-46D3-91AD-6AC2827D1F29}" srcOrd="0" destOrd="0" presId="urn:microsoft.com/office/officeart/2005/8/layout/vList5"/>
    <dgm:cxn modelId="{FB77987C-CCEA-4E1C-B201-D852A1C91D67}" srcId="{D12B3698-4297-4D8F-8015-9A2FADF19545}" destId="{05E10C57-7FA0-4ACF-98AE-92339951EB48}" srcOrd="0" destOrd="0" parTransId="{6F7D6310-FB83-435B-8DB7-89396F08F923}" sibTransId="{C344665B-55C1-4741-8A5D-05AB7E82C1CB}"/>
    <dgm:cxn modelId="{09F6F29F-9F99-4D82-B392-F3C7E39F7875}" type="presParOf" srcId="{461E9C82-B464-4A0A-B233-54A09AC9E833}" destId="{F7D8609D-1E09-4AE8-8944-F845869D2827}" srcOrd="0" destOrd="0" presId="urn:microsoft.com/office/officeart/2005/8/layout/vList5"/>
    <dgm:cxn modelId="{7BF567D4-49A3-4398-978D-C9C79387ACF1}" type="presParOf" srcId="{F7D8609D-1E09-4AE8-8944-F845869D2827}" destId="{0D5F3E66-471B-46D3-91AD-6AC2827D1F2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23343B-205E-4E34-8311-1A4C137C87C6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CO"/>
        </a:p>
      </dgm:t>
    </dgm:pt>
    <dgm:pt modelId="{E7BEB4EE-0460-48B7-9090-A917134431E6}">
      <dgm:prSet phldrT="[Texto]"/>
      <dgm:spPr/>
      <dgm:t>
        <a:bodyPr/>
        <a:lstStyle/>
        <a:p>
          <a:r>
            <a:rPr lang="es-MX" dirty="0"/>
            <a:t>Artículo 3: Igualdad y no discriminación</a:t>
          </a:r>
          <a:endParaRPr lang="es-CO" dirty="0"/>
        </a:p>
      </dgm:t>
    </dgm:pt>
    <dgm:pt modelId="{CF571496-2A10-43D9-966C-C6F28ECAF787}" type="parTrans" cxnId="{C2ECD21E-1A2B-41D1-857C-60D029391F88}">
      <dgm:prSet/>
      <dgm:spPr/>
      <dgm:t>
        <a:bodyPr/>
        <a:lstStyle/>
        <a:p>
          <a:endParaRPr lang="es-CO"/>
        </a:p>
      </dgm:t>
    </dgm:pt>
    <dgm:pt modelId="{FEB750B6-C883-4F2F-9BC3-1589D134549C}" type="sibTrans" cxnId="{C2ECD21E-1A2B-41D1-857C-60D029391F88}">
      <dgm:prSet/>
      <dgm:spPr/>
      <dgm:t>
        <a:bodyPr/>
        <a:lstStyle/>
        <a:p>
          <a:endParaRPr lang="es-CO"/>
        </a:p>
      </dgm:t>
    </dgm:pt>
    <dgm:pt modelId="{03222953-07AB-4F46-B215-0AA81CA350ED}">
      <dgm:prSet phldrT="[Texto]"/>
      <dgm:spPr/>
      <dgm:t>
        <a:bodyPr/>
        <a:lstStyle/>
        <a:p>
          <a:r>
            <a:rPr lang="es-MX" dirty="0"/>
            <a:t>Artículo 4: </a:t>
          </a:r>
          <a:r>
            <a:rPr lang="es-ES" dirty="0"/>
            <a:t>Acceso a oportunidades de mejora socioeconómica con igualdad para hombres y mujeres</a:t>
          </a:r>
          <a:endParaRPr lang="es-CO" dirty="0"/>
        </a:p>
      </dgm:t>
    </dgm:pt>
    <dgm:pt modelId="{5A4757E0-5911-46D5-A130-FA87CABADF04}" type="parTrans" cxnId="{798F9299-5320-470C-8F7B-9A8C1DFF3EF1}">
      <dgm:prSet/>
      <dgm:spPr/>
      <dgm:t>
        <a:bodyPr/>
        <a:lstStyle/>
        <a:p>
          <a:endParaRPr lang="es-CO"/>
        </a:p>
      </dgm:t>
    </dgm:pt>
    <dgm:pt modelId="{BC1BE7EF-3321-4B56-9339-CFD088783E0D}" type="sibTrans" cxnId="{798F9299-5320-470C-8F7B-9A8C1DFF3EF1}">
      <dgm:prSet/>
      <dgm:spPr/>
      <dgm:t>
        <a:bodyPr/>
        <a:lstStyle/>
        <a:p>
          <a:endParaRPr lang="es-CO"/>
        </a:p>
      </dgm:t>
    </dgm:pt>
    <dgm:pt modelId="{421F98C1-B91E-43AE-BFC4-E333F3842250}">
      <dgm:prSet phldrT="[Texto]"/>
      <dgm:spPr/>
      <dgm:t>
        <a:bodyPr/>
        <a:lstStyle/>
        <a:p>
          <a:r>
            <a:rPr lang="es-MX" dirty="0"/>
            <a:t>Artículo 6: </a:t>
          </a:r>
          <a:r>
            <a:rPr lang="es-ES" dirty="0"/>
            <a:t>Derecho a la vida en condiciones dignas y en libertad </a:t>
          </a:r>
          <a:endParaRPr lang="es-CO" dirty="0"/>
        </a:p>
      </dgm:t>
    </dgm:pt>
    <dgm:pt modelId="{C792CCBE-C254-4CA1-A0F2-C18DDF581118}" type="parTrans" cxnId="{AF3F09E6-60EF-47B7-9B37-C60760606CD3}">
      <dgm:prSet/>
      <dgm:spPr/>
      <dgm:t>
        <a:bodyPr/>
        <a:lstStyle/>
        <a:p>
          <a:endParaRPr lang="es-CO"/>
        </a:p>
      </dgm:t>
    </dgm:pt>
    <dgm:pt modelId="{4AD2A01D-12C5-4006-998A-9887A575898C}" type="sibTrans" cxnId="{AF3F09E6-60EF-47B7-9B37-C60760606CD3}">
      <dgm:prSet/>
      <dgm:spPr/>
      <dgm:t>
        <a:bodyPr/>
        <a:lstStyle/>
        <a:p>
          <a:endParaRPr lang="es-CO"/>
        </a:p>
      </dgm:t>
    </dgm:pt>
    <dgm:pt modelId="{3D104190-CBE4-48B9-BD76-FC5E2BCB05B8}">
      <dgm:prSet phldrT="[Texto]"/>
      <dgm:spPr/>
      <dgm:t>
        <a:bodyPr/>
        <a:lstStyle/>
        <a:p>
          <a:r>
            <a:rPr lang="es-MX" dirty="0"/>
            <a:t>Artículo 7: Libertad de circulación</a:t>
          </a:r>
          <a:endParaRPr lang="es-CO" dirty="0"/>
        </a:p>
      </dgm:t>
    </dgm:pt>
    <dgm:pt modelId="{BF1A6310-9AF1-4D09-8619-ECFAD2280A10}" type="parTrans" cxnId="{9AF4F938-FD87-4925-AD4B-11111B1DEFB4}">
      <dgm:prSet/>
      <dgm:spPr/>
      <dgm:t>
        <a:bodyPr/>
        <a:lstStyle/>
        <a:p>
          <a:endParaRPr lang="es-CO"/>
        </a:p>
      </dgm:t>
    </dgm:pt>
    <dgm:pt modelId="{9E9C19EA-85FF-411B-9A49-A38EA39EF788}" type="sibTrans" cxnId="{9AF4F938-FD87-4925-AD4B-11111B1DEFB4}">
      <dgm:prSet/>
      <dgm:spPr/>
      <dgm:t>
        <a:bodyPr/>
        <a:lstStyle/>
        <a:p>
          <a:endParaRPr lang="es-CO"/>
        </a:p>
      </dgm:t>
    </dgm:pt>
    <dgm:pt modelId="{2DB4B5A8-D330-4A60-B097-27D8DFA46D80}">
      <dgm:prSet phldrT="[Texto]"/>
      <dgm:spPr/>
      <dgm:t>
        <a:bodyPr/>
        <a:lstStyle/>
        <a:p>
          <a:r>
            <a:rPr lang="es-ES" dirty="0"/>
            <a:t>Artículo 8.Derecho al libre pensamiento y el derecho al buen nombre</a:t>
          </a:r>
          <a:endParaRPr lang="es-CO" dirty="0"/>
        </a:p>
      </dgm:t>
    </dgm:pt>
    <dgm:pt modelId="{9C00AA8D-2B46-448F-9DCB-0D56A8B91F35}" type="parTrans" cxnId="{FDC1292C-0D12-45CE-8C18-ED9E144F72B3}">
      <dgm:prSet/>
      <dgm:spPr/>
      <dgm:t>
        <a:bodyPr/>
        <a:lstStyle/>
        <a:p>
          <a:endParaRPr lang="es-CO"/>
        </a:p>
      </dgm:t>
    </dgm:pt>
    <dgm:pt modelId="{0D4DBC96-E79C-478C-9724-35F3508A94CC}" type="sibTrans" cxnId="{FDC1292C-0D12-45CE-8C18-ED9E144F72B3}">
      <dgm:prSet/>
      <dgm:spPr/>
      <dgm:t>
        <a:bodyPr/>
        <a:lstStyle/>
        <a:p>
          <a:endParaRPr lang="es-CO"/>
        </a:p>
      </dgm:t>
    </dgm:pt>
    <dgm:pt modelId="{DCAD18D3-D133-4A0F-96C4-52B61D4CBC2F}">
      <dgm:prSet phldrT="[Texto]"/>
      <dgm:spPr/>
      <dgm:t>
        <a:bodyPr/>
        <a:lstStyle/>
        <a:p>
          <a:r>
            <a:rPr lang="es-MX" dirty="0"/>
            <a:t>Artículo 9: Libertad de asociación</a:t>
          </a:r>
          <a:endParaRPr lang="es-CO" dirty="0"/>
        </a:p>
      </dgm:t>
    </dgm:pt>
    <dgm:pt modelId="{952F1360-7B60-4511-A695-3C2E51A67B46}" type="parTrans" cxnId="{6D4B9A80-ACE3-4C4B-9897-C67A189F00BC}">
      <dgm:prSet/>
      <dgm:spPr/>
      <dgm:t>
        <a:bodyPr/>
        <a:lstStyle/>
        <a:p>
          <a:endParaRPr lang="es-CO"/>
        </a:p>
      </dgm:t>
    </dgm:pt>
    <dgm:pt modelId="{9C29C59D-3491-40A7-956C-7C79A65D6947}" type="sibTrans" cxnId="{6D4B9A80-ACE3-4C4B-9897-C67A189F00BC}">
      <dgm:prSet/>
      <dgm:spPr/>
      <dgm:t>
        <a:bodyPr/>
        <a:lstStyle/>
        <a:p>
          <a:endParaRPr lang="es-CO"/>
        </a:p>
      </dgm:t>
    </dgm:pt>
    <dgm:pt modelId="{CD5D5CA1-9B6C-45C8-8545-C52AC85078EC}">
      <dgm:prSet phldrT="[Texto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CO" dirty="0"/>
            <a:t>Artículo 10: Derecho a participar en la toma de decisiones </a:t>
          </a:r>
        </a:p>
      </dgm:t>
    </dgm:pt>
    <dgm:pt modelId="{D150D62D-FF6A-4706-BD35-C9534C6B498B}" type="parTrans" cxnId="{93D5E03B-39D8-401F-82B7-90E7BDC94CE8}">
      <dgm:prSet/>
      <dgm:spPr/>
      <dgm:t>
        <a:bodyPr/>
        <a:lstStyle/>
        <a:p>
          <a:endParaRPr lang="es-CO"/>
        </a:p>
      </dgm:t>
    </dgm:pt>
    <dgm:pt modelId="{5055F4C6-F123-468D-AC82-38DD8E31A535}" type="sibTrans" cxnId="{93D5E03B-39D8-401F-82B7-90E7BDC94CE8}">
      <dgm:prSet/>
      <dgm:spPr/>
      <dgm:t>
        <a:bodyPr/>
        <a:lstStyle/>
        <a:p>
          <a:endParaRPr lang="es-CO"/>
        </a:p>
      </dgm:t>
    </dgm:pt>
    <dgm:pt modelId="{247C8447-81FC-472F-9685-65A49AC79B1A}">
      <dgm:prSet phldrT="[Texto]"/>
      <dgm:spPr/>
      <dgm:t>
        <a:bodyPr/>
        <a:lstStyle/>
        <a:p>
          <a:r>
            <a:rPr lang="es-MX" dirty="0"/>
            <a:t>Artículo 11: Derecho a la información</a:t>
          </a:r>
          <a:endParaRPr lang="es-CO" dirty="0"/>
        </a:p>
      </dgm:t>
    </dgm:pt>
    <dgm:pt modelId="{FB653754-BFEC-4306-8D2F-3E990A9ADEF0}" type="parTrans" cxnId="{9A2C2D78-7303-4443-83B6-396DA84E0B9C}">
      <dgm:prSet/>
      <dgm:spPr/>
      <dgm:t>
        <a:bodyPr/>
        <a:lstStyle/>
        <a:p>
          <a:endParaRPr lang="es-CO"/>
        </a:p>
      </dgm:t>
    </dgm:pt>
    <dgm:pt modelId="{5B2C6A1A-EAC0-4CCB-964A-5B5BF6B1A892}" type="sibTrans" cxnId="{9A2C2D78-7303-4443-83B6-396DA84E0B9C}">
      <dgm:prSet/>
      <dgm:spPr/>
      <dgm:t>
        <a:bodyPr/>
        <a:lstStyle/>
        <a:p>
          <a:endParaRPr lang="es-CO"/>
        </a:p>
      </dgm:t>
    </dgm:pt>
    <dgm:pt modelId="{1E2F713C-083C-4644-9256-364009DDF4C2}">
      <dgm:prSet phldrT="[Texto]"/>
      <dgm:spPr/>
      <dgm:t>
        <a:bodyPr/>
        <a:lstStyle/>
        <a:p>
          <a:r>
            <a:rPr lang="es-ES" dirty="0"/>
            <a:t>Artículo 12. Derecho a la asistencia jurídica</a:t>
          </a:r>
          <a:endParaRPr lang="es-CO" dirty="0"/>
        </a:p>
      </dgm:t>
    </dgm:pt>
    <dgm:pt modelId="{72B204F9-4B08-4932-A6F0-40149AD9DC48}" type="parTrans" cxnId="{C5A436B7-885E-4960-A398-2692C97715BC}">
      <dgm:prSet/>
      <dgm:spPr/>
      <dgm:t>
        <a:bodyPr/>
        <a:lstStyle/>
        <a:p>
          <a:endParaRPr lang="es-CO"/>
        </a:p>
      </dgm:t>
    </dgm:pt>
    <dgm:pt modelId="{93C47A5D-764B-4E08-A931-E06C410C413C}" type="sibTrans" cxnId="{C5A436B7-885E-4960-A398-2692C97715BC}">
      <dgm:prSet/>
      <dgm:spPr/>
      <dgm:t>
        <a:bodyPr/>
        <a:lstStyle/>
        <a:p>
          <a:endParaRPr lang="es-CO"/>
        </a:p>
      </dgm:t>
    </dgm:pt>
    <dgm:pt modelId="{3FCF3230-07E6-45A3-BA36-BB156C2C4E95}">
      <dgm:prSet phldrT="[Texto]"/>
      <dgm:spPr/>
      <dgm:t>
        <a:bodyPr/>
        <a:lstStyle/>
        <a:p>
          <a:r>
            <a:rPr lang="es-MX" dirty="0"/>
            <a:t>Artículo 13: </a:t>
          </a:r>
          <a:r>
            <a:rPr lang="es-ES" dirty="0"/>
            <a:t>Derecho a un trabajo digno</a:t>
          </a:r>
          <a:endParaRPr lang="es-CO" dirty="0"/>
        </a:p>
      </dgm:t>
    </dgm:pt>
    <dgm:pt modelId="{7B7F573B-D54E-4568-A496-F2DF41A9E89C}" type="parTrans" cxnId="{A449FC77-D931-4E32-BAAF-5ED156136371}">
      <dgm:prSet/>
      <dgm:spPr/>
      <dgm:t>
        <a:bodyPr/>
        <a:lstStyle/>
        <a:p>
          <a:endParaRPr lang="es-CO"/>
        </a:p>
      </dgm:t>
    </dgm:pt>
    <dgm:pt modelId="{E418B0F9-AFCB-4872-9F42-A59C1EBC3A3C}" type="sibTrans" cxnId="{A449FC77-D931-4E32-BAAF-5ED156136371}">
      <dgm:prSet/>
      <dgm:spPr/>
      <dgm:t>
        <a:bodyPr/>
        <a:lstStyle/>
        <a:p>
          <a:endParaRPr lang="es-CO"/>
        </a:p>
      </dgm:t>
    </dgm:pt>
    <dgm:pt modelId="{BEB7CC70-E510-4F31-A4A5-F0876A539E79}">
      <dgm:prSet phldrT="[Texto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MX" dirty="0"/>
            <a:t>Artículo 14: </a:t>
          </a:r>
          <a:r>
            <a:rPr lang="es-ES" dirty="0"/>
            <a:t>Trabajadores del campo con derecho a seguridad y salud en el trabajo. Bioseguridad y cumplimiento de la norma</a:t>
          </a:r>
          <a:endParaRPr lang="es-CO" dirty="0"/>
        </a:p>
      </dgm:t>
    </dgm:pt>
    <dgm:pt modelId="{20CD7710-5F32-4FAF-A34A-B348691AA552}" type="parTrans" cxnId="{8C3B4C1F-8F10-4F45-BA9C-7A1A7213509B}">
      <dgm:prSet/>
      <dgm:spPr/>
      <dgm:t>
        <a:bodyPr/>
        <a:lstStyle/>
        <a:p>
          <a:endParaRPr lang="es-CO"/>
        </a:p>
      </dgm:t>
    </dgm:pt>
    <dgm:pt modelId="{FC50ADE8-B19A-4631-B3A5-AD39FEC8B19C}" type="sibTrans" cxnId="{8C3B4C1F-8F10-4F45-BA9C-7A1A7213509B}">
      <dgm:prSet/>
      <dgm:spPr/>
      <dgm:t>
        <a:bodyPr/>
        <a:lstStyle/>
        <a:p>
          <a:endParaRPr lang="es-CO"/>
        </a:p>
      </dgm:t>
    </dgm:pt>
    <dgm:pt modelId="{363FFB75-F730-474B-8C7B-34C2EBB7EAE2}">
      <dgm:prSet phldrT="[Texto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MX" dirty="0"/>
            <a:t>Artículo 15: Derecho a la alimentación y la soberanía alimentaria</a:t>
          </a:r>
          <a:endParaRPr lang="es-CO" dirty="0"/>
        </a:p>
      </dgm:t>
    </dgm:pt>
    <dgm:pt modelId="{82D90A53-A834-4FE4-9857-E12A79D6648D}" type="parTrans" cxnId="{8A791FA5-841E-4BBD-B316-13F92B861AE6}">
      <dgm:prSet/>
      <dgm:spPr/>
      <dgm:t>
        <a:bodyPr/>
        <a:lstStyle/>
        <a:p>
          <a:endParaRPr lang="es-CO"/>
        </a:p>
      </dgm:t>
    </dgm:pt>
    <dgm:pt modelId="{8C85B829-388D-4C59-BE1D-ED03F02027C8}" type="sibTrans" cxnId="{8A791FA5-841E-4BBD-B316-13F92B861AE6}">
      <dgm:prSet/>
      <dgm:spPr/>
      <dgm:t>
        <a:bodyPr/>
        <a:lstStyle/>
        <a:p>
          <a:endParaRPr lang="es-CO"/>
        </a:p>
      </dgm:t>
    </dgm:pt>
    <dgm:pt modelId="{266A0D1B-1DA5-4D08-9424-86D4F9DFD60B}">
      <dgm:prSet phldrT="[Texto]"/>
      <dgm:spPr/>
      <dgm:t>
        <a:bodyPr/>
        <a:lstStyle/>
        <a:p>
          <a:r>
            <a:rPr lang="es-MX" dirty="0"/>
            <a:t>Artículo 16: Derecho a un ingreso y subsistencia           digna y a los medios de producción</a:t>
          </a:r>
          <a:endParaRPr lang="es-CO" dirty="0"/>
        </a:p>
      </dgm:t>
    </dgm:pt>
    <dgm:pt modelId="{13FE3B48-BC85-4369-832A-6EB2963B378C}" type="parTrans" cxnId="{30E675AE-F268-4FF7-845B-435AC7BAC728}">
      <dgm:prSet/>
      <dgm:spPr/>
      <dgm:t>
        <a:bodyPr/>
        <a:lstStyle/>
        <a:p>
          <a:endParaRPr lang="es-CO"/>
        </a:p>
      </dgm:t>
    </dgm:pt>
    <dgm:pt modelId="{80F354C8-7A30-4E87-901F-639E94D9B856}" type="sibTrans" cxnId="{30E675AE-F268-4FF7-845B-435AC7BAC728}">
      <dgm:prSet/>
      <dgm:spPr/>
      <dgm:t>
        <a:bodyPr/>
        <a:lstStyle/>
        <a:p>
          <a:endParaRPr lang="es-CO"/>
        </a:p>
      </dgm:t>
    </dgm:pt>
    <dgm:pt modelId="{5C80A8BC-66CE-4D69-9F14-18826E0D4D65}">
      <dgm:prSet phldrT="[Texto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MX" dirty="0"/>
            <a:t>Artículo 17: Derecho a la tierra</a:t>
          </a:r>
          <a:endParaRPr lang="es-CO" dirty="0"/>
        </a:p>
      </dgm:t>
    </dgm:pt>
    <dgm:pt modelId="{07B529D8-B24E-4877-B1D8-4AACE53AABF4}" type="parTrans" cxnId="{A0576BE3-EF1A-4C10-B763-46C91BC65151}">
      <dgm:prSet/>
      <dgm:spPr/>
      <dgm:t>
        <a:bodyPr/>
        <a:lstStyle/>
        <a:p>
          <a:endParaRPr lang="es-CO"/>
        </a:p>
      </dgm:t>
    </dgm:pt>
    <dgm:pt modelId="{2A747AF6-38FD-40F7-B49C-9EAC33321C57}" type="sibTrans" cxnId="{A0576BE3-EF1A-4C10-B763-46C91BC65151}">
      <dgm:prSet/>
      <dgm:spPr/>
      <dgm:t>
        <a:bodyPr/>
        <a:lstStyle/>
        <a:p>
          <a:endParaRPr lang="es-CO"/>
        </a:p>
      </dgm:t>
    </dgm:pt>
    <dgm:pt modelId="{D38606D7-7598-4447-8B15-C16165AD762C}">
      <dgm:prSet phldrT="[Texto]"/>
      <dgm:spPr/>
      <dgm:t>
        <a:bodyPr/>
        <a:lstStyle/>
        <a:p>
          <a:r>
            <a:rPr lang="es-MX" dirty="0"/>
            <a:t>Artículo 18: Derecho a un ambiente limpio, seguro y          saludable para utilizar y administrar</a:t>
          </a:r>
          <a:endParaRPr lang="es-CO" dirty="0"/>
        </a:p>
      </dgm:t>
    </dgm:pt>
    <dgm:pt modelId="{DD18705E-41A1-4846-97CA-5A57C2D0C1DF}" type="parTrans" cxnId="{4E4F9CFB-BCB8-4692-8E21-DF949986CEED}">
      <dgm:prSet/>
      <dgm:spPr/>
      <dgm:t>
        <a:bodyPr/>
        <a:lstStyle/>
        <a:p>
          <a:endParaRPr lang="es-CO"/>
        </a:p>
      </dgm:t>
    </dgm:pt>
    <dgm:pt modelId="{D46A0930-9613-4A96-9B13-4D6DD282E67C}" type="sibTrans" cxnId="{4E4F9CFB-BCB8-4692-8E21-DF949986CEED}">
      <dgm:prSet/>
      <dgm:spPr/>
      <dgm:t>
        <a:bodyPr/>
        <a:lstStyle/>
        <a:p>
          <a:endParaRPr lang="es-CO"/>
        </a:p>
      </dgm:t>
    </dgm:pt>
    <dgm:pt modelId="{FFA4394F-530A-46DE-BD17-580007972C1D}">
      <dgm:prSet phldrT="[Texto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MX" dirty="0"/>
            <a:t>Artículo 19: Derecho a las semillas</a:t>
          </a:r>
          <a:endParaRPr lang="es-CO" dirty="0"/>
        </a:p>
      </dgm:t>
    </dgm:pt>
    <dgm:pt modelId="{DE7504C0-DCA6-4907-B464-21A8212AF93D}" type="parTrans" cxnId="{44583039-A6FA-4AF6-81CA-1D8097D71281}">
      <dgm:prSet/>
      <dgm:spPr/>
      <dgm:t>
        <a:bodyPr/>
        <a:lstStyle/>
        <a:p>
          <a:endParaRPr lang="es-CO"/>
        </a:p>
      </dgm:t>
    </dgm:pt>
    <dgm:pt modelId="{4822115F-D81B-417B-9752-46C06ADD3708}" type="sibTrans" cxnId="{44583039-A6FA-4AF6-81CA-1D8097D71281}">
      <dgm:prSet/>
      <dgm:spPr/>
      <dgm:t>
        <a:bodyPr/>
        <a:lstStyle/>
        <a:p>
          <a:endParaRPr lang="es-CO"/>
        </a:p>
      </dgm:t>
    </dgm:pt>
    <dgm:pt modelId="{9289CAB0-3E0D-4F91-93B2-0D1DBCB04898}">
      <dgm:prSet phldrT="[Texto]"/>
      <dgm:spPr/>
      <dgm:t>
        <a:bodyPr/>
        <a:lstStyle/>
        <a:p>
          <a:r>
            <a:rPr lang="es-MX" dirty="0"/>
            <a:t>Artículo 20: Derecho a la diversidad biológica</a:t>
          </a:r>
          <a:endParaRPr lang="es-CO" dirty="0"/>
        </a:p>
      </dgm:t>
    </dgm:pt>
    <dgm:pt modelId="{B86E2D73-9A5B-417C-BBA3-8C4926AAB9D5}" type="parTrans" cxnId="{8EA28E58-E3CA-4F60-83F3-C4E388A89CA2}">
      <dgm:prSet/>
      <dgm:spPr/>
      <dgm:t>
        <a:bodyPr/>
        <a:lstStyle/>
        <a:p>
          <a:endParaRPr lang="es-CO"/>
        </a:p>
      </dgm:t>
    </dgm:pt>
    <dgm:pt modelId="{B14ECB1E-69C6-459C-910C-1F42109185D7}" type="sibTrans" cxnId="{8EA28E58-E3CA-4F60-83F3-C4E388A89CA2}">
      <dgm:prSet/>
      <dgm:spPr/>
      <dgm:t>
        <a:bodyPr/>
        <a:lstStyle/>
        <a:p>
          <a:endParaRPr lang="es-CO"/>
        </a:p>
      </dgm:t>
    </dgm:pt>
    <dgm:pt modelId="{0ED908A1-4610-4A25-BD05-EF4A693C9EE5}">
      <dgm:prSet phldrT="[Texto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MX" dirty="0"/>
            <a:t>Artículo 21: Derecho a sistemas de agua potable</a:t>
          </a:r>
          <a:endParaRPr lang="es-CO" dirty="0"/>
        </a:p>
      </dgm:t>
    </dgm:pt>
    <dgm:pt modelId="{71AAA273-E953-4EAB-8867-7D84AAB16231}" type="parTrans" cxnId="{A908EF26-29D2-4B9F-ABB0-BEFB5DDAE007}">
      <dgm:prSet/>
      <dgm:spPr/>
      <dgm:t>
        <a:bodyPr/>
        <a:lstStyle/>
        <a:p>
          <a:endParaRPr lang="es-CO"/>
        </a:p>
      </dgm:t>
    </dgm:pt>
    <dgm:pt modelId="{5B47B772-075C-41D8-9345-22BCAF6B4A02}" type="sibTrans" cxnId="{A908EF26-29D2-4B9F-ABB0-BEFB5DDAE007}">
      <dgm:prSet/>
      <dgm:spPr/>
      <dgm:t>
        <a:bodyPr/>
        <a:lstStyle/>
        <a:p>
          <a:endParaRPr lang="es-CO"/>
        </a:p>
      </dgm:t>
    </dgm:pt>
    <dgm:pt modelId="{52427346-1173-4B22-B7E8-391086DE599A}">
      <dgm:prSet phldrT="[Texto]"/>
      <dgm:spPr/>
      <dgm:t>
        <a:bodyPr/>
        <a:lstStyle/>
        <a:p>
          <a:r>
            <a:rPr lang="es-MX" dirty="0"/>
            <a:t>Artículo 22: Derecho a la seguridad social</a:t>
          </a:r>
          <a:endParaRPr lang="es-CO" dirty="0"/>
        </a:p>
      </dgm:t>
    </dgm:pt>
    <dgm:pt modelId="{A20B13AF-DBC2-4352-ADF1-790CFF8AE32B}" type="parTrans" cxnId="{A74CA71F-A813-4608-B3C1-7260023FC659}">
      <dgm:prSet/>
      <dgm:spPr/>
      <dgm:t>
        <a:bodyPr/>
        <a:lstStyle/>
        <a:p>
          <a:endParaRPr lang="es-CO"/>
        </a:p>
      </dgm:t>
    </dgm:pt>
    <dgm:pt modelId="{CD3BDC2A-5160-4EFF-82C5-D352731BAB48}" type="sibTrans" cxnId="{A74CA71F-A813-4608-B3C1-7260023FC659}">
      <dgm:prSet/>
      <dgm:spPr/>
      <dgm:t>
        <a:bodyPr/>
        <a:lstStyle/>
        <a:p>
          <a:endParaRPr lang="es-CO"/>
        </a:p>
      </dgm:t>
    </dgm:pt>
    <dgm:pt modelId="{1790014F-3EA2-4A48-86D9-0BC5DAC904F6}">
      <dgm:prSet phldrT="[Texto]"/>
      <dgm:spPr/>
      <dgm:t>
        <a:bodyPr/>
        <a:lstStyle/>
        <a:p>
          <a:r>
            <a:rPr lang="es-MX" dirty="0"/>
            <a:t>Artículo 23: Derecho a la salud física y mental </a:t>
          </a:r>
          <a:r>
            <a:rPr lang="es-ES" dirty="0"/>
            <a:t>y a los servicios médicos</a:t>
          </a:r>
          <a:endParaRPr lang="es-CO" dirty="0"/>
        </a:p>
      </dgm:t>
    </dgm:pt>
    <dgm:pt modelId="{CB7A5F7E-B9D2-4CB8-8EFA-74E054D7F5AB}" type="parTrans" cxnId="{2B37626C-146A-4ABB-8782-0B528B6E1DF7}">
      <dgm:prSet/>
      <dgm:spPr/>
      <dgm:t>
        <a:bodyPr/>
        <a:lstStyle/>
        <a:p>
          <a:endParaRPr lang="es-CO"/>
        </a:p>
      </dgm:t>
    </dgm:pt>
    <dgm:pt modelId="{4701EDD7-B156-42FB-A58F-4F894068F192}" type="sibTrans" cxnId="{2B37626C-146A-4ABB-8782-0B528B6E1DF7}">
      <dgm:prSet/>
      <dgm:spPr/>
      <dgm:t>
        <a:bodyPr/>
        <a:lstStyle/>
        <a:p>
          <a:endParaRPr lang="es-CO"/>
        </a:p>
      </dgm:t>
    </dgm:pt>
    <dgm:pt modelId="{928D680C-E415-4C84-82D4-7AC5AE94DC8E}">
      <dgm:prSet phldrT="[Texto]"/>
      <dgm:spPr/>
      <dgm:t>
        <a:bodyPr/>
        <a:lstStyle/>
        <a:p>
          <a:r>
            <a:rPr lang="es-MX" dirty="0"/>
            <a:t>Artículo 24: Derecho a la vivienda y a no ser desalojado </a:t>
          </a:r>
          <a:endParaRPr lang="es-CO" dirty="0"/>
        </a:p>
      </dgm:t>
    </dgm:pt>
    <dgm:pt modelId="{10D276A6-150F-49D9-AD30-D24BE0A96B55}" type="parTrans" cxnId="{B52BC778-9621-4DD4-80A4-E76C89903E9C}">
      <dgm:prSet/>
      <dgm:spPr/>
      <dgm:t>
        <a:bodyPr/>
        <a:lstStyle/>
        <a:p>
          <a:endParaRPr lang="es-CO"/>
        </a:p>
      </dgm:t>
    </dgm:pt>
    <dgm:pt modelId="{DD8DDAAA-70C5-452F-8B1D-EE2E93E2FDA2}" type="sibTrans" cxnId="{B52BC778-9621-4DD4-80A4-E76C89903E9C}">
      <dgm:prSet/>
      <dgm:spPr/>
      <dgm:t>
        <a:bodyPr/>
        <a:lstStyle/>
        <a:p>
          <a:endParaRPr lang="es-CO"/>
        </a:p>
      </dgm:t>
    </dgm:pt>
    <dgm:pt modelId="{F177A357-0F25-4F04-81BA-35CA07A4F769}">
      <dgm:prSet phldrT="[Texto]"/>
      <dgm:spPr/>
      <dgm:t>
        <a:bodyPr/>
        <a:lstStyle/>
        <a:p>
          <a:r>
            <a:rPr lang="es-MX" dirty="0"/>
            <a:t>Artículo 25: </a:t>
          </a:r>
          <a:r>
            <a:rPr lang="es-ES" dirty="0"/>
            <a:t>Derecho a una formación educativa acorde al sector</a:t>
          </a:r>
          <a:endParaRPr lang="es-CO" dirty="0"/>
        </a:p>
      </dgm:t>
    </dgm:pt>
    <dgm:pt modelId="{B9A3462D-9EAF-4E54-AC11-0C1E0B5CDEFE}" type="parTrans" cxnId="{DB6C57B6-F1B8-46AD-975C-7A71A8F29622}">
      <dgm:prSet/>
      <dgm:spPr/>
      <dgm:t>
        <a:bodyPr/>
        <a:lstStyle/>
        <a:p>
          <a:endParaRPr lang="es-CO"/>
        </a:p>
      </dgm:t>
    </dgm:pt>
    <dgm:pt modelId="{5432539D-1806-4B1F-B984-14B33D03C0B0}" type="sibTrans" cxnId="{DB6C57B6-F1B8-46AD-975C-7A71A8F29622}">
      <dgm:prSet/>
      <dgm:spPr/>
      <dgm:t>
        <a:bodyPr/>
        <a:lstStyle/>
        <a:p>
          <a:endParaRPr lang="es-CO"/>
        </a:p>
      </dgm:t>
    </dgm:pt>
    <dgm:pt modelId="{1E8F1155-7B4D-4EAE-A3EF-CFFD686ABFFC}">
      <dgm:prSet phldrT="[Texto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MX" dirty="0"/>
            <a:t>Artículo 26: Derechos culturales y saberes tradicionales</a:t>
          </a:r>
          <a:endParaRPr lang="es-CO" dirty="0"/>
        </a:p>
      </dgm:t>
    </dgm:pt>
    <dgm:pt modelId="{05D93205-8534-4924-90C2-761B62B5AA28}" type="parTrans" cxnId="{14523DCB-F605-4897-9592-27E69236F7B9}">
      <dgm:prSet/>
      <dgm:spPr/>
      <dgm:t>
        <a:bodyPr/>
        <a:lstStyle/>
        <a:p>
          <a:endParaRPr lang="es-CO"/>
        </a:p>
      </dgm:t>
    </dgm:pt>
    <dgm:pt modelId="{E89F146E-1E5D-4727-BEBB-5000D7677605}" type="sibTrans" cxnId="{14523DCB-F605-4897-9592-27E69236F7B9}">
      <dgm:prSet/>
      <dgm:spPr/>
      <dgm:t>
        <a:bodyPr/>
        <a:lstStyle/>
        <a:p>
          <a:endParaRPr lang="es-CO"/>
        </a:p>
      </dgm:t>
    </dgm:pt>
    <dgm:pt modelId="{7ABF96EA-BDEF-4B7C-8059-4F29F987AF4B}">
      <dgm:prSet/>
      <dgm:spPr/>
      <dgm:t>
        <a:bodyPr/>
        <a:lstStyle/>
        <a:p>
          <a:r>
            <a:rPr lang="es-MX" dirty="0"/>
            <a:t>Artículo 5: </a:t>
          </a:r>
          <a:r>
            <a:rPr lang="es-ES" dirty="0"/>
            <a:t>Derecho a explotar de manera sostenible los recursos naturales de la región</a:t>
          </a:r>
          <a:endParaRPr lang="es-CO" dirty="0"/>
        </a:p>
      </dgm:t>
    </dgm:pt>
    <dgm:pt modelId="{6AF86E5A-6BD8-4FA3-8815-2DE965AD91A7}" type="parTrans" cxnId="{1ADF5596-6AA7-4C9B-9E9D-F1092781689A}">
      <dgm:prSet/>
      <dgm:spPr/>
      <dgm:t>
        <a:bodyPr/>
        <a:lstStyle/>
        <a:p>
          <a:endParaRPr lang="es-CO"/>
        </a:p>
      </dgm:t>
    </dgm:pt>
    <dgm:pt modelId="{E0417799-5462-44E4-A5A7-66AC58FD2585}" type="sibTrans" cxnId="{1ADF5596-6AA7-4C9B-9E9D-F1092781689A}">
      <dgm:prSet/>
      <dgm:spPr/>
      <dgm:t>
        <a:bodyPr/>
        <a:lstStyle/>
        <a:p>
          <a:endParaRPr lang="es-CO"/>
        </a:p>
      </dgm:t>
    </dgm:pt>
    <dgm:pt modelId="{2E12EC84-9B6F-4B97-BD4C-0FD466DC6DE9}" type="pres">
      <dgm:prSet presAssocID="{3923343B-205E-4E34-8311-1A4C137C87C6}" presName="diagram" presStyleCnt="0">
        <dgm:presLayoutVars>
          <dgm:dir/>
          <dgm:resizeHandles val="exact"/>
        </dgm:presLayoutVars>
      </dgm:prSet>
      <dgm:spPr/>
    </dgm:pt>
    <dgm:pt modelId="{A5550FB2-180C-4537-A0C7-E2BE464DAAA2}" type="pres">
      <dgm:prSet presAssocID="{E7BEB4EE-0460-48B7-9090-A917134431E6}" presName="node" presStyleLbl="node1" presStyleIdx="0" presStyleCnt="24">
        <dgm:presLayoutVars>
          <dgm:bulletEnabled val="1"/>
        </dgm:presLayoutVars>
      </dgm:prSet>
      <dgm:spPr/>
    </dgm:pt>
    <dgm:pt modelId="{66060272-5799-4B31-8771-42DBE49340EE}" type="pres">
      <dgm:prSet presAssocID="{FEB750B6-C883-4F2F-9BC3-1589D134549C}" presName="sibTrans" presStyleCnt="0"/>
      <dgm:spPr/>
    </dgm:pt>
    <dgm:pt modelId="{DF561E9F-A42C-4B0B-AFA8-37CC612F9B47}" type="pres">
      <dgm:prSet presAssocID="{03222953-07AB-4F46-B215-0AA81CA350ED}" presName="node" presStyleLbl="node1" presStyleIdx="1" presStyleCnt="24">
        <dgm:presLayoutVars>
          <dgm:bulletEnabled val="1"/>
        </dgm:presLayoutVars>
      </dgm:prSet>
      <dgm:spPr/>
    </dgm:pt>
    <dgm:pt modelId="{46C86941-AC4B-4C13-9646-883D9D0E71C8}" type="pres">
      <dgm:prSet presAssocID="{BC1BE7EF-3321-4B56-9339-CFD088783E0D}" presName="sibTrans" presStyleCnt="0"/>
      <dgm:spPr/>
    </dgm:pt>
    <dgm:pt modelId="{DF094342-D8E4-4880-A13D-716F31F2B713}" type="pres">
      <dgm:prSet presAssocID="{7ABF96EA-BDEF-4B7C-8059-4F29F987AF4B}" presName="node" presStyleLbl="node1" presStyleIdx="2" presStyleCnt="24">
        <dgm:presLayoutVars>
          <dgm:bulletEnabled val="1"/>
        </dgm:presLayoutVars>
      </dgm:prSet>
      <dgm:spPr/>
    </dgm:pt>
    <dgm:pt modelId="{56A4CBBD-B56C-44A0-9717-B6F42C5EC6F3}" type="pres">
      <dgm:prSet presAssocID="{E0417799-5462-44E4-A5A7-66AC58FD2585}" presName="sibTrans" presStyleCnt="0"/>
      <dgm:spPr/>
    </dgm:pt>
    <dgm:pt modelId="{E58600A6-A89D-4BE3-B491-1058FF7329F5}" type="pres">
      <dgm:prSet presAssocID="{421F98C1-B91E-43AE-BFC4-E333F3842250}" presName="node" presStyleLbl="node1" presStyleIdx="3" presStyleCnt="24">
        <dgm:presLayoutVars>
          <dgm:bulletEnabled val="1"/>
        </dgm:presLayoutVars>
      </dgm:prSet>
      <dgm:spPr/>
    </dgm:pt>
    <dgm:pt modelId="{E9BF9107-90BC-47BA-BF8B-0BC0EF4B20A2}" type="pres">
      <dgm:prSet presAssocID="{4AD2A01D-12C5-4006-998A-9887A575898C}" presName="sibTrans" presStyleCnt="0"/>
      <dgm:spPr/>
    </dgm:pt>
    <dgm:pt modelId="{354CD89F-F043-479F-8C0E-203FA9EDC2C0}" type="pres">
      <dgm:prSet presAssocID="{3D104190-CBE4-48B9-BD76-FC5E2BCB05B8}" presName="node" presStyleLbl="node1" presStyleIdx="4" presStyleCnt="24">
        <dgm:presLayoutVars>
          <dgm:bulletEnabled val="1"/>
        </dgm:presLayoutVars>
      </dgm:prSet>
      <dgm:spPr/>
    </dgm:pt>
    <dgm:pt modelId="{4E3B523A-1D25-497F-BE33-2CA9316E564E}" type="pres">
      <dgm:prSet presAssocID="{9E9C19EA-85FF-411B-9A49-A38EA39EF788}" presName="sibTrans" presStyleCnt="0"/>
      <dgm:spPr/>
    </dgm:pt>
    <dgm:pt modelId="{D0744EBB-B351-4B60-9032-1A040CC34316}" type="pres">
      <dgm:prSet presAssocID="{2DB4B5A8-D330-4A60-B097-27D8DFA46D80}" presName="node" presStyleLbl="node1" presStyleIdx="5" presStyleCnt="24">
        <dgm:presLayoutVars>
          <dgm:bulletEnabled val="1"/>
        </dgm:presLayoutVars>
      </dgm:prSet>
      <dgm:spPr/>
    </dgm:pt>
    <dgm:pt modelId="{87FB37CE-BE40-456A-9F61-0037D4FF76C8}" type="pres">
      <dgm:prSet presAssocID="{0D4DBC96-E79C-478C-9724-35F3508A94CC}" presName="sibTrans" presStyleCnt="0"/>
      <dgm:spPr/>
    </dgm:pt>
    <dgm:pt modelId="{EB9C9FFC-0536-4965-BBA5-3093906BB41D}" type="pres">
      <dgm:prSet presAssocID="{DCAD18D3-D133-4A0F-96C4-52B61D4CBC2F}" presName="node" presStyleLbl="node1" presStyleIdx="6" presStyleCnt="24">
        <dgm:presLayoutVars>
          <dgm:bulletEnabled val="1"/>
        </dgm:presLayoutVars>
      </dgm:prSet>
      <dgm:spPr/>
    </dgm:pt>
    <dgm:pt modelId="{037DAB98-BA95-4842-A1AD-DFB80765039C}" type="pres">
      <dgm:prSet presAssocID="{9C29C59D-3491-40A7-956C-7C79A65D6947}" presName="sibTrans" presStyleCnt="0"/>
      <dgm:spPr/>
    </dgm:pt>
    <dgm:pt modelId="{345EF754-CBEB-4100-B991-8A0F247B8328}" type="pres">
      <dgm:prSet presAssocID="{CD5D5CA1-9B6C-45C8-8545-C52AC85078EC}" presName="node" presStyleLbl="node1" presStyleIdx="7" presStyleCnt="24">
        <dgm:presLayoutVars>
          <dgm:bulletEnabled val="1"/>
        </dgm:presLayoutVars>
      </dgm:prSet>
      <dgm:spPr/>
    </dgm:pt>
    <dgm:pt modelId="{123FA77E-F60C-43B7-A26F-456721D5FEB0}" type="pres">
      <dgm:prSet presAssocID="{5055F4C6-F123-468D-AC82-38DD8E31A535}" presName="sibTrans" presStyleCnt="0"/>
      <dgm:spPr/>
    </dgm:pt>
    <dgm:pt modelId="{644D30EB-54EB-43D4-9CA5-AE74F66BF704}" type="pres">
      <dgm:prSet presAssocID="{247C8447-81FC-472F-9685-65A49AC79B1A}" presName="node" presStyleLbl="node1" presStyleIdx="8" presStyleCnt="24">
        <dgm:presLayoutVars>
          <dgm:bulletEnabled val="1"/>
        </dgm:presLayoutVars>
      </dgm:prSet>
      <dgm:spPr/>
    </dgm:pt>
    <dgm:pt modelId="{DD04BCEF-2189-4705-8F67-B7A1DA8B6804}" type="pres">
      <dgm:prSet presAssocID="{5B2C6A1A-EAC0-4CCB-964A-5B5BF6B1A892}" presName="sibTrans" presStyleCnt="0"/>
      <dgm:spPr/>
    </dgm:pt>
    <dgm:pt modelId="{31A056F6-AD4E-4C73-AEE7-F9CC51B2B92F}" type="pres">
      <dgm:prSet presAssocID="{1E2F713C-083C-4644-9256-364009DDF4C2}" presName="node" presStyleLbl="node1" presStyleIdx="9" presStyleCnt="24">
        <dgm:presLayoutVars>
          <dgm:bulletEnabled val="1"/>
        </dgm:presLayoutVars>
      </dgm:prSet>
      <dgm:spPr/>
    </dgm:pt>
    <dgm:pt modelId="{1B0B214B-C98B-4AC6-A0E4-C1223699CEF3}" type="pres">
      <dgm:prSet presAssocID="{93C47A5D-764B-4E08-A931-E06C410C413C}" presName="sibTrans" presStyleCnt="0"/>
      <dgm:spPr/>
    </dgm:pt>
    <dgm:pt modelId="{59AE6384-D50A-4013-9AD6-45E9F2FB1A6A}" type="pres">
      <dgm:prSet presAssocID="{3FCF3230-07E6-45A3-BA36-BB156C2C4E95}" presName="node" presStyleLbl="node1" presStyleIdx="10" presStyleCnt="24">
        <dgm:presLayoutVars>
          <dgm:bulletEnabled val="1"/>
        </dgm:presLayoutVars>
      </dgm:prSet>
      <dgm:spPr/>
    </dgm:pt>
    <dgm:pt modelId="{F9F9B0A0-FAE2-48E0-A7DA-CAF539551550}" type="pres">
      <dgm:prSet presAssocID="{E418B0F9-AFCB-4872-9F42-A59C1EBC3A3C}" presName="sibTrans" presStyleCnt="0"/>
      <dgm:spPr/>
    </dgm:pt>
    <dgm:pt modelId="{477FCECE-4F41-4D2F-BC6F-726AAB1BDA19}" type="pres">
      <dgm:prSet presAssocID="{BEB7CC70-E510-4F31-A4A5-F0876A539E79}" presName="node" presStyleLbl="node1" presStyleIdx="11" presStyleCnt="24">
        <dgm:presLayoutVars>
          <dgm:bulletEnabled val="1"/>
        </dgm:presLayoutVars>
      </dgm:prSet>
      <dgm:spPr/>
    </dgm:pt>
    <dgm:pt modelId="{78CB5619-EAE9-4E94-8AF9-BC8852C491CF}" type="pres">
      <dgm:prSet presAssocID="{FC50ADE8-B19A-4631-B3A5-AD39FEC8B19C}" presName="sibTrans" presStyleCnt="0"/>
      <dgm:spPr/>
    </dgm:pt>
    <dgm:pt modelId="{E496F3FE-E6FD-4201-BD11-160C1ECA5F11}" type="pres">
      <dgm:prSet presAssocID="{363FFB75-F730-474B-8C7B-34C2EBB7EAE2}" presName="node" presStyleLbl="node1" presStyleIdx="12" presStyleCnt="24">
        <dgm:presLayoutVars>
          <dgm:bulletEnabled val="1"/>
        </dgm:presLayoutVars>
      </dgm:prSet>
      <dgm:spPr/>
    </dgm:pt>
    <dgm:pt modelId="{0D7ADC9C-36FA-4C88-A6CC-0CF9EC687DAF}" type="pres">
      <dgm:prSet presAssocID="{8C85B829-388D-4C59-BE1D-ED03F02027C8}" presName="sibTrans" presStyleCnt="0"/>
      <dgm:spPr/>
    </dgm:pt>
    <dgm:pt modelId="{70E7AFD0-E30D-4077-B908-BA646D3CE525}" type="pres">
      <dgm:prSet presAssocID="{266A0D1B-1DA5-4D08-9424-86D4F9DFD60B}" presName="node" presStyleLbl="node1" presStyleIdx="13" presStyleCnt="24">
        <dgm:presLayoutVars>
          <dgm:bulletEnabled val="1"/>
        </dgm:presLayoutVars>
      </dgm:prSet>
      <dgm:spPr/>
    </dgm:pt>
    <dgm:pt modelId="{98FB403F-DF8B-41DD-9A23-B23C2A70894C}" type="pres">
      <dgm:prSet presAssocID="{80F354C8-7A30-4E87-901F-639E94D9B856}" presName="sibTrans" presStyleCnt="0"/>
      <dgm:spPr/>
    </dgm:pt>
    <dgm:pt modelId="{DEC3FA81-6994-4A88-8E36-FA0CC7450051}" type="pres">
      <dgm:prSet presAssocID="{5C80A8BC-66CE-4D69-9F14-18826E0D4D65}" presName="node" presStyleLbl="node1" presStyleIdx="14" presStyleCnt="24">
        <dgm:presLayoutVars>
          <dgm:bulletEnabled val="1"/>
        </dgm:presLayoutVars>
      </dgm:prSet>
      <dgm:spPr/>
    </dgm:pt>
    <dgm:pt modelId="{4624C7C3-6331-4EE1-BF40-58C51C2EB29B}" type="pres">
      <dgm:prSet presAssocID="{2A747AF6-38FD-40F7-B49C-9EAC33321C57}" presName="sibTrans" presStyleCnt="0"/>
      <dgm:spPr/>
    </dgm:pt>
    <dgm:pt modelId="{6985AEDE-DBAD-4F96-BA67-9F8ABC51927D}" type="pres">
      <dgm:prSet presAssocID="{D38606D7-7598-4447-8B15-C16165AD762C}" presName="node" presStyleLbl="node1" presStyleIdx="15" presStyleCnt="24">
        <dgm:presLayoutVars>
          <dgm:bulletEnabled val="1"/>
        </dgm:presLayoutVars>
      </dgm:prSet>
      <dgm:spPr/>
    </dgm:pt>
    <dgm:pt modelId="{9A9818C0-A1BB-456D-9D4D-12F7FF6C3DF5}" type="pres">
      <dgm:prSet presAssocID="{D46A0930-9613-4A96-9B13-4D6DD282E67C}" presName="sibTrans" presStyleCnt="0"/>
      <dgm:spPr/>
    </dgm:pt>
    <dgm:pt modelId="{A96135A3-AE14-44AD-A2B1-F30E843DF3FE}" type="pres">
      <dgm:prSet presAssocID="{FFA4394F-530A-46DE-BD17-580007972C1D}" presName="node" presStyleLbl="node1" presStyleIdx="16" presStyleCnt="24">
        <dgm:presLayoutVars>
          <dgm:bulletEnabled val="1"/>
        </dgm:presLayoutVars>
      </dgm:prSet>
      <dgm:spPr/>
    </dgm:pt>
    <dgm:pt modelId="{C2F17525-813C-4130-990A-B37131868CF7}" type="pres">
      <dgm:prSet presAssocID="{4822115F-D81B-417B-9752-46C06ADD3708}" presName="sibTrans" presStyleCnt="0"/>
      <dgm:spPr/>
    </dgm:pt>
    <dgm:pt modelId="{16CCC8E9-EE3A-4888-8EB5-6B0FC05C0CD8}" type="pres">
      <dgm:prSet presAssocID="{9289CAB0-3E0D-4F91-93B2-0D1DBCB04898}" presName="node" presStyleLbl="node1" presStyleIdx="17" presStyleCnt="24">
        <dgm:presLayoutVars>
          <dgm:bulletEnabled val="1"/>
        </dgm:presLayoutVars>
      </dgm:prSet>
      <dgm:spPr/>
    </dgm:pt>
    <dgm:pt modelId="{44C1D855-D9A8-46AF-9FA0-5807353127B3}" type="pres">
      <dgm:prSet presAssocID="{B14ECB1E-69C6-459C-910C-1F42109185D7}" presName="sibTrans" presStyleCnt="0"/>
      <dgm:spPr/>
    </dgm:pt>
    <dgm:pt modelId="{5D4EA37D-8F0A-4D8D-AB0F-B05539163658}" type="pres">
      <dgm:prSet presAssocID="{0ED908A1-4610-4A25-BD05-EF4A693C9EE5}" presName="node" presStyleLbl="node1" presStyleIdx="18" presStyleCnt="24">
        <dgm:presLayoutVars>
          <dgm:bulletEnabled val="1"/>
        </dgm:presLayoutVars>
      </dgm:prSet>
      <dgm:spPr/>
    </dgm:pt>
    <dgm:pt modelId="{4C7E3DBB-B2F2-480B-B1BC-24BE603921C9}" type="pres">
      <dgm:prSet presAssocID="{5B47B772-075C-41D8-9345-22BCAF6B4A02}" presName="sibTrans" presStyleCnt="0"/>
      <dgm:spPr/>
    </dgm:pt>
    <dgm:pt modelId="{67538876-427B-4772-B715-05594EB13B3B}" type="pres">
      <dgm:prSet presAssocID="{52427346-1173-4B22-B7E8-391086DE599A}" presName="node" presStyleLbl="node1" presStyleIdx="19" presStyleCnt="24">
        <dgm:presLayoutVars>
          <dgm:bulletEnabled val="1"/>
        </dgm:presLayoutVars>
      </dgm:prSet>
      <dgm:spPr/>
    </dgm:pt>
    <dgm:pt modelId="{9C3EA320-0B94-4983-AE64-FEACA631ED23}" type="pres">
      <dgm:prSet presAssocID="{CD3BDC2A-5160-4EFF-82C5-D352731BAB48}" presName="sibTrans" presStyleCnt="0"/>
      <dgm:spPr/>
    </dgm:pt>
    <dgm:pt modelId="{7231DD22-31C8-4C92-9AAE-6909601B9928}" type="pres">
      <dgm:prSet presAssocID="{1790014F-3EA2-4A48-86D9-0BC5DAC904F6}" presName="node" presStyleLbl="node1" presStyleIdx="20" presStyleCnt="24">
        <dgm:presLayoutVars>
          <dgm:bulletEnabled val="1"/>
        </dgm:presLayoutVars>
      </dgm:prSet>
      <dgm:spPr/>
    </dgm:pt>
    <dgm:pt modelId="{A8605788-E2F7-421C-827F-67CF4676E96C}" type="pres">
      <dgm:prSet presAssocID="{4701EDD7-B156-42FB-A58F-4F894068F192}" presName="sibTrans" presStyleCnt="0"/>
      <dgm:spPr/>
    </dgm:pt>
    <dgm:pt modelId="{8B6E371C-8A80-429D-B0BD-B350595A9CB1}" type="pres">
      <dgm:prSet presAssocID="{928D680C-E415-4C84-82D4-7AC5AE94DC8E}" presName="node" presStyleLbl="node1" presStyleIdx="21" presStyleCnt="24">
        <dgm:presLayoutVars>
          <dgm:bulletEnabled val="1"/>
        </dgm:presLayoutVars>
      </dgm:prSet>
      <dgm:spPr/>
    </dgm:pt>
    <dgm:pt modelId="{B0057065-A669-4791-A81C-B1E3EACB4D95}" type="pres">
      <dgm:prSet presAssocID="{DD8DDAAA-70C5-452F-8B1D-EE2E93E2FDA2}" presName="sibTrans" presStyleCnt="0"/>
      <dgm:spPr/>
    </dgm:pt>
    <dgm:pt modelId="{52BA2773-BFD1-4F66-8F31-5C48902B76D5}" type="pres">
      <dgm:prSet presAssocID="{F177A357-0F25-4F04-81BA-35CA07A4F769}" presName="node" presStyleLbl="node1" presStyleIdx="22" presStyleCnt="24">
        <dgm:presLayoutVars>
          <dgm:bulletEnabled val="1"/>
        </dgm:presLayoutVars>
      </dgm:prSet>
      <dgm:spPr/>
    </dgm:pt>
    <dgm:pt modelId="{6D1ED525-BA38-474A-91D5-538064D729D6}" type="pres">
      <dgm:prSet presAssocID="{5432539D-1806-4B1F-B984-14B33D03C0B0}" presName="sibTrans" presStyleCnt="0"/>
      <dgm:spPr/>
    </dgm:pt>
    <dgm:pt modelId="{EAA3476C-149C-465E-9E92-A8522F11BE00}" type="pres">
      <dgm:prSet presAssocID="{1E8F1155-7B4D-4EAE-A3EF-CFFD686ABFFC}" presName="node" presStyleLbl="node1" presStyleIdx="23" presStyleCnt="24">
        <dgm:presLayoutVars>
          <dgm:bulletEnabled val="1"/>
        </dgm:presLayoutVars>
      </dgm:prSet>
      <dgm:spPr/>
    </dgm:pt>
  </dgm:ptLst>
  <dgm:cxnLst>
    <dgm:cxn modelId="{207E2E07-3944-4F8B-9097-32E904AAA026}" type="presOf" srcId="{3923343B-205E-4E34-8311-1A4C137C87C6}" destId="{2E12EC84-9B6F-4B97-BD4C-0FD466DC6DE9}" srcOrd="0" destOrd="0" presId="urn:microsoft.com/office/officeart/2005/8/layout/default"/>
    <dgm:cxn modelId="{668DE908-FCAE-4D4A-900B-A289C2007F21}" type="presOf" srcId="{DCAD18D3-D133-4A0F-96C4-52B61D4CBC2F}" destId="{EB9C9FFC-0536-4965-BBA5-3093906BB41D}" srcOrd="0" destOrd="0" presId="urn:microsoft.com/office/officeart/2005/8/layout/default"/>
    <dgm:cxn modelId="{51290511-A540-434C-B36D-F5933490FB63}" type="presOf" srcId="{266A0D1B-1DA5-4D08-9424-86D4F9DFD60B}" destId="{70E7AFD0-E30D-4077-B908-BA646D3CE525}" srcOrd="0" destOrd="0" presId="urn:microsoft.com/office/officeart/2005/8/layout/default"/>
    <dgm:cxn modelId="{F55F2A1E-5BEF-4845-AFE0-D975D2EE3665}" type="presOf" srcId="{F177A357-0F25-4F04-81BA-35CA07A4F769}" destId="{52BA2773-BFD1-4F66-8F31-5C48902B76D5}" srcOrd="0" destOrd="0" presId="urn:microsoft.com/office/officeart/2005/8/layout/default"/>
    <dgm:cxn modelId="{C2ECD21E-1A2B-41D1-857C-60D029391F88}" srcId="{3923343B-205E-4E34-8311-1A4C137C87C6}" destId="{E7BEB4EE-0460-48B7-9090-A917134431E6}" srcOrd="0" destOrd="0" parTransId="{CF571496-2A10-43D9-966C-C6F28ECAF787}" sibTransId="{FEB750B6-C883-4F2F-9BC3-1589D134549C}"/>
    <dgm:cxn modelId="{8C3B4C1F-8F10-4F45-BA9C-7A1A7213509B}" srcId="{3923343B-205E-4E34-8311-1A4C137C87C6}" destId="{BEB7CC70-E510-4F31-A4A5-F0876A539E79}" srcOrd="11" destOrd="0" parTransId="{20CD7710-5F32-4FAF-A34A-B348691AA552}" sibTransId="{FC50ADE8-B19A-4631-B3A5-AD39FEC8B19C}"/>
    <dgm:cxn modelId="{A74CA71F-A813-4608-B3C1-7260023FC659}" srcId="{3923343B-205E-4E34-8311-1A4C137C87C6}" destId="{52427346-1173-4B22-B7E8-391086DE599A}" srcOrd="19" destOrd="0" parTransId="{A20B13AF-DBC2-4352-ADF1-790CFF8AE32B}" sibTransId="{CD3BDC2A-5160-4EFF-82C5-D352731BAB48}"/>
    <dgm:cxn modelId="{D5BB7C20-8276-4AA6-8AD7-86E199E79B54}" type="presOf" srcId="{3FCF3230-07E6-45A3-BA36-BB156C2C4E95}" destId="{59AE6384-D50A-4013-9AD6-45E9F2FB1A6A}" srcOrd="0" destOrd="0" presId="urn:microsoft.com/office/officeart/2005/8/layout/default"/>
    <dgm:cxn modelId="{A908EF26-29D2-4B9F-ABB0-BEFB5DDAE007}" srcId="{3923343B-205E-4E34-8311-1A4C137C87C6}" destId="{0ED908A1-4610-4A25-BD05-EF4A693C9EE5}" srcOrd="18" destOrd="0" parTransId="{71AAA273-E953-4EAB-8867-7D84AAB16231}" sibTransId="{5B47B772-075C-41D8-9345-22BCAF6B4A02}"/>
    <dgm:cxn modelId="{FDC1292C-0D12-45CE-8C18-ED9E144F72B3}" srcId="{3923343B-205E-4E34-8311-1A4C137C87C6}" destId="{2DB4B5A8-D330-4A60-B097-27D8DFA46D80}" srcOrd="5" destOrd="0" parTransId="{9C00AA8D-2B46-448F-9DCB-0D56A8B91F35}" sibTransId="{0D4DBC96-E79C-478C-9724-35F3508A94CC}"/>
    <dgm:cxn modelId="{8A14102F-4201-4C0C-948F-D5C74E6B1837}" type="presOf" srcId="{03222953-07AB-4F46-B215-0AA81CA350ED}" destId="{DF561E9F-A42C-4B0B-AFA8-37CC612F9B47}" srcOrd="0" destOrd="0" presId="urn:microsoft.com/office/officeart/2005/8/layout/default"/>
    <dgm:cxn modelId="{E49EF537-89F7-4C29-A576-7420059C7DE0}" type="presOf" srcId="{5C80A8BC-66CE-4D69-9F14-18826E0D4D65}" destId="{DEC3FA81-6994-4A88-8E36-FA0CC7450051}" srcOrd="0" destOrd="0" presId="urn:microsoft.com/office/officeart/2005/8/layout/default"/>
    <dgm:cxn modelId="{9AF4F938-FD87-4925-AD4B-11111B1DEFB4}" srcId="{3923343B-205E-4E34-8311-1A4C137C87C6}" destId="{3D104190-CBE4-48B9-BD76-FC5E2BCB05B8}" srcOrd="4" destOrd="0" parTransId="{BF1A6310-9AF1-4D09-8619-ECFAD2280A10}" sibTransId="{9E9C19EA-85FF-411B-9A49-A38EA39EF788}"/>
    <dgm:cxn modelId="{44583039-A6FA-4AF6-81CA-1D8097D71281}" srcId="{3923343B-205E-4E34-8311-1A4C137C87C6}" destId="{FFA4394F-530A-46DE-BD17-580007972C1D}" srcOrd="16" destOrd="0" parTransId="{DE7504C0-DCA6-4907-B464-21A8212AF93D}" sibTransId="{4822115F-D81B-417B-9752-46C06ADD3708}"/>
    <dgm:cxn modelId="{EBA7623A-EF25-472F-B0A5-A056E84FFEBA}" type="presOf" srcId="{D38606D7-7598-4447-8B15-C16165AD762C}" destId="{6985AEDE-DBAD-4F96-BA67-9F8ABC51927D}" srcOrd="0" destOrd="0" presId="urn:microsoft.com/office/officeart/2005/8/layout/default"/>
    <dgm:cxn modelId="{93D5E03B-39D8-401F-82B7-90E7BDC94CE8}" srcId="{3923343B-205E-4E34-8311-1A4C137C87C6}" destId="{CD5D5CA1-9B6C-45C8-8545-C52AC85078EC}" srcOrd="7" destOrd="0" parTransId="{D150D62D-FF6A-4706-BD35-C9534C6B498B}" sibTransId="{5055F4C6-F123-468D-AC82-38DD8E31A535}"/>
    <dgm:cxn modelId="{761CC55F-B7F6-414B-8296-713346DA42BE}" type="presOf" srcId="{247C8447-81FC-472F-9685-65A49AC79B1A}" destId="{644D30EB-54EB-43D4-9CA5-AE74F66BF704}" srcOrd="0" destOrd="0" presId="urn:microsoft.com/office/officeart/2005/8/layout/default"/>
    <dgm:cxn modelId="{55EBBA60-13D1-483C-B95F-951D5CB8E1EC}" type="presOf" srcId="{1790014F-3EA2-4A48-86D9-0BC5DAC904F6}" destId="{7231DD22-31C8-4C92-9AAE-6909601B9928}" srcOrd="0" destOrd="0" presId="urn:microsoft.com/office/officeart/2005/8/layout/default"/>
    <dgm:cxn modelId="{942CE565-460A-42F6-A822-5B09DA1EFEB8}" type="presOf" srcId="{FFA4394F-530A-46DE-BD17-580007972C1D}" destId="{A96135A3-AE14-44AD-A2B1-F30E843DF3FE}" srcOrd="0" destOrd="0" presId="urn:microsoft.com/office/officeart/2005/8/layout/default"/>
    <dgm:cxn modelId="{F3B2D969-6BDC-4EEC-A4FC-4622809B43A3}" type="presOf" srcId="{CD5D5CA1-9B6C-45C8-8545-C52AC85078EC}" destId="{345EF754-CBEB-4100-B991-8A0F247B8328}" srcOrd="0" destOrd="0" presId="urn:microsoft.com/office/officeart/2005/8/layout/default"/>
    <dgm:cxn modelId="{FD3EC74B-0FFE-48AC-B712-43AC46509820}" type="presOf" srcId="{928D680C-E415-4C84-82D4-7AC5AE94DC8E}" destId="{8B6E371C-8A80-429D-B0BD-B350595A9CB1}" srcOrd="0" destOrd="0" presId="urn:microsoft.com/office/officeart/2005/8/layout/default"/>
    <dgm:cxn modelId="{2B37626C-146A-4ABB-8782-0B528B6E1DF7}" srcId="{3923343B-205E-4E34-8311-1A4C137C87C6}" destId="{1790014F-3EA2-4A48-86D9-0BC5DAC904F6}" srcOrd="20" destOrd="0" parTransId="{CB7A5F7E-B9D2-4CB8-8EFA-74E054D7F5AB}" sibTransId="{4701EDD7-B156-42FB-A58F-4F894068F192}"/>
    <dgm:cxn modelId="{E5089D6F-FD8E-4551-9741-D32C59D2E93C}" type="presOf" srcId="{7ABF96EA-BDEF-4B7C-8059-4F29F987AF4B}" destId="{DF094342-D8E4-4880-A13D-716F31F2B713}" srcOrd="0" destOrd="0" presId="urn:microsoft.com/office/officeart/2005/8/layout/default"/>
    <dgm:cxn modelId="{050FD970-0604-424A-955A-F0CFF8A214D9}" type="presOf" srcId="{0ED908A1-4610-4A25-BD05-EF4A693C9EE5}" destId="{5D4EA37D-8F0A-4D8D-AB0F-B05539163658}" srcOrd="0" destOrd="0" presId="urn:microsoft.com/office/officeart/2005/8/layout/default"/>
    <dgm:cxn modelId="{F4111056-21F1-465E-AD0E-C3E63876F460}" type="presOf" srcId="{1E8F1155-7B4D-4EAE-A3EF-CFFD686ABFFC}" destId="{EAA3476C-149C-465E-9E92-A8522F11BE00}" srcOrd="0" destOrd="0" presId="urn:microsoft.com/office/officeart/2005/8/layout/default"/>
    <dgm:cxn modelId="{A449FC77-D931-4E32-BAAF-5ED156136371}" srcId="{3923343B-205E-4E34-8311-1A4C137C87C6}" destId="{3FCF3230-07E6-45A3-BA36-BB156C2C4E95}" srcOrd="10" destOrd="0" parTransId="{7B7F573B-D54E-4568-A496-F2DF41A9E89C}" sibTransId="{E418B0F9-AFCB-4872-9F42-A59C1EBC3A3C}"/>
    <dgm:cxn modelId="{9A2C2D78-7303-4443-83B6-396DA84E0B9C}" srcId="{3923343B-205E-4E34-8311-1A4C137C87C6}" destId="{247C8447-81FC-472F-9685-65A49AC79B1A}" srcOrd="8" destOrd="0" parTransId="{FB653754-BFEC-4306-8D2F-3E990A9ADEF0}" sibTransId="{5B2C6A1A-EAC0-4CCB-964A-5B5BF6B1A892}"/>
    <dgm:cxn modelId="{8EA28E58-E3CA-4F60-83F3-C4E388A89CA2}" srcId="{3923343B-205E-4E34-8311-1A4C137C87C6}" destId="{9289CAB0-3E0D-4F91-93B2-0D1DBCB04898}" srcOrd="17" destOrd="0" parTransId="{B86E2D73-9A5B-417C-BBA3-8C4926AAB9D5}" sibTransId="{B14ECB1E-69C6-459C-910C-1F42109185D7}"/>
    <dgm:cxn modelId="{B52BC778-9621-4DD4-80A4-E76C89903E9C}" srcId="{3923343B-205E-4E34-8311-1A4C137C87C6}" destId="{928D680C-E415-4C84-82D4-7AC5AE94DC8E}" srcOrd="21" destOrd="0" parTransId="{10D276A6-150F-49D9-AD30-D24BE0A96B55}" sibTransId="{DD8DDAAA-70C5-452F-8B1D-EE2E93E2FDA2}"/>
    <dgm:cxn modelId="{6D4B9A80-ACE3-4C4B-9897-C67A189F00BC}" srcId="{3923343B-205E-4E34-8311-1A4C137C87C6}" destId="{DCAD18D3-D133-4A0F-96C4-52B61D4CBC2F}" srcOrd="6" destOrd="0" parTransId="{952F1360-7B60-4511-A695-3C2E51A67B46}" sibTransId="{9C29C59D-3491-40A7-956C-7C79A65D6947}"/>
    <dgm:cxn modelId="{643D0B83-DCAA-4557-9C7B-80C0A7737370}" type="presOf" srcId="{52427346-1173-4B22-B7E8-391086DE599A}" destId="{67538876-427B-4772-B715-05594EB13B3B}" srcOrd="0" destOrd="0" presId="urn:microsoft.com/office/officeart/2005/8/layout/default"/>
    <dgm:cxn modelId="{1ADF5596-6AA7-4C9B-9E9D-F1092781689A}" srcId="{3923343B-205E-4E34-8311-1A4C137C87C6}" destId="{7ABF96EA-BDEF-4B7C-8059-4F29F987AF4B}" srcOrd="2" destOrd="0" parTransId="{6AF86E5A-6BD8-4FA3-8815-2DE965AD91A7}" sibTransId="{E0417799-5462-44E4-A5A7-66AC58FD2585}"/>
    <dgm:cxn modelId="{969E5997-9997-46E7-8827-815BDE4322C0}" type="presOf" srcId="{421F98C1-B91E-43AE-BFC4-E333F3842250}" destId="{E58600A6-A89D-4BE3-B491-1058FF7329F5}" srcOrd="0" destOrd="0" presId="urn:microsoft.com/office/officeart/2005/8/layout/default"/>
    <dgm:cxn modelId="{798F9299-5320-470C-8F7B-9A8C1DFF3EF1}" srcId="{3923343B-205E-4E34-8311-1A4C137C87C6}" destId="{03222953-07AB-4F46-B215-0AA81CA350ED}" srcOrd="1" destOrd="0" parTransId="{5A4757E0-5911-46D5-A130-FA87CABADF04}" sibTransId="{BC1BE7EF-3321-4B56-9339-CFD088783E0D}"/>
    <dgm:cxn modelId="{E197A099-4F1A-4351-87D8-ABC669D7414F}" type="presOf" srcId="{BEB7CC70-E510-4F31-A4A5-F0876A539E79}" destId="{477FCECE-4F41-4D2F-BC6F-726AAB1BDA19}" srcOrd="0" destOrd="0" presId="urn:microsoft.com/office/officeart/2005/8/layout/default"/>
    <dgm:cxn modelId="{8A791FA5-841E-4BBD-B316-13F92B861AE6}" srcId="{3923343B-205E-4E34-8311-1A4C137C87C6}" destId="{363FFB75-F730-474B-8C7B-34C2EBB7EAE2}" srcOrd="12" destOrd="0" parTransId="{82D90A53-A834-4FE4-9857-E12A79D6648D}" sibTransId="{8C85B829-388D-4C59-BE1D-ED03F02027C8}"/>
    <dgm:cxn modelId="{30E675AE-F268-4FF7-845B-435AC7BAC728}" srcId="{3923343B-205E-4E34-8311-1A4C137C87C6}" destId="{266A0D1B-1DA5-4D08-9424-86D4F9DFD60B}" srcOrd="13" destOrd="0" parTransId="{13FE3B48-BC85-4369-832A-6EB2963B378C}" sibTransId="{80F354C8-7A30-4E87-901F-639E94D9B856}"/>
    <dgm:cxn modelId="{1FD191AE-B720-4B74-BEE1-9542F1F9DE32}" type="presOf" srcId="{9289CAB0-3E0D-4F91-93B2-0D1DBCB04898}" destId="{16CCC8E9-EE3A-4888-8EB5-6B0FC05C0CD8}" srcOrd="0" destOrd="0" presId="urn:microsoft.com/office/officeart/2005/8/layout/default"/>
    <dgm:cxn modelId="{A98D25B5-06B0-4C0D-9844-6EBC8C754336}" type="presOf" srcId="{1E2F713C-083C-4644-9256-364009DDF4C2}" destId="{31A056F6-AD4E-4C73-AEE7-F9CC51B2B92F}" srcOrd="0" destOrd="0" presId="urn:microsoft.com/office/officeart/2005/8/layout/default"/>
    <dgm:cxn modelId="{DB6C57B6-F1B8-46AD-975C-7A71A8F29622}" srcId="{3923343B-205E-4E34-8311-1A4C137C87C6}" destId="{F177A357-0F25-4F04-81BA-35CA07A4F769}" srcOrd="22" destOrd="0" parTransId="{B9A3462D-9EAF-4E54-AC11-0C1E0B5CDEFE}" sibTransId="{5432539D-1806-4B1F-B984-14B33D03C0B0}"/>
    <dgm:cxn modelId="{C5A436B7-885E-4960-A398-2692C97715BC}" srcId="{3923343B-205E-4E34-8311-1A4C137C87C6}" destId="{1E2F713C-083C-4644-9256-364009DDF4C2}" srcOrd="9" destOrd="0" parTransId="{72B204F9-4B08-4932-A6F0-40149AD9DC48}" sibTransId="{93C47A5D-764B-4E08-A931-E06C410C413C}"/>
    <dgm:cxn modelId="{8FB0CEB7-62DD-41B2-8F07-A6E793DAA853}" type="presOf" srcId="{E7BEB4EE-0460-48B7-9090-A917134431E6}" destId="{A5550FB2-180C-4537-A0C7-E2BE464DAAA2}" srcOrd="0" destOrd="0" presId="urn:microsoft.com/office/officeart/2005/8/layout/default"/>
    <dgm:cxn modelId="{A5E4F4B7-DD25-4B4B-A7A3-125085CCF592}" type="presOf" srcId="{3D104190-CBE4-48B9-BD76-FC5E2BCB05B8}" destId="{354CD89F-F043-479F-8C0E-203FA9EDC2C0}" srcOrd="0" destOrd="0" presId="urn:microsoft.com/office/officeart/2005/8/layout/default"/>
    <dgm:cxn modelId="{068C56B8-2C1F-4E4A-9E00-3F9186AA4CCD}" type="presOf" srcId="{363FFB75-F730-474B-8C7B-34C2EBB7EAE2}" destId="{E496F3FE-E6FD-4201-BD11-160C1ECA5F11}" srcOrd="0" destOrd="0" presId="urn:microsoft.com/office/officeart/2005/8/layout/default"/>
    <dgm:cxn modelId="{14523DCB-F605-4897-9592-27E69236F7B9}" srcId="{3923343B-205E-4E34-8311-1A4C137C87C6}" destId="{1E8F1155-7B4D-4EAE-A3EF-CFFD686ABFFC}" srcOrd="23" destOrd="0" parTransId="{05D93205-8534-4924-90C2-761B62B5AA28}" sibTransId="{E89F146E-1E5D-4727-BEBB-5000D7677605}"/>
    <dgm:cxn modelId="{83909DCE-99A0-4E7C-98BE-6ECDBA71681B}" type="presOf" srcId="{2DB4B5A8-D330-4A60-B097-27D8DFA46D80}" destId="{D0744EBB-B351-4B60-9032-1A040CC34316}" srcOrd="0" destOrd="0" presId="urn:microsoft.com/office/officeart/2005/8/layout/default"/>
    <dgm:cxn modelId="{A0576BE3-EF1A-4C10-B763-46C91BC65151}" srcId="{3923343B-205E-4E34-8311-1A4C137C87C6}" destId="{5C80A8BC-66CE-4D69-9F14-18826E0D4D65}" srcOrd="14" destOrd="0" parTransId="{07B529D8-B24E-4877-B1D8-4AACE53AABF4}" sibTransId="{2A747AF6-38FD-40F7-B49C-9EAC33321C57}"/>
    <dgm:cxn modelId="{AF3F09E6-60EF-47B7-9B37-C60760606CD3}" srcId="{3923343B-205E-4E34-8311-1A4C137C87C6}" destId="{421F98C1-B91E-43AE-BFC4-E333F3842250}" srcOrd="3" destOrd="0" parTransId="{C792CCBE-C254-4CA1-A0F2-C18DDF581118}" sibTransId="{4AD2A01D-12C5-4006-998A-9887A575898C}"/>
    <dgm:cxn modelId="{4E4F9CFB-BCB8-4692-8E21-DF949986CEED}" srcId="{3923343B-205E-4E34-8311-1A4C137C87C6}" destId="{D38606D7-7598-4447-8B15-C16165AD762C}" srcOrd="15" destOrd="0" parTransId="{DD18705E-41A1-4846-97CA-5A57C2D0C1DF}" sibTransId="{D46A0930-9613-4A96-9B13-4D6DD282E67C}"/>
    <dgm:cxn modelId="{5CF2F026-B31A-4C3F-94ED-E2EA6E0A91F4}" type="presParOf" srcId="{2E12EC84-9B6F-4B97-BD4C-0FD466DC6DE9}" destId="{A5550FB2-180C-4537-A0C7-E2BE464DAAA2}" srcOrd="0" destOrd="0" presId="urn:microsoft.com/office/officeart/2005/8/layout/default"/>
    <dgm:cxn modelId="{1BAF2588-8885-40DC-A07D-0EC459B5F452}" type="presParOf" srcId="{2E12EC84-9B6F-4B97-BD4C-0FD466DC6DE9}" destId="{66060272-5799-4B31-8771-42DBE49340EE}" srcOrd="1" destOrd="0" presId="urn:microsoft.com/office/officeart/2005/8/layout/default"/>
    <dgm:cxn modelId="{D82916A1-3165-48CE-BBB5-39A5B3211B2D}" type="presParOf" srcId="{2E12EC84-9B6F-4B97-BD4C-0FD466DC6DE9}" destId="{DF561E9F-A42C-4B0B-AFA8-37CC612F9B47}" srcOrd="2" destOrd="0" presId="urn:microsoft.com/office/officeart/2005/8/layout/default"/>
    <dgm:cxn modelId="{287D9810-84DF-4B97-BCA6-F76891CAF11C}" type="presParOf" srcId="{2E12EC84-9B6F-4B97-BD4C-0FD466DC6DE9}" destId="{46C86941-AC4B-4C13-9646-883D9D0E71C8}" srcOrd="3" destOrd="0" presId="urn:microsoft.com/office/officeart/2005/8/layout/default"/>
    <dgm:cxn modelId="{FA681080-2E51-40EA-B287-4B17FF5FEABE}" type="presParOf" srcId="{2E12EC84-9B6F-4B97-BD4C-0FD466DC6DE9}" destId="{DF094342-D8E4-4880-A13D-716F31F2B713}" srcOrd="4" destOrd="0" presId="urn:microsoft.com/office/officeart/2005/8/layout/default"/>
    <dgm:cxn modelId="{0CA48B8E-5932-41CA-A893-4E58E91E1E9B}" type="presParOf" srcId="{2E12EC84-9B6F-4B97-BD4C-0FD466DC6DE9}" destId="{56A4CBBD-B56C-44A0-9717-B6F42C5EC6F3}" srcOrd="5" destOrd="0" presId="urn:microsoft.com/office/officeart/2005/8/layout/default"/>
    <dgm:cxn modelId="{06A12658-1800-4921-BE60-EF3A6568C7AA}" type="presParOf" srcId="{2E12EC84-9B6F-4B97-BD4C-0FD466DC6DE9}" destId="{E58600A6-A89D-4BE3-B491-1058FF7329F5}" srcOrd="6" destOrd="0" presId="urn:microsoft.com/office/officeart/2005/8/layout/default"/>
    <dgm:cxn modelId="{836F0EAD-ECFC-402C-99CA-BB1C4B7AB90D}" type="presParOf" srcId="{2E12EC84-9B6F-4B97-BD4C-0FD466DC6DE9}" destId="{E9BF9107-90BC-47BA-BF8B-0BC0EF4B20A2}" srcOrd="7" destOrd="0" presId="urn:microsoft.com/office/officeart/2005/8/layout/default"/>
    <dgm:cxn modelId="{9142541A-5D2E-4600-87F7-008222C6934C}" type="presParOf" srcId="{2E12EC84-9B6F-4B97-BD4C-0FD466DC6DE9}" destId="{354CD89F-F043-479F-8C0E-203FA9EDC2C0}" srcOrd="8" destOrd="0" presId="urn:microsoft.com/office/officeart/2005/8/layout/default"/>
    <dgm:cxn modelId="{9F8FB674-B9FD-4173-AF61-E7CFD7ADC08B}" type="presParOf" srcId="{2E12EC84-9B6F-4B97-BD4C-0FD466DC6DE9}" destId="{4E3B523A-1D25-497F-BE33-2CA9316E564E}" srcOrd="9" destOrd="0" presId="urn:microsoft.com/office/officeart/2005/8/layout/default"/>
    <dgm:cxn modelId="{B5EBF856-2A6A-4390-B131-B9413D871339}" type="presParOf" srcId="{2E12EC84-9B6F-4B97-BD4C-0FD466DC6DE9}" destId="{D0744EBB-B351-4B60-9032-1A040CC34316}" srcOrd="10" destOrd="0" presId="urn:microsoft.com/office/officeart/2005/8/layout/default"/>
    <dgm:cxn modelId="{71366E0F-4577-4C52-92E0-2CDC6494CF82}" type="presParOf" srcId="{2E12EC84-9B6F-4B97-BD4C-0FD466DC6DE9}" destId="{87FB37CE-BE40-456A-9F61-0037D4FF76C8}" srcOrd="11" destOrd="0" presId="urn:microsoft.com/office/officeart/2005/8/layout/default"/>
    <dgm:cxn modelId="{185B9875-B08E-45CB-B299-CBDF365BE912}" type="presParOf" srcId="{2E12EC84-9B6F-4B97-BD4C-0FD466DC6DE9}" destId="{EB9C9FFC-0536-4965-BBA5-3093906BB41D}" srcOrd="12" destOrd="0" presId="urn:microsoft.com/office/officeart/2005/8/layout/default"/>
    <dgm:cxn modelId="{B73CB96F-EAC6-4137-81D5-563EEF2BC757}" type="presParOf" srcId="{2E12EC84-9B6F-4B97-BD4C-0FD466DC6DE9}" destId="{037DAB98-BA95-4842-A1AD-DFB80765039C}" srcOrd="13" destOrd="0" presId="urn:microsoft.com/office/officeart/2005/8/layout/default"/>
    <dgm:cxn modelId="{11BFBB46-E669-4792-BF00-0B2579EE7503}" type="presParOf" srcId="{2E12EC84-9B6F-4B97-BD4C-0FD466DC6DE9}" destId="{345EF754-CBEB-4100-B991-8A0F247B8328}" srcOrd="14" destOrd="0" presId="urn:microsoft.com/office/officeart/2005/8/layout/default"/>
    <dgm:cxn modelId="{AA2A19C6-15C6-46E7-9D54-EAAD4748AAA2}" type="presParOf" srcId="{2E12EC84-9B6F-4B97-BD4C-0FD466DC6DE9}" destId="{123FA77E-F60C-43B7-A26F-456721D5FEB0}" srcOrd="15" destOrd="0" presId="urn:microsoft.com/office/officeart/2005/8/layout/default"/>
    <dgm:cxn modelId="{1321F96E-C3C7-41E1-9371-DCC059B012A3}" type="presParOf" srcId="{2E12EC84-9B6F-4B97-BD4C-0FD466DC6DE9}" destId="{644D30EB-54EB-43D4-9CA5-AE74F66BF704}" srcOrd="16" destOrd="0" presId="urn:microsoft.com/office/officeart/2005/8/layout/default"/>
    <dgm:cxn modelId="{419C85F8-2D3C-49FA-97E0-946E3E42D531}" type="presParOf" srcId="{2E12EC84-9B6F-4B97-BD4C-0FD466DC6DE9}" destId="{DD04BCEF-2189-4705-8F67-B7A1DA8B6804}" srcOrd="17" destOrd="0" presId="urn:microsoft.com/office/officeart/2005/8/layout/default"/>
    <dgm:cxn modelId="{07EC86A0-C541-4F63-B31F-5D35714FB5FB}" type="presParOf" srcId="{2E12EC84-9B6F-4B97-BD4C-0FD466DC6DE9}" destId="{31A056F6-AD4E-4C73-AEE7-F9CC51B2B92F}" srcOrd="18" destOrd="0" presId="urn:microsoft.com/office/officeart/2005/8/layout/default"/>
    <dgm:cxn modelId="{773651B8-DA93-4937-9760-077130ED6437}" type="presParOf" srcId="{2E12EC84-9B6F-4B97-BD4C-0FD466DC6DE9}" destId="{1B0B214B-C98B-4AC6-A0E4-C1223699CEF3}" srcOrd="19" destOrd="0" presId="urn:microsoft.com/office/officeart/2005/8/layout/default"/>
    <dgm:cxn modelId="{84F76692-E593-4ED4-B219-87287707427B}" type="presParOf" srcId="{2E12EC84-9B6F-4B97-BD4C-0FD466DC6DE9}" destId="{59AE6384-D50A-4013-9AD6-45E9F2FB1A6A}" srcOrd="20" destOrd="0" presId="urn:microsoft.com/office/officeart/2005/8/layout/default"/>
    <dgm:cxn modelId="{11217903-F227-4C70-8F6C-2F2E4556E18B}" type="presParOf" srcId="{2E12EC84-9B6F-4B97-BD4C-0FD466DC6DE9}" destId="{F9F9B0A0-FAE2-48E0-A7DA-CAF539551550}" srcOrd="21" destOrd="0" presId="urn:microsoft.com/office/officeart/2005/8/layout/default"/>
    <dgm:cxn modelId="{A1CC7D68-93BB-4E52-A31B-6679BBBC98A5}" type="presParOf" srcId="{2E12EC84-9B6F-4B97-BD4C-0FD466DC6DE9}" destId="{477FCECE-4F41-4D2F-BC6F-726AAB1BDA19}" srcOrd="22" destOrd="0" presId="urn:microsoft.com/office/officeart/2005/8/layout/default"/>
    <dgm:cxn modelId="{C9235112-4A67-4BCF-99EE-F24C294DACE1}" type="presParOf" srcId="{2E12EC84-9B6F-4B97-BD4C-0FD466DC6DE9}" destId="{78CB5619-EAE9-4E94-8AF9-BC8852C491CF}" srcOrd="23" destOrd="0" presId="urn:microsoft.com/office/officeart/2005/8/layout/default"/>
    <dgm:cxn modelId="{D25A17E4-663A-45FE-9DE7-1DDE296946A6}" type="presParOf" srcId="{2E12EC84-9B6F-4B97-BD4C-0FD466DC6DE9}" destId="{E496F3FE-E6FD-4201-BD11-160C1ECA5F11}" srcOrd="24" destOrd="0" presId="urn:microsoft.com/office/officeart/2005/8/layout/default"/>
    <dgm:cxn modelId="{603C0A9C-E1E5-47FE-87A6-9B9BEA347F41}" type="presParOf" srcId="{2E12EC84-9B6F-4B97-BD4C-0FD466DC6DE9}" destId="{0D7ADC9C-36FA-4C88-A6CC-0CF9EC687DAF}" srcOrd="25" destOrd="0" presId="urn:microsoft.com/office/officeart/2005/8/layout/default"/>
    <dgm:cxn modelId="{ED604F26-C229-4F46-ACE1-489AC0236E87}" type="presParOf" srcId="{2E12EC84-9B6F-4B97-BD4C-0FD466DC6DE9}" destId="{70E7AFD0-E30D-4077-B908-BA646D3CE525}" srcOrd="26" destOrd="0" presId="urn:microsoft.com/office/officeart/2005/8/layout/default"/>
    <dgm:cxn modelId="{335F646C-954A-4DD2-A6C7-176130752B65}" type="presParOf" srcId="{2E12EC84-9B6F-4B97-BD4C-0FD466DC6DE9}" destId="{98FB403F-DF8B-41DD-9A23-B23C2A70894C}" srcOrd="27" destOrd="0" presId="urn:microsoft.com/office/officeart/2005/8/layout/default"/>
    <dgm:cxn modelId="{AD20E9C9-5BFA-4403-BE40-55965E5B321F}" type="presParOf" srcId="{2E12EC84-9B6F-4B97-BD4C-0FD466DC6DE9}" destId="{DEC3FA81-6994-4A88-8E36-FA0CC7450051}" srcOrd="28" destOrd="0" presId="urn:microsoft.com/office/officeart/2005/8/layout/default"/>
    <dgm:cxn modelId="{456546CC-F7CE-4E38-867A-F8CEDFC458D1}" type="presParOf" srcId="{2E12EC84-9B6F-4B97-BD4C-0FD466DC6DE9}" destId="{4624C7C3-6331-4EE1-BF40-58C51C2EB29B}" srcOrd="29" destOrd="0" presId="urn:microsoft.com/office/officeart/2005/8/layout/default"/>
    <dgm:cxn modelId="{0F78D98F-FA18-46F4-A85E-62FE3B2CBFD5}" type="presParOf" srcId="{2E12EC84-9B6F-4B97-BD4C-0FD466DC6DE9}" destId="{6985AEDE-DBAD-4F96-BA67-9F8ABC51927D}" srcOrd="30" destOrd="0" presId="urn:microsoft.com/office/officeart/2005/8/layout/default"/>
    <dgm:cxn modelId="{70A9C350-EB2D-4896-AC16-F509DB94A9AC}" type="presParOf" srcId="{2E12EC84-9B6F-4B97-BD4C-0FD466DC6DE9}" destId="{9A9818C0-A1BB-456D-9D4D-12F7FF6C3DF5}" srcOrd="31" destOrd="0" presId="urn:microsoft.com/office/officeart/2005/8/layout/default"/>
    <dgm:cxn modelId="{2EF6F4B3-8839-4275-894D-574D584D6076}" type="presParOf" srcId="{2E12EC84-9B6F-4B97-BD4C-0FD466DC6DE9}" destId="{A96135A3-AE14-44AD-A2B1-F30E843DF3FE}" srcOrd="32" destOrd="0" presId="urn:microsoft.com/office/officeart/2005/8/layout/default"/>
    <dgm:cxn modelId="{E869DFD8-7766-4C0D-8E7C-0E9D24D5A55B}" type="presParOf" srcId="{2E12EC84-9B6F-4B97-BD4C-0FD466DC6DE9}" destId="{C2F17525-813C-4130-990A-B37131868CF7}" srcOrd="33" destOrd="0" presId="urn:microsoft.com/office/officeart/2005/8/layout/default"/>
    <dgm:cxn modelId="{95962DE4-75C9-4898-B050-9C69327E03D1}" type="presParOf" srcId="{2E12EC84-9B6F-4B97-BD4C-0FD466DC6DE9}" destId="{16CCC8E9-EE3A-4888-8EB5-6B0FC05C0CD8}" srcOrd="34" destOrd="0" presId="urn:microsoft.com/office/officeart/2005/8/layout/default"/>
    <dgm:cxn modelId="{AD8804C3-91A7-48C5-B7FC-13D547D4E520}" type="presParOf" srcId="{2E12EC84-9B6F-4B97-BD4C-0FD466DC6DE9}" destId="{44C1D855-D9A8-46AF-9FA0-5807353127B3}" srcOrd="35" destOrd="0" presId="urn:microsoft.com/office/officeart/2005/8/layout/default"/>
    <dgm:cxn modelId="{DEB4F86D-1AFD-46A3-913B-A42D601F2824}" type="presParOf" srcId="{2E12EC84-9B6F-4B97-BD4C-0FD466DC6DE9}" destId="{5D4EA37D-8F0A-4D8D-AB0F-B05539163658}" srcOrd="36" destOrd="0" presId="urn:microsoft.com/office/officeart/2005/8/layout/default"/>
    <dgm:cxn modelId="{B3BDDD21-AABF-4C73-9374-0CB48F90E0D2}" type="presParOf" srcId="{2E12EC84-9B6F-4B97-BD4C-0FD466DC6DE9}" destId="{4C7E3DBB-B2F2-480B-B1BC-24BE603921C9}" srcOrd="37" destOrd="0" presId="urn:microsoft.com/office/officeart/2005/8/layout/default"/>
    <dgm:cxn modelId="{378CB14A-84AD-497F-A40B-BB8884A69F5E}" type="presParOf" srcId="{2E12EC84-9B6F-4B97-BD4C-0FD466DC6DE9}" destId="{67538876-427B-4772-B715-05594EB13B3B}" srcOrd="38" destOrd="0" presId="urn:microsoft.com/office/officeart/2005/8/layout/default"/>
    <dgm:cxn modelId="{E4B82180-FD6B-4FAC-BEF2-1C55E8A1CAC6}" type="presParOf" srcId="{2E12EC84-9B6F-4B97-BD4C-0FD466DC6DE9}" destId="{9C3EA320-0B94-4983-AE64-FEACA631ED23}" srcOrd="39" destOrd="0" presId="urn:microsoft.com/office/officeart/2005/8/layout/default"/>
    <dgm:cxn modelId="{121D96AF-CFCA-4E0D-8EA4-537DF63B1B1A}" type="presParOf" srcId="{2E12EC84-9B6F-4B97-BD4C-0FD466DC6DE9}" destId="{7231DD22-31C8-4C92-9AAE-6909601B9928}" srcOrd="40" destOrd="0" presId="urn:microsoft.com/office/officeart/2005/8/layout/default"/>
    <dgm:cxn modelId="{2C1AADF6-B917-4C97-B2E3-57AFB23BF466}" type="presParOf" srcId="{2E12EC84-9B6F-4B97-BD4C-0FD466DC6DE9}" destId="{A8605788-E2F7-421C-827F-67CF4676E96C}" srcOrd="41" destOrd="0" presId="urn:microsoft.com/office/officeart/2005/8/layout/default"/>
    <dgm:cxn modelId="{202CE548-10C7-46AA-B321-DEA05C2B1A66}" type="presParOf" srcId="{2E12EC84-9B6F-4B97-BD4C-0FD466DC6DE9}" destId="{8B6E371C-8A80-429D-B0BD-B350595A9CB1}" srcOrd="42" destOrd="0" presId="urn:microsoft.com/office/officeart/2005/8/layout/default"/>
    <dgm:cxn modelId="{E139D488-6732-4290-8D70-FFC48A9D3AFB}" type="presParOf" srcId="{2E12EC84-9B6F-4B97-BD4C-0FD466DC6DE9}" destId="{B0057065-A669-4791-A81C-B1E3EACB4D95}" srcOrd="43" destOrd="0" presId="urn:microsoft.com/office/officeart/2005/8/layout/default"/>
    <dgm:cxn modelId="{D07261EA-2E42-4769-847E-0361FE80364C}" type="presParOf" srcId="{2E12EC84-9B6F-4B97-BD4C-0FD466DC6DE9}" destId="{52BA2773-BFD1-4F66-8F31-5C48902B76D5}" srcOrd="44" destOrd="0" presId="urn:microsoft.com/office/officeart/2005/8/layout/default"/>
    <dgm:cxn modelId="{8726FBE5-CD2A-44A3-8371-D639C8E5E734}" type="presParOf" srcId="{2E12EC84-9B6F-4B97-BD4C-0FD466DC6DE9}" destId="{6D1ED525-BA38-474A-91D5-538064D729D6}" srcOrd="45" destOrd="0" presId="urn:microsoft.com/office/officeart/2005/8/layout/default"/>
    <dgm:cxn modelId="{B94E0F0E-5086-4361-953B-316023374716}" type="presParOf" srcId="{2E12EC84-9B6F-4B97-BD4C-0FD466DC6DE9}" destId="{EAA3476C-149C-465E-9E92-A8522F11BE00}" srcOrd="4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B085FA-00DD-5F4A-A641-AFCE8150AD9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7915531-AACA-B749-813C-7EF955B59950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ES" sz="1600" b="1" i="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Déficit de Representación. </a:t>
          </a:r>
        </a:p>
        <a:p>
          <a:pPr algn="just"/>
          <a:r>
            <a:rPr lang="es-ES" sz="1600" b="0" i="0" dirty="0">
              <a:solidFill>
                <a:schemeClr val="tx1"/>
              </a:solidFill>
              <a:latin typeface="+mn-lt"/>
            </a:rPr>
            <a:t>La Constitución de 1991 representó un avance para la mayoría de las poblaciones, pero no para el campesinado, que no tuvo representación específica y reconocimiento. </a:t>
          </a:r>
          <a:endParaRPr lang="es-ES" sz="1600" b="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D36F51C4-9018-C542-BAFB-9C787B5B4BD6}" type="parTrans" cxnId="{477503C2-AB24-1C45-972F-05B5EBF2AC7C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07C818-9303-AF49-9B40-B7895903741D}" type="sibTrans" cxnId="{477503C2-AB24-1C45-972F-05B5EBF2AC7C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EE9577-2F82-614B-940C-6ED52F97D6D8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ES" sz="1600" b="1" i="0" cap="small" baseline="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  <a:t>Reconocer las distintas dimensiones del campesinado. </a:t>
          </a:r>
        </a:p>
        <a:p>
          <a:pPr algn="just"/>
          <a:br>
            <a:rPr lang="es-ES" sz="16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</a:br>
          <a:r>
            <a:rPr lang="es-ES" sz="1600" b="0" i="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  <a:t>L</a:t>
          </a:r>
          <a:r>
            <a:rPr lang="es-ES" sz="1600" b="0" i="0" dirty="0">
              <a:solidFill>
                <a:schemeClr val="tx1"/>
              </a:solidFill>
              <a:latin typeface="+mj-lt"/>
            </a:rPr>
            <a:t>os derechos del campesinado solo quedaron plasmados en tres artículos (63, 64 y 65), que se quedan cortos pues sólo reconocen la dimensión económica. </a:t>
          </a:r>
          <a:endParaRPr lang="es-ES" sz="1600" dirty="0">
            <a:solidFill>
              <a:schemeClr val="tx1"/>
            </a:solidFill>
            <a:latin typeface="+mj-lt"/>
            <a:cs typeface="Arial" panose="020B0604020202020204" pitchFamily="34" charset="0"/>
          </a:endParaRPr>
        </a:p>
      </dgm:t>
    </dgm:pt>
    <dgm:pt modelId="{DC39494E-3EAD-6546-B903-35514C1ADE67}" type="parTrans" cxnId="{19293193-38C6-FF48-8DA9-CC9FF0235CF2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4FB4C9-B126-8244-BEF9-9BCD0DA20490}" type="sibTrans" cxnId="{19293193-38C6-FF48-8DA9-CC9FF0235CF2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0FD6A3-1C22-0F42-B00D-477F2A939744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CO" sz="1600" b="1" i="0" cap="small" baseline="0" dirty="0">
              <a:solidFill>
                <a:schemeClr val="tx1"/>
              </a:solidFill>
              <a:latin typeface="+mn-lt"/>
            </a:rPr>
            <a:t>Protege y reconoce derechos del Campesinado. </a:t>
          </a:r>
          <a:endParaRPr lang="es-ES" sz="1600" b="1" i="0" cap="small" baseline="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  <a:p>
          <a:pPr algn="just"/>
          <a:br>
            <a:rPr lang="es-ES" sz="1600" b="0" i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</a:br>
          <a:r>
            <a:rPr lang="es-ES" sz="1600" b="0" i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Amplia el reconocimiento de los derechos del campesinado, algunos vitales como el agua y las semillas y otros novedosos como la participación reforzada. </a:t>
          </a:r>
          <a:endParaRPr lang="es-ES" sz="16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0FA8E969-24E9-B645-B868-6764E6C96C55}" type="parTrans" cxnId="{9170C7C1-1806-2F4A-B4C5-4989E064C910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FE78DD-D17A-8945-8AF3-6EFF2EAE96CD}" type="sibTrans" cxnId="{9170C7C1-1806-2F4A-B4C5-4989E064C910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C8A955-69D1-3E4C-A8FC-73182BB42EC0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ES" sz="1600" b="1" i="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Reconoce demandas históricas y avances en materia del campesinado. </a:t>
          </a:r>
        </a:p>
        <a:p>
          <a:pPr algn="just"/>
          <a:r>
            <a:rPr lang="es-ES" sz="1600" b="0" i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El ajuste fue (es) una demanda del movimiento campesino en sus diferentes estrategias de incidencia y recoge los avances jurisprudenciales que hasta ese entonces se había presentado. </a:t>
          </a:r>
          <a:br>
            <a:rPr lang="es-E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s-ES" sz="1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D9F384-2B8A-C147-94B0-8340B7086B30}" type="parTrans" cxnId="{3F7B571E-AB8B-EC46-B47E-79F6FB1F529A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1FD384-A635-694E-B339-A673EF6CDD5F}" type="sibTrans" cxnId="{3F7B571E-AB8B-EC46-B47E-79F6FB1F529A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C28498-62F8-FD40-94C2-EDF56F757D8C}" type="pres">
      <dgm:prSet presAssocID="{A5B085FA-00DD-5F4A-A641-AFCE8150AD9B}" presName="diagram" presStyleCnt="0">
        <dgm:presLayoutVars>
          <dgm:dir/>
          <dgm:resizeHandles val="exact"/>
        </dgm:presLayoutVars>
      </dgm:prSet>
      <dgm:spPr/>
    </dgm:pt>
    <dgm:pt modelId="{4FD9D527-95D7-8E44-A564-9E78CA663A5B}" type="pres">
      <dgm:prSet presAssocID="{87915531-AACA-B749-813C-7EF955B59950}" presName="node" presStyleLbl="node1" presStyleIdx="0" presStyleCnt="4">
        <dgm:presLayoutVars>
          <dgm:bulletEnabled val="1"/>
        </dgm:presLayoutVars>
      </dgm:prSet>
      <dgm:spPr/>
    </dgm:pt>
    <dgm:pt modelId="{CD3F858B-34CF-B64B-8D2D-D616A5B8CD95}" type="pres">
      <dgm:prSet presAssocID="{0007C818-9303-AF49-9B40-B7895903741D}" presName="sibTrans" presStyleCnt="0"/>
      <dgm:spPr/>
    </dgm:pt>
    <dgm:pt modelId="{A2D9DD0C-0AB8-3B40-9A59-80F8B31F61EE}" type="pres">
      <dgm:prSet presAssocID="{B6EE9577-2F82-614B-940C-6ED52F97D6D8}" presName="node" presStyleLbl="node1" presStyleIdx="1" presStyleCnt="4" custLinFactNeighborX="3459" custLinFactNeighborY="-79562">
        <dgm:presLayoutVars>
          <dgm:bulletEnabled val="1"/>
        </dgm:presLayoutVars>
      </dgm:prSet>
      <dgm:spPr/>
    </dgm:pt>
    <dgm:pt modelId="{B37825A7-095B-C84A-9BC7-3A197E5ACDFA}" type="pres">
      <dgm:prSet presAssocID="{784FB4C9-B126-8244-BEF9-9BCD0DA20490}" presName="sibTrans" presStyleCnt="0"/>
      <dgm:spPr/>
    </dgm:pt>
    <dgm:pt modelId="{E8497E86-4333-4242-8D21-CC3C14933935}" type="pres">
      <dgm:prSet presAssocID="{890FD6A3-1C22-0F42-B00D-477F2A939744}" presName="node" presStyleLbl="node1" presStyleIdx="2" presStyleCnt="4">
        <dgm:presLayoutVars>
          <dgm:bulletEnabled val="1"/>
        </dgm:presLayoutVars>
      </dgm:prSet>
      <dgm:spPr/>
    </dgm:pt>
    <dgm:pt modelId="{0C5DC8EC-5F69-DF4F-8981-2ABDF152C2A6}" type="pres">
      <dgm:prSet presAssocID="{3BFE78DD-D17A-8945-8AF3-6EFF2EAE96CD}" presName="sibTrans" presStyleCnt="0"/>
      <dgm:spPr/>
    </dgm:pt>
    <dgm:pt modelId="{A7D0340F-ACF9-174D-B3E7-72971BAE0C94}" type="pres">
      <dgm:prSet presAssocID="{DBC8A955-69D1-3E4C-A8FC-73182BB42EC0}" presName="node" presStyleLbl="node1" presStyleIdx="3" presStyleCnt="4" custLinFactNeighborX="5097" custLinFactNeighborY="-854">
        <dgm:presLayoutVars>
          <dgm:bulletEnabled val="1"/>
        </dgm:presLayoutVars>
      </dgm:prSet>
      <dgm:spPr/>
    </dgm:pt>
  </dgm:ptLst>
  <dgm:cxnLst>
    <dgm:cxn modelId="{3F7B571E-AB8B-EC46-B47E-79F6FB1F529A}" srcId="{A5B085FA-00DD-5F4A-A641-AFCE8150AD9B}" destId="{DBC8A955-69D1-3E4C-A8FC-73182BB42EC0}" srcOrd="3" destOrd="0" parTransId="{C5D9F384-2B8A-C147-94B0-8340B7086B30}" sibTransId="{541FD384-A635-694E-B339-A673EF6CDD5F}"/>
    <dgm:cxn modelId="{E308B72C-8CDF-4243-B2E0-21E39E8374D8}" type="presOf" srcId="{890FD6A3-1C22-0F42-B00D-477F2A939744}" destId="{E8497E86-4333-4242-8D21-CC3C14933935}" srcOrd="0" destOrd="0" presId="urn:microsoft.com/office/officeart/2005/8/layout/default"/>
    <dgm:cxn modelId="{19293193-38C6-FF48-8DA9-CC9FF0235CF2}" srcId="{A5B085FA-00DD-5F4A-A641-AFCE8150AD9B}" destId="{B6EE9577-2F82-614B-940C-6ED52F97D6D8}" srcOrd="1" destOrd="0" parTransId="{DC39494E-3EAD-6546-B903-35514C1ADE67}" sibTransId="{784FB4C9-B126-8244-BEF9-9BCD0DA20490}"/>
    <dgm:cxn modelId="{5B22BE9B-A33E-2247-B38E-0A6B422A45D1}" type="presOf" srcId="{DBC8A955-69D1-3E4C-A8FC-73182BB42EC0}" destId="{A7D0340F-ACF9-174D-B3E7-72971BAE0C94}" srcOrd="0" destOrd="0" presId="urn:microsoft.com/office/officeart/2005/8/layout/default"/>
    <dgm:cxn modelId="{743C81A2-2178-984F-AA3A-C627FD7E8D5F}" type="presOf" srcId="{87915531-AACA-B749-813C-7EF955B59950}" destId="{4FD9D527-95D7-8E44-A564-9E78CA663A5B}" srcOrd="0" destOrd="0" presId="urn:microsoft.com/office/officeart/2005/8/layout/default"/>
    <dgm:cxn modelId="{9170C7C1-1806-2F4A-B4C5-4989E064C910}" srcId="{A5B085FA-00DD-5F4A-A641-AFCE8150AD9B}" destId="{890FD6A3-1C22-0F42-B00D-477F2A939744}" srcOrd="2" destOrd="0" parTransId="{0FA8E969-24E9-B645-B868-6764E6C96C55}" sibTransId="{3BFE78DD-D17A-8945-8AF3-6EFF2EAE96CD}"/>
    <dgm:cxn modelId="{477503C2-AB24-1C45-972F-05B5EBF2AC7C}" srcId="{A5B085FA-00DD-5F4A-A641-AFCE8150AD9B}" destId="{87915531-AACA-B749-813C-7EF955B59950}" srcOrd="0" destOrd="0" parTransId="{D36F51C4-9018-C542-BAFB-9C787B5B4BD6}" sibTransId="{0007C818-9303-AF49-9B40-B7895903741D}"/>
    <dgm:cxn modelId="{B3F93ED1-4738-E14A-8574-F233FE3724D7}" type="presOf" srcId="{A5B085FA-00DD-5F4A-A641-AFCE8150AD9B}" destId="{17C28498-62F8-FD40-94C2-EDF56F757D8C}" srcOrd="0" destOrd="0" presId="urn:microsoft.com/office/officeart/2005/8/layout/default"/>
    <dgm:cxn modelId="{70036AD4-DB3B-D040-B35C-372F09BCA2EB}" type="presOf" srcId="{B6EE9577-2F82-614B-940C-6ED52F97D6D8}" destId="{A2D9DD0C-0AB8-3B40-9A59-80F8B31F61EE}" srcOrd="0" destOrd="0" presId="urn:microsoft.com/office/officeart/2005/8/layout/default"/>
    <dgm:cxn modelId="{EAE42A83-1A40-F447-914E-713B3FC5C7EB}" type="presParOf" srcId="{17C28498-62F8-FD40-94C2-EDF56F757D8C}" destId="{4FD9D527-95D7-8E44-A564-9E78CA663A5B}" srcOrd="0" destOrd="0" presId="urn:microsoft.com/office/officeart/2005/8/layout/default"/>
    <dgm:cxn modelId="{EDDC0930-0541-2441-BA2A-F224C580FBD2}" type="presParOf" srcId="{17C28498-62F8-FD40-94C2-EDF56F757D8C}" destId="{CD3F858B-34CF-B64B-8D2D-D616A5B8CD95}" srcOrd="1" destOrd="0" presId="urn:microsoft.com/office/officeart/2005/8/layout/default"/>
    <dgm:cxn modelId="{5CEFD297-7DC4-2D4D-8726-F4F8F38CDFAF}" type="presParOf" srcId="{17C28498-62F8-FD40-94C2-EDF56F757D8C}" destId="{A2D9DD0C-0AB8-3B40-9A59-80F8B31F61EE}" srcOrd="2" destOrd="0" presId="urn:microsoft.com/office/officeart/2005/8/layout/default"/>
    <dgm:cxn modelId="{D7A99143-5EA5-B049-8A4C-B8D4A6D9F615}" type="presParOf" srcId="{17C28498-62F8-FD40-94C2-EDF56F757D8C}" destId="{B37825A7-095B-C84A-9BC7-3A197E5ACDFA}" srcOrd="3" destOrd="0" presId="urn:microsoft.com/office/officeart/2005/8/layout/default"/>
    <dgm:cxn modelId="{9461DD9A-F789-DD45-9FAC-3ECFE895A93F}" type="presParOf" srcId="{17C28498-62F8-FD40-94C2-EDF56F757D8C}" destId="{E8497E86-4333-4242-8D21-CC3C14933935}" srcOrd="4" destOrd="0" presId="urn:microsoft.com/office/officeart/2005/8/layout/default"/>
    <dgm:cxn modelId="{6C7C6413-D2F5-6B4C-82D5-5768B682AE3A}" type="presParOf" srcId="{17C28498-62F8-FD40-94C2-EDF56F757D8C}" destId="{0C5DC8EC-5F69-DF4F-8981-2ABDF152C2A6}" srcOrd="5" destOrd="0" presId="urn:microsoft.com/office/officeart/2005/8/layout/default"/>
    <dgm:cxn modelId="{EE2616EE-B872-6F48-9877-5F00825BB80A}" type="presParOf" srcId="{17C28498-62F8-FD40-94C2-EDF56F757D8C}" destId="{A7D0340F-ACF9-174D-B3E7-72971BAE0C9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B085FA-00DD-5F4A-A641-AFCE8150AD9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7915531-AACA-B749-813C-7EF955B59950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ES" sz="1600" b="1" i="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Desarrollar políticas públicas adecuadas al marco constitucional.  </a:t>
          </a:r>
        </a:p>
      </dgm:t>
    </dgm:pt>
    <dgm:pt modelId="{D36F51C4-9018-C542-BAFB-9C787B5B4BD6}" type="parTrans" cxnId="{477503C2-AB24-1C45-972F-05B5EBF2AC7C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07C818-9303-AF49-9B40-B7895903741D}" type="sibTrans" cxnId="{477503C2-AB24-1C45-972F-05B5EBF2AC7C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EE9577-2F82-614B-940C-6ED52F97D6D8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ES" sz="1600" b="1" i="0" cap="small" baseline="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  <a:t>Dar alcance y/o desarrollar las distintas dimensiones del campesinado y sus relacionamientos. </a:t>
          </a:r>
        </a:p>
      </dgm:t>
    </dgm:pt>
    <dgm:pt modelId="{DC39494E-3EAD-6546-B903-35514C1ADE67}" type="parTrans" cxnId="{19293193-38C6-FF48-8DA9-CC9FF0235CF2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4FB4C9-B126-8244-BEF9-9BCD0DA20490}" type="sibTrans" cxnId="{19293193-38C6-FF48-8DA9-CC9FF0235CF2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0FD6A3-1C22-0F42-B00D-477F2A939744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CO" sz="1600" b="1" i="0" cap="small" baseline="0" dirty="0">
              <a:solidFill>
                <a:schemeClr val="tx1"/>
              </a:solidFill>
              <a:latin typeface="+mn-lt"/>
            </a:rPr>
            <a:t>Desarrollar normativamente derechos del Campesinado.</a:t>
          </a:r>
          <a:endParaRPr lang="es-ES" sz="16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0FA8E969-24E9-B645-B868-6764E6C96C55}" type="parTrans" cxnId="{9170C7C1-1806-2F4A-B4C5-4989E064C910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FE78DD-D17A-8945-8AF3-6EFF2EAE96CD}" type="sibTrans" cxnId="{9170C7C1-1806-2F4A-B4C5-4989E064C910}">
      <dgm:prSet/>
      <dgm:spPr/>
      <dgm:t>
        <a:bodyPr/>
        <a:lstStyle/>
        <a:p>
          <a:pPr algn="ctr"/>
          <a:endParaRPr lang="es-ES" sz="105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8048EB-8E06-47DA-8877-6791EB4C8E5B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ES" sz="1600" b="1" i="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Ajustar la institucionalidad a la nueva dimensión del sujeto campesino. </a:t>
          </a:r>
        </a:p>
        <a:p>
          <a:pPr algn="just"/>
          <a:br>
            <a:rPr lang="es-E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s-ES" sz="1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5A308D-4577-4ACB-9E22-D997B497B262}" type="parTrans" cxnId="{584E9296-D4F8-4744-9397-6C5A88B74879}">
      <dgm:prSet/>
      <dgm:spPr/>
      <dgm:t>
        <a:bodyPr/>
        <a:lstStyle/>
        <a:p>
          <a:endParaRPr lang="es-CO"/>
        </a:p>
      </dgm:t>
    </dgm:pt>
    <dgm:pt modelId="{D89AD31C-9BFC-44B9-8CBD-A73FFD022703}" type="sibTrans" cxnId="{584E9296-D4F8-4744-9397-6C5A88B74879}">
      <dgm:prSet/>
      <dgm:spPr/>
      <dgm:t>
        <a:bodyPr/>
        <a:lstStyle/>
        <a:p>
          <a:endParaRPr lang="es-CO"/>
        </a:p>
      </dgm:t>
    </dgm:pt>
    <dgm:pt modelId="{CA7367F1-DC38-41A8-9CE3-E0001F8A848D}">
      <dgm:prSet custT="1"/>
      <dgm:spPr>
        <a:solidFill>
          <a:schemeClr val="bg1"/>
        </a:solidFill>
        <a:ln>
          <a:solidFill>
            <a:srgbClr val="C00000"/>
          </a:solidFill>
        </a:ln>
      </dgm:spPr>
      <dgm:t>
        <a:bodyPr/>
        <a:lstStyle/>
        <a:p>
          <a:pPr algn="ctr"/>
          <a:r>
            <a:rPr lang="es-ES" sz="1600" b="1" i="0" cap="small" baseline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Fortalecer los procesos organizativos del campesinado y sus instancias de participación.  </a:t>
          </a:r>
          <a:endParaRPr lang="es-ES" sz="16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gm:t>
    </dgm:pt>
    <dgm:pt modelId="{04F10453-2E35-4C64-BB92-E547B2406E67}" type="parTrans" cxnId="{3C343655-D1D7-4200-8421-F47FD6ADAEFB}">
      <dgm:prSet/>
      <dgm:spPr/>
      <dgm:t>
        <a:bodyPr/>
        <a:lstStyle/>
        <a:p>
          <a:endParaRPr lang="es-CO"/>
        </a:p>
      </dgm:t>
    </dgm:pt>
    <dgm:pt modelId="{7A5825D3-FC3D-4422-8123-1DEF0D9E8D67}" type="sibTrans" cxnId="{3C343655-D1D7-4200-8421-F47FD6ADAEFB}">
      <dgm:prSet/>
      <dgm:spPr/>
      <dgm:t>
        <a:bodyPr/>
        <a:lstStyle/>
        <a:p>
          <a:endParaRPr lang="es-CO"/>
        </a:p>
      </dgm:t>
    </dgm:pt>
    <dgm:pt modelId="{17C28498-62F8-FD40-94C2-EDF56F757D8C}" type="pres">
      <dgm:prSet presAssocID="{A5B085FA-00DD-5F4A-A641-AFCE8150AD9B}" presName="diagram" presStyleCnt="0">
        <dgm:presLayoutVars>
          <dgm:dir/>
          <dgm:resizeHandles val="exact"/>
        </dgm:presLayoutVars>
      </dgm:prSet>
      <dgm:spPr/>
    </dgm:pt>
    <dgm:pt modelId="{4FD9D527-95D7-8E44-A564-9E78CA663A5B}" type="pres">
      <dgm:prSet presAssocID="{87915531-AACA-B749-813C-7EF955B59950}" presName="node" presStyleLbl="node1" presStyleIdx="0" presStyleCnt="5">
        <dgm:presLayoutVars>
          <dgm:bulletEnabled val="1"/>
        </dgm:presLayoutVars>
      </dgm:prSet>
      <dgm:spPr/>
    </dgm:pt>
    <dgm:pt modelId="{CD3F858B-34CF-B64B-8D2D-D616A5B8CD95}" type="pres">
      <dgm:prSet presAssocID="{0007C818-9303-AF49-9B40-B7895903741D}" presName="sibTrans" presStyleCnt="0"/>
      <dgm:spPr/>
    </dgm:pt>
    <dgm:pt modelId="{A2D9DD0C-0AB8-3B40-9A59-80F8B31F61EE}" type="pres">
      <dgm:prSet presAssocID="{B6EE9577-2F82-614B-940C-6ED52F97D6D8}" presName="node" presStyleLbl="node1" presStyleIdx="1" presStyleCnt="5" custLinFactNeighborX="3459" custLinFactNeighborY="-79562">
        <dgm:presLayoutVars>
          <dgm:bulletEnabled val="1"/>
        </dgm:presLayoutVars>
      </dgm:prSet>
      <dgm:spPr/>
    </dgm:pt>
    <dgm:pt modelId="{B37825A7-095B-C84A-9BC7-3A197E5ACDFA}" type="pres">
      <dgm:prSet presAssocID="{784FB4C9-B126-8244-BEF9-9BCD0DA20490}" presName="sibTrans" presStyleCnt="0"/>
      <dgm:spPr/>
    </dgm:pt>
    <dgm:pt modelId="{E8497E86-4333-4242-8D21-CC3C14933935}" type="pres">
      <dgm:prSet presAssocID="{890FD6A3-1C22-0F42-B00D-477F2A939744}" presName="node" presStyleLbl="node1" presStyleIdx="2" presStyleCnt="5">
        <dgm:presLayoutVars>
          <dgm:bulletEnabled val="1"/>
        </dgm:presLayoutVars>
      </dgm:prSet>
      <dgm:spPr/>
    </dgm:pt>
    <dgm:pt modelId="{0C5DC8EC-5F69-DF4F-8981-2ABDF152C2A6}" type="pres">
      <dgm:prSet presAssocID="{3BFE78DD-D17A-8945-8AF3-6EFF2EAE96CD}" presName="sibTrans" presStyleCnt="0"/>
      <dgm:spPr/>
    </dgm:pt>
    <dgm:pt modelId="{42139D52-DEFA-4ED2-8A6A-76B54D9306E7}" type="pres">
      <dgm:prSet presAssocID="{CA7367F1-DC38-41A8-9CE3-E0001F8A848D}" presName="node" presStyleLbl="node1" presStyleIdx="3" presStyleCnt="5" custLinFactX="14015" custLinFactNeighborX="100000" custLinFactNeighborY="-3851">
        <dgm:presLayoutVars>
          <dgm:bulletEnabled val="1"/>
        </dgm:presLayoutVars>
      </dgm:prSet>
      <dgm:spPr/>
    </dgm:pt>
    <dgm:pt modelId="{C925F23D-109B-4A32-AC47-A7308FD4BA7A}" type="pres">
      <dgm:prSet presAssocID="{7A5825D3-FC3D-4422-8123-1DEF0D9E8D67}" presName="sibTrans" presStyleCnt="0"/>
      <dgm:spPr/>
    </dgm:pt>
    <dgm:pt modelId="{1B4A722A-A91F-4C7E-BD98-1C32DE8A718A}" type="pres">
      <dgm:prSet presAssocID="{B98048EB-8E06-47DA-8877-6791EB4C8E5B}" presName="node" presStyleLbl="node1" presStyleIdx="4" presStyleCnt="5" custLinFactX="-32731" custLinFactNeighborX="-100000" custLinFactNeighborY="-3851">
        <dgm:presLayoutVars>
          <dgm:bulletEnabled val="1"/>
        </dgm:presLayoutVars>
      </dgm:prSet>
      <dgm:spPr/>
    </dgm:pt>
  </dgm:ptLst>
  <dgm:cxnLst>
    <dgm:cxn modelId="{E308B72C-8CDF-4243-B2E0-21E39E8374D8}" type="presOf" srcId="{890FD6A3-1C22-0F42-B00D-477F2A939744}" destId="{E8497E86-4333-4242-8D21-CC3C14933935}" srcOrd="0" destOrd="0" presId="urn:microsoft.com/office/officeart/2005/8/layout/default"/>
    <dgm:cxn modelId="{C41D855E-EB85-4AF4-87E7-FA1DA3DE08EE}" type="presOf" srcId="{CA7367F1-DC38-41A8-9CE3-E0001F8A848D}" destId="{42139D52-DEFA-4ED2-8A6A-76B54D9306E7}" srcOrd="0" destOrd="0" presId="urn:microsoft.com/office/officeart/2005/8/layout/default"/>
    <dgm:cxn modelId="{3C343655-D1D7-4200-8421-F47FD6ADAEFB}" srcId="{A5B085FA-00DD-5F4A-A641-AFCE8150AD9B}" destId="{CA7367F1-DC38-41A8-9CE3-E0001F8A848D}" srcOrd="3" destOrd="0" parTransId="{04F10453-2E35-4C64-BB92-E547B2406E67}" sibTransId="{7A5825D3-FC3D-4422-8123-1DEF0D9E8D67}"/>
    <dgm:cxn modelId="{19293193-38C6-FF48-8DA9-CC9FF0235CF2}" srcId="{A5B085FA-00DD-5F4A-A641-AFCE8150AD9B}" destId="{B6EE9577-2F82-614B-940C-6ED52F97D6D8}" srcOrd="1" destOrd="0" parTransId="{DC39494E-3EAD-6546-B903-35514C1ADE67}" sibTransId="{784FB4C9-B126-8244-BEF9-9BCD0DA20490}"/>
    <dgm:cxn modelId="{584E9296-D4F8-4744-9397-6C5A88B74879}" srcId="{A5B085FA-00DD-5F4A-A641-AFCE8150AD9B}" destId="{B98048EB-8E06-47DA-8877-6791EB4C8E5B}" srcOrd="4" destOrd="0" parTransId="{F65A308D-4577-4ACB-9E22-D997B497B262}" sibTransId="{D89AD31C-9BFC-44B9-8CBD-A73FFD022703}"/>
    <dgm:cxn modelId="{743C81A2-2178-984F-AA3A-C627FD7E8D5F}" type="presOf" srcId="{87915531-AACA-B749-813C-7EF955B59950}" destId="{4FD9D527-95D7-8E44-A564-9E78CA663A5B}" srcOrd="0" destOrd="0" presId="urn:microsoft.com/office/officeart/2005/8/layout/default"/>
    <dgm:cxn modelId="{32B39AA5-12A8-44A5-B17F-6678389F4E2E}" type="presOf" srcId="{B98048EB-8E06-47DA-8877-6791EB4C8E5B}" destId="{1B4A722A-A91F-4C7E-BD98-1C32DE8A718A}" srcOrd="0" destOrd="0" presId="urn:microsoft.com/office/officeart/2005/8/layout/default"/>
    <dgm:cxn modelId="{9170C7C1-1806-2F4A-B4C5-4989E064C910}" srcId="{A5B085FA-00DD-5F4A-A641-AFCE8150AD9B}" destId="{890FD6A3-1C22-0F42-B00D-477F2A939744}" srcOrd="2" destOrd="0" parTransId="{0FA8E969-24E9-B645-B868-6764E6C96C55}" sibTransId="{3BFE78DD-D17A-8945-8AF3-6EFF2EAE96CD}"/>
    <dgm:cxn modelId="{477503C2-AB24-1C45-972F-05B5EBF2AC7C}" srcId="{A5B085FA-00DD-5F4A-A641-AFCE8150AD9B}" destId="{87915531-AACA-B749-813C-7EF955B59950}" srcOrd="0" destOrd="0" parTransId="{D36F51C4-9018-C542-BAFB-9C787B5B4BD6}" sibTransId="{0007C818-9303-AF49-9B40-B7895903741D}"/>
    <dgm:cxn modelId="{B3F93ED1-4738-E14A-8574-F233FE3724D7}" type="presOf" srcId="{A5B085FA-00DD-5F4A-A641-AFCE8150AD9B}" destId="{17C28498-62F8-FD40-94C2-EDF56F757D8C}" srcOrd="0" destOrd="0" presId="urn:microsoft.com/office/officeart/2005/8/layout/default"/>
    <dgm:cxn modelId="{70036AD4-DB3B-D040-B35C-372F09BCA2EB}" type="presOf" srcId="{B6EE9577-2F82-614B-940C-6ED52F97D6D8}" destId="{A2D9DD0C-0AB8-3B40-9A59-80F8B31F61EE}" srcOrd="0" destOrd="0" presId="urn:microsoft.com/office/officeart/2005/8/layout/default"/>
    <dgm:cxn modelId="{EAE42A83-1A40-F447-914E-713B3FC5C7EB}" type="presParOf" srcId="{17C28498-62F8-FD40-94C2-EDF56F757D8C}" destId="{4FD9D527-95D7-8E44-A564-9E78CA663A5B}" srcOrd="0" destOrd="0" presId="urn:microsoft.com/office/officeart/2005/8/layout/default"/>
    <dgm:cxn modelId="{EDDC0930-0541-2441-BA2A-F224C580FBD2}" type="presParOf" srcId="{17C28498-62F8-FD40-94C2-EDF56F757D8C}" destId="{CD3F858B-34CF-B64B-8D2D-D616A5B8CD95}" srcOrd="1" destOrd="0" presId="urn:microsoft.com/office/officeart/2005/8/layout/default"/>
    <dgm:cxn modelId="{5CEFD297-7DC4-2D4D-8726-F4F8F38CDFAF}" type="presParOf" srcId="{17C28498-62F8-FD40-94C2-EDF56F757D8C}" destId="{A2D9DD0C-0AB8-3B40-9A59-80F8B31F61EE}" srcOrd="2" destOrd="0" presId="urn:microsoft.com/office/officeart/2005/8/layout/default"/>
    <dgm:cxn modelId="{D7A99143-5EA5-B049-8A4C-B8D4A6D9F615}" type="presParOf" srcId="{17C28498-62F8-FD40-94C2-EDF56F757D8C}" destId="{B37825A7-095B-C84A-9BC7-3A197E5ACDFA}" srcOrd="3" destOrd="0" presId="urn:microsoft.com/office/officeart/2005/8/layout/default"/>
    <dgm:cxn modelId="{9461DD9A-F789-DD45-9FAC-3ECFE895A93F}" type="presParOf" srcId="{17C28498-62F8-FD40-94C2-EDF56F757D8C}" destId="{E8497E86-4333-4242-8D21-CC3C14933935}" srcOrd="4" destOrd="0" presId="urn:microsoft.com/office/officeart/2005/8/layout/default"/>
    <dgm:cxn modelId="{6C7C6413-D2F5-6B4C-82D5-5768B682AE3A}" type="presParOf" srcId="{17C28498-62F8-FD40-94C2-EDF56F757D8C}" destId="{0C5DC8EC-5F69-DF4F-8981-2ABDF152C2A6}" srcOrd="5" destOrd="0" presId="urn:microsoft.com/office/officeart/2005/8/layout/default"/>
    <dgm:cxn modelId="{8D165EF3-D511-4159-9E9C-B69D6FA12A9D}" type="presParOf" srcId="{17C28498-62F8-FD40-94C2-EDF56F757D8C}" destId="{42139D52-DEFA-4ED2-8A6A-76B54D9306E7}" srcOrd="6" destOrd="0" presId="urn:microsoft.com/office/officeart/2005/8/layout/default"/>
    <dgm:cxn modelId="{08D95A2E-66E1-4077-826F-278F1FA920F6}" type="presParOf" srcId="{17C28498-62F8-FD40-94C2-EDF56F757D8C}" destId="{C925F23D-109B-4A32-AC47-A7308FD4BA7A}" srcOrd="7" destOrd="0" presId="urn:microsoft.com/office/officeart/2005/8/layout/default"/>
    <dgm:cxn modelId="{E01FF556-8690-494A-AFEE-435A6F01EB00}" type="presParOf" srcId="{17C28498-62F8-FD40-94C2-EDF56F757D8C}" destId="{1B4A722A-A91F-4C7E-BD98-1C32DE8A718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84F9EA-23B5-45E1-9CAC-C2E6FFE3BBBD}">
      <dsp:nvSpPr>
        <dsp:cNvPr id="0" name=""/>
        <dsp:cNvSpPr/>
      </dsp:nvSpPr>
      <dsp:spPr>
        <a:xfrm>
          <a:off x="2493489" y="0"/>
          <a:ext cx="2008291" cy="596186"/>
        </a:xfrm>
        <a:prstGeom prst="roundRect">
          <a:avLst/>
        </a:prstGeom>
        <a:solidFill>
          <a:schemeClr val="bg1"/>
        </a:solidFill>
        <a:ln w="19050">
          <a:solidFill>
            <a:srgbClr val="D23C46"/>
          </a:solidFill>
          <a:prstDash val="lgDashDot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rPr>
            <a:t>Protege derechos vitales </a:t>
          </a:r>
          <a:endParaRPr lang="es-CO" sz="1500" b="0" kern="1200" dirty="0">
            <a:solidFill>
              <a:schemeClr val="tx1">
                <a:lumMod val="50000"/>
                <a:lumOff val="50000"/>
              </a:schemeClr>
            </a:solidFill>
            <a:latin typeface="+mj-lt"/>
          </a:endParaRPr>
        </a:p>
      </dsp:txBody>
      <dsp:txXfrm>
        <a:off x="2522592" y="29103"/>
        <a:ext cx="1950085" cy="537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F3E66-471B-46D3-91AD-6AC2827D1F29}">
      <dsp:nvSpPr>
        <dsp:cNvPr id="0" name=""/>
        <dsp:cNvSpPr/>
      </dsp:nvSpPr>
      <dsp:spPr>
        <a:xfrm>
          <a:off x="2397492" y="0"/>
          <a:ext cx="1955256" cy="596186"/>
        </a:xfrm>
        <a:prstGeom prst="roundRect">
          <a:avLst/>
        </a:prstGeom>
        <a:solidFill>
          <a:schemeClr val="bg1"/>
        </a:solidFill>
        <a:ln w="19050">
          <a:solidFill>
            <a:srgbClr val="D23C46"/>
          </a:solidFill>
          <a:prstDash val="lgDashDot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rPr>
            <a:t>Protege derechos novedosos </a:t>
          </a:r>
          <a:endParaRPr lang="es-CO" sz="1500" b="0" kern="1200" dirty="0">
            <a:solidFill>
              <a:schemeClr val="tx1">
                <a:lumMod val="50000"/>
                <a:lumOff val="50000"/>
              </a:schemeClr>
            </a:solidFill>
            <a:latin typeface="+mj-lt"/>
          </a:endParaRPr>
        </a:p>
      </dsp:txBody>
      <dsp:txXfrm>
        <a:off x="2426595" y="29103"/>
        <a:ext cx="1897050" cy="5379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50FB2-180C-4537-A0C7-E2BE464DAAA2}">
      <dsp:nvSpPr>
        <dsp:cNvPr id="0" name=""/>
        <dsp:cNvSpPr/>
      </dsp:nvSpPr>
      <dsp:spPr>
        <a:xfrm>
          <a:off x="1289" y="501070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3: Igualdad y no discriminación</a:t>
          </a:r>
          <a:endParaRPr lang="es-CO" sz="1000" kern="1200" dirty="0"/>
        </a:p>
      </dsp:txBody>
      <dsp:txXfrm>
        <a:off x="1289" y="501070"/>
        <a:ext cx="1625203" cy="975121"/>
      </dsp:txXfrm>
    </dsp:sp>
    <dsp:sp modelId="{DF561E9F-A42C-4B0B-AFA8-37CC612F9B47}">
      <dsp:nvSpPr>
        <dsp:cNvPr id="0" name=""/>
        <dsp:cNvSpPr/>
      </dsp:nvSpPr>
      <dsp:spPr>
        <a:xfrm>
          <a:off x="1789013" y="501070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4: </a:t>
          </a:r>
          <a:r>
            <a:rPr lang="es-ES" sz="1000" kern="1200" dirty="0"/>
            <a:t>Acceso a oportunidades de mejora socioeconómica con igualdad para hombres y mujeres</a:t>
          </a:r>
          <a:endParaRPr lang="es-CO" sz="1000" kern="1200" dirty="0"/>
        </a:p>
      </dsp:txBody>
      <dsp:txXfrm>
        <a:off x="1789013" y="501070"/>
        <a:ext cx="1625203" cy="975121"/>
      </dsp:txXfrm>
    </dsp:sp>
    <dsp:sp modelId="{DF094342-D8E4-4880-A13D-716F31F2B713}">
      <dsp:nvSpPr>
        <dsp:cNvPr id="0" name=""/>
        <dsp:cNvSpPr/>
      </dsp:nvSpPr>
      <dsp:spPr>
        <a:xfrm>
          <a:off x="3576736" y="501070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5: </a:t>
          </a:r>
          <a:r>
            <a:rPr lang="es-ES" sz="1000" kern="1200" dirty="0"/>
            <a:t>Derecho a explotar de manera sostenible los recursos naturales de la región</a:t>
          </a:r>
          <a:endParaRPr lang="es-CO" sz="1000" kern="1200" dirty="0"/>
        </a:p>
      </dsp:txBody>
      <dsp:txXfrm>
        <a:off x="3576736" y="501070"/>
        <a:ext cx="1625203" cy="975121"/>
      </dsp:txXfrm>
    </dsp:sp>
    <dsp:sp modelId="{E58600A6-A89D-4BE3-B491-1058FF7329F5}">
      <dsp:nvSpPr>
        <dsp:cNvPr id="0" name=""/>
        <dsp:cNvSpPr/>
      </dsp:nvSpPr>
      <dsp:spPr>
        <a:xfrm>
          <a:off x="5364460" y="501070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6: </a:t>
          </a:r>
          <a:r>
            <a:rPr lang="es-ES" sz="1000" kern="1200" dirty="0"/>
            <a:t>Derecho a la vida en condiciones dignas y en libertad </a:t>
          </a:r>
          <a:endParaRPr lang="es-CO" sz="1000" kern="1200" dirty="0"/>
        </a:p>
      </dsp:txBody>
      <dsp:txXfrm>
        <a:off x="5364460" y="501070"/>
        <a:ext cx="1625203" cy="975121"/>
      </dsp:txXfrm>
    </dsp:sp>
    <dsp:sp modelId="{354CD89F-F043-479F-8C0E-203FA9EDC2C0}">
      <dsp:nvSpPr>
        <dsp:cNvPr id="0" name=""/>
        <dsp:cNvSpPr/>
      </dsp:nvSpPr>
      <dsp:spPr>
        <a:xfrm>
          <a:off x="7152183" y="501070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7: Libertad de circulación</a:t>
          </a:r>
          <a:endParaRPr lang="es-CO" sz="1000" kern="1200" dirty="0"/>
        </a:p>
      </dsp:txBody>
      <dsp:txXfrm>
        <a:off x="7152183" y="501070"/>
        <a:ext cx="1625203" cy="975121"/>
      </dsp:txXfrm>
    </dsp:sp>
    <dsp:sp modelId="{D0744EBB-B351-4B60-9032-1A040CC34316}">
      <dsp:nvSpPr>
        <dsp:cNvPr id="0" name=""/>
        <dsp:cNvSpPr/>
      </dsp:nvSpPr>
      <dsp:spPr>
        <a:xfrm>
          <a:off x="8939907" y="501070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Artículo 8.Derecho al libre pensamiento y el derecho al buen nombre</a:t>
          </a:r>
          <a:endParaRPr lang="es-CO" sz="1000" kern="1200" dirty="0"/>
        </a:p>
      </dsp:txBody>
      <dsp:txXfrm>
        <a:off x="8939907" y="501070"/>
        <a:ext cx="1625203" cy="975121"/>
      </dsp:txXfrm>
    </dsp:sp>
    <dsp:sp modelId="{EB9C9FFC-0536-4965-BBA5-3093906BB41D}">
      <dsp:nvSpPr>
        <dsp:cNvPr id="0" name=""/>
        <dsp:cNvSpPr/>
      </dsp:nvSpPr>
      <dsp:spPr>
        <a:xfrm>
          <a:off x="1289" y="1638712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9: Libertad de asociación</a:t>
          </a:r>
          <a:endParaRPr lang="es-CO" sz="1000" kern="1200" dirty="0"/>
        </a:p>
      </dsp:txBody>
      <dsp:txXfrm>
        <a:off x="1289" y="1638712"/>
        <a:ext cx="1625203" cy="975121"/>
      </dsp:txXfrm>
    </dsp:sp>
    <dsp:sp modelId="{345EF754-CBEB-4100-B991-8A0F247B8328}">
      <dsp:nvSpPr>
        <dsp:cNvPr id="0" name=""/>
        <dsp:cNvSpPr/>
      </dsp:nvSpPr>
      <dsp:spPr>
        <a:xfrm>
          <a:off x="1789013" y="1638712"/>
          <a:ext cx="1625203" cy="975121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Artículo 10: Derecho a participar en la toma de decisiones </a:t>
          </a:r>
        </a:p>
      </dsp:txBody>
      <dsp:txXfrm>
        <a:off x="1789013" y="1638712"/>
        <a:ext cx="1625203" cy="975121"/>
      </dsp:txXfrm>
    </dsp:sp>
    <dsp:sp modelId="{644D30EB-54EB-43D4-9CA5-AE74F66BF704}">
      <dsp:nvSpPr>
        <dsp:cNvPr id="0" name=""/>
        <dsp:cNvSpPr/>
      </dsp:nvSpPr>
      <dsp:spPr>
        <a:xfrm>
          <a:off x="3576736" y="1638712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11: Derecho a la información</a:t>
          </a:r>
          <a:endParaRPr lang="es-CO" sz="1000" kern="1200" dirty="0"/>
        </a:p>
      </dsp:txBody>
      <dsp:txXfrm>
        <a:off x="3576736" y="1638712"/>
        <a:ext cx="1625203" cy="975121"/>
      </dsp:txXfrm>
    </dsp:sp>
    <dsp:sp modelId="{31A056F6-AD4E-4C73-AEE7-F9CC51B2B92F}">
      <dsp:nvSpPr>
        <dsp:cNvPr id="0" name=""/>
        <dsp:cNvSpPr/>
      </dsp:nvSpPr>
      <dsp:spPr>
        <a:xfrm>
          <a:off x="5364460" y="1638712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Artículo 12. Derecho a la asistencia jurídica</a:t>
          </a:r>
          <a:endParaRPr lang="es-CO" sz="1000" kern="1200" dirty="0"/>
        </a:p>
      </dsp:txBody>
      <dsp:txXfrm>
        <a:off x="5364460" y="1638712"/>
        <a:ext cx="1625203" cy="975121"/>
      </dsp:txXfrm>
    </dsp:sp>
    <dsp:sp modelId="{59AE6384-D50A-4013-9AD6-45E9F2FB1A6A}">
      <dsp:nvSpPr>
        <dsp:cNvPr id="0" name=""/>
        <dsp:cNvSpPr/>
      </dsp:nvSpPr>
      <dsp:spPr>
        <a:xfrm>
          <a:off x="7152183" y="1638712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13: </a:t>
          </a:r>
          <a:r>
            <a:rPr lang="es-ES" sz="1000" kern="1200" dirty="0"/>
            <a:t>Derecho a un trabajo digno</a:t>
          </a:r>
          <a:endParaRPr lang="es-CO" sz="1000" kern="1200" dirty="0"/>
        </a:p>
      </dsp:txBody>
      <dsp:txXfrm>
        <a:off x="7152183" y="1638712"/>
        <a:ext cx="1625203" cy="975121"/>
      </dsp:txXfrm>
    </dsp:sp>
    <dsp:sp modelId="{477FCECE-4F41-4D2F-BC6F-726AAB1BDA19}">
      <dsp:nvSpPr>
        <dsp:cNvPr id="0" name=""/>
        <dsp:cNvSpPr/>
      </dsp:nvSpPr>
      <dsp:spPr>
        <a:xfrm>
          <a:off x="8939907" y="1638712"/>
          <a:ext cx="1625203" cy="975121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14: </a:t>
          </a:r>
          <a:r>
            <a:rPr lang="es-ES" sz="1000" kern="1200" dirty="0"/>
            <a:t>Trabajadores del campo con derecho a seguridad y salud en el trabajo. Bioseguridad y cumplimiento de la norma</a:t>
          </a:r>
          <a:endParaRPr lang="es-CO" sz="1000" kern="1200" dirty="0"/>
        </a:p>
      </dsp:txBody>
      <dsp:txXfrm>
        <a:off x="8939907" y="1638712"/>
        <a:ext cx="1625203" cy="975121"/>
      </dsp:txXfrm>
    </dsp:sp>
    <dsp:sp modelId="{E496F3FE-E6FD-4201-BD11-160C1ECA5F11}">
      <dsp:nvSpPr>
        <dsp:cNvPr id="0" name=""/>
        <dsp:cNvSpPr/>
      </dsp:nvSpPr>
      <dsp:spPr>
        <a:xfrm>
          <a:off x="1289" y="2776354"/>
          <a:ext cx="1625203" cy="975121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15: Derecho a la alimentación y la soberanía alimentaria</a:t>
          </a:r>
          <a:endParaRPr lang="es-CO" sz="1000" kern="1200" dirty="0"/>
        </a:p>
      </dsp:txBody>
      <dsp:txXfrm>
        <a:off x="1289" y="2776354"/>
        <a:ext cx="1625203" cy="975121"/>
      </dsp:txXfrm>
    </dsp:sp>
    <dsp:sp modelId="{70E7AFD0-E30D-4077-B908-BA646D3CE525}">
      <dsp:nvSpPr>
        <dsp:cNvPr id="0" name=""/>
        <dsp:cNvSpPr/>
      </dsp:nvSpPr>
      <dsp:spPr>
        <a:xfrm>
          <a:off x="1789013" y="2776354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16: Derecho a un ingreso y subsistencia           digna y a los medios de producción</a:t>
          </a:r>
          <a:endParaRPr lang="es-CO" sz="1000" kern="1200" dirty="0"/>
        </a:p>
      </dsp:txBody>
      <dsp:txXfrm>
        <a:off x="1789013" y="2776354"/>
        <a:ext cx="1625203" cy="975121"/>
      </dsp:txXfrm>
    </dsp:sp>
    <dsp:sp modelId="{DEC3FA81-6994-4A88-8E36-FA0CC7450051}">
      <dsp:nvSpPr>
        <dsp:cNvPr id="0" name=""/>
        <dsp:cNvSpPr/>
      </dsp:nvSpPr>
      <dsp:spPr>
        <a:xfrm>
          <a:off x="3576736" y="2776354"/>
          <a:ext cx="1625203" cy="975121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17: Derecho a la tierra</a:t>
          </a:r>
          <a:endParaRPr lang="es-CO" sz="1000" kern="1200" dirty="0"/>
        </a:p>
      </dsp:txBody>
      <dsp:txXfrm>
        <a:off x="3576736" y="2776354"/>
        <a:ext cx="1625203" cy="975121"/>
      </dsp:txXfrm>
    </dsp:sp>
    <dsp:sp modelId="{6985AEDE-DBAD-4F96-BA67-9F8ABC51927D}">
      <dsp:nvSpPr>
        <dsp:cNvPr id="0" name=""/>
        <dsp:cNvSpPr/>
      </dsp:nvSpPr>
      <dsp:spPr>
        <a:xfrm>
          <a:off x="5364460" y="2776354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18: Derecho a un ambiente limpio, seguro y          saludable para utilizar y administrar</a:t>
          </a:r>
          <a:endParaRPr lang="es-CO" sz="1000" kern="1200" dirty="0"/>
        </a:p>
      </dsp:txBody>
      <dsp:txXfrm>
        <a:off x="5364460" y="2776354"/>
        <a:ext cx="1625203" cy="975121"/>
      </dsp:txXfrm>
    </dsp:sp>
    <dsp:sp modelId="{A96135A3-AE14-44AD-A2B1-F30E843DF3FE}">
      <dsp:nvSpPr>
        <dsp:cNvPr id="0" name=""/>
        <dsp:cNvSpPr/>
      </dsp:nvSpPr>
      <dsp:spPr>
        <a:xfrm>
          <a:off x="7152183" y="2776354"/>
          <a:ext cx="1625203" cy="975121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19: Derecho a las semillas</a:t>
          </a:r>
          <a:endParaRPr lang="es-CO" sz="1000" kern="1200" dirty="0"/>
        </a:p>
      </dsp:txBody>
      <dsp:txXfrm>
        <a:off x="7152183" y="2776354"/>
        <a:ext cx="1625203" cy="975121"/>
      </dsp:txXfrm>
    </dsp:sp>
    <dsp:sp modelId="{16CCC8E9-EE3A-4888-8EB5-6B0FC05C0CD8}">
      <dsp:nvSpPr>
        <dsp:cNvPr id="0" name=""/>
        <dsp:cNvSpPr/>
      </dsp:nvSpPr>
      <dsp:spPr>
        <a:xfrm>
          <a:off x="8939907" y="2776354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20: Derecho a la diversidad biológica</a:t>
          </a:r>
          <a:endParaRPr lang="es-CO" sz="1000" kern="1200" dirty="0"/>
        </a:p>
      </dsp:txBody>
      <dsp:txXfrm>
        <a:off x="8939907" y="2776354"/>
        <a:ext cx="1625203" cy="975121"/>
      </dsp:txXfrm>
    </dsp:sp>
    <dsp:sp modelId="{5D4EA37D-8F0A-4D8D-AB0F-B05539163658}">
      <dsp:nvSpPr>
        <dsp:cNvPr id="0" name=""/>
        <dsp:cNvSpPr/>
      </dsp:nvSpPr>
      <dsp:spPr>
        <a:xfrm>
          <a:off x="1289" y="3913996"/>
          <a:ext cx="1625203" cy="975121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21: Derecho a sistemas de agua potable</a:t>
          </a:r>
          <a:endParaRPr lang="es-CO" sz="1000" kern="1200" dirty="0"/>
        </a:p>
      </dsp:txBody>
      <dsp:txXfrm>
        <a:off x="1289" y="3913996"/>
        <a:ext cx="1625203" cy="975121"/>
      </dsp:txXfrm>
    </dsp:sp>
    <dsp:sp modelId="{67538876-427B-4772-B715-05594EB13B3B}">
      <dsp:nvSpPr>
        <dsp:cNvPr id="0" name=""/>
        <dsp:cNvSpPr/>
      </dsp:nvSpPr>
      <dsp:spPr>
        <a:xfrm>
          <a:off x="1789013" y="3913996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22: Derecho a la seguridad social</a:t>
          </a:r>
          <a:endParaRPr lang="es-CO" sz="1000" kern="1200" dirty="0"/>
        </a:p>
      </dsp:txBody>
      <dsp:txXfrm>
        <a:off x="1789013" y="3913996"/>
        <a:ext cx="1625203" cy="975121"/>
      </dsp:txXfrm>
    </dsp:sp>
    <dsp:sp modelId="{7231DD22-31C8-4C92-9AAE-6909601B9928}">
      <dsp:nvSpPr>
        <dsp:cNvPr id="0" name=""/>
        <dsp:cNvSpPr/>
      </dsp:nvSpPr>
      <dsp:spPr>
        <a:xfrm>
          <a:off x="3576736" y="3913996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23: Derecho a la salud física y mental </a:t>
          </a:r>
          <a:r>
            <a:rPr lang="es-ES" sz="1000" kern="1200" dirty="0"/>
            <a:t>y a los servicios médicos</a:t>
          </a:r>
          <a:endParaRPr lang="es-CO" sz="1000" kern="1200" dirty="0"/>
        </a:p>
      </dsp:txBody>
      <dsp:txXfrm>
        <a:off x="3576736" y="3913996"/>
        <a:ext cx="1625203" cy="975121"/>
      </dsp:txXfrm>
    </dsp:sp>
    <dsp:sp modelId="{8B6E371C-8A80-429D-B0BD-B350595A9CB1}">
      <dsp:nvSpPr>
        <dsp:cNvPr id="0" name=""/>
        <dsp:cNvSpPr/>
      </dsp:nvSpPr>
      <dsp:spPr>
        <a:xfrm>
          <a:off x="5364460" y="3913996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24: Derecho a la vivienda y a no ser desalojado </a:t>
          </a:r>
          <a:endParaRPr lang="es-CO" sz="1000" kern="1200" dirty="0"/>
        </a:p>
      </dsp:txBody>
      <dsp:txXfrm>
        <a:off x="5364460" y="3913996"/>
        <a:ext cx="1625203" cy="975121"/>
      </dsp:txXfrm>
    </dsp:sp>
    <dsp:sp modelId="{52BA2773-BFD1-4F66-8F31-5C48902B76D5}">
      <dsp:nvSpPr>
        <dsp:cNvPr id="0" name=""/>
        <dsp:cNvSpPr/>
      </dsp:nvSpPr>
      <dsp:spPr>
        <a:xfrm>
          <a:off x="7152183" y="3913996"/>
          <a:ext cx="1625203" cy="9751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25: </a:t>
          </a:r>
          <a:r>
            <a:rPr lang="es-ES" sz="1000" kern="1200" dirty="0"/>
            <a:t>Derecho a una formación educativa acorde al sector</a:t>
          </a:r>
          <a:endParaRPr lang="es-CO" sz="1000" kern="1200" dirty="0"/>
        </a:p>
      </dsp:txBody>
      <dsp:txXfrm>
        <a:off x="7152183" y="3913996"/>
        <a:ext cx="1625203" cy="975121"/>
      </dsp:txXfrm>
    </dsp:sp>
    <dsp:sp modelId="{EAA3476C-149C-465E-9E92-A8522F11BE00}">
      <dsp:nvSpPr>
        <dsp:cNvPr id="0" name=""/>
        <dsp:cNvSpPr/>
      </dsp:nvSpPr>
      <dsp:spPr>
        <a:xfrm>
          <a:off x="8939907" y="3913996"/>
          <a:ext cx="1625203" cy="975121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Artículo 26: Derechos culturales y saberes tradicionales</a:t>
          </a:r>
          <a:endParaRPr lang="es-CO" sz="1000" kern="1200" dirty="0"/>
        </a:p>
      </dsp:txBody>
      <dsp:txXfrm>
        <a:off x="8939907" y="3913996"/>
        <a:ext cx="1625203" cy="9751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9D527-95D7-8E44-A564-9E78CA663A5B}">
      <dsp:nvSpPr>
        <dsp:cNvPr id="0" name=""/>
        <dsp:cNvSpPr/>
      </dsp:nvSpPr>
      <dsp:spPr>
        <a:xfrm>
          <a:off x="968102" y="2399"/>
          <a:ext cx="3395996" cy="2037598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Déficit de Representación. 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 dirty="0">
              <a:solidFill>
                <a:schemeClr val="tx1"/>
              </a:solidFill>
              <a:latin typeface="+mn-lt"/>
            </a:rPr>
            <a:t>La Constitución de 1991 representó un avance para la mayoría de las poblaciones, pero no para el campesinado, que no tuvo representación específica y reconocimiento. </a:t>
          </a:r>
          <a:endParaRPr lang="es-ES" sz="1600" b="0" kern="12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sp:txBody>
      <dsp:txXfrm>
        <a:off x="968102" y="2399"/>
        <a:ext cx="3395996" cy="2037598"/>
      </dsp:txXfrm>
    </dsp:sp>
    <dsp:sp modelId="{A2D9DD0C-0AB8-3B40-9A59-80F8B31F61EE}">
      <dsp:nvSpPr>
        <dsp:cNvPr id="0" name=""/>
        <dsp:cNvSpPr/>
      </dsp:nvSpPr>
      <dsp:spPr>
        <a:xfrm>
          <a:off x="4821166" y="0"/>
          <a:ext cx="3395996" cy="2037598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cap="small" baseline="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  <a:t>Reconocer las distintas dimensiones del campesinado. 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1600" b="0" i="0" kern="120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</a:br>
          <a:r>
            <a:rPr lang="es-ES" sz="1600" b="0" i="0" kern="120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  <a:t>L</a:t>
          </a:r>
          <a:r>
            <a:rPr lang="es-ES" sz="1600" b="0" i="0" kern="1200" dirty="0">
              <a:solidFill>
                <a:schemeClr val="tx1"/>
              </a:solidFill>
              <a:latin typeface="+mj-lt"/>
            </a:rPr>
            <a:t>os derechos del campesinado solo quedaron plasmados en tres artículos (63, 64 y 65), que se quedan cortos pues sólo reconocen la dimensión económica. </a:t>
          </a:r>
          <a:endParaRPr lang="es-ES" sz="1600" kern="1200" dirty="0">
            <a:solidFill>
              <a:schemeClr val="tx1"/>
            </a:solidFill>
            <a:latin typeface="+mj-lt"/>
            <a:cs typeface="Arial" panose="020B0604020202020204" pitchFamily="34" charset="0"/>
          </a:endParaRPr>
        </a:p>
      </dsp:txBody>
      <dsp:txXfrm>
        <a:off x="4821166" y="0"/>
        <a:ext cx="3395996" cy="2037598"/>
      </dsp:txXfrm>
    </dsp:sp>
    <dsp:sp modelId="{E8497E86-4333-4242-8D21-CC3C14933935}">
      <dsp:nvSpPr>
        <dsp:cNvPr id="0" name=""/>
        <dsp:cNvSpPr/>
      </dsp:nvSpPr>
      <dsp:spPr>
        <a:xfrm>
          <a:off x="968102" y="2379597"/>
          <a:ext cx="3395996" cy="2037598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i="0" kern="1200" cap="small" baseline="0" dirty="0">
              <a:solidFill>
                <a:schemeClr val="tx1"/>
              </a:solidFill>
              <a:latin typeface="+mn-lt"/>
            </a:rPr>
            <a:t>Protege y reconoce derechos del Campesinado. </a:t>
          </a:r>
          <a:endParaRPr lang="es-ES" sz="1600" b="1" i="0" kern="1200" cap="small" baseline="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1600" b="0" i="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</a:br>
          <a:r>
            <a:rPr lang="es-ES" sz="1600" b="0" i="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Amplia el reconocimiento de los derechos del campesinado, algunos vitales como el agua y las semillas y otros novedosos como la participación reforzada. </a:t>
          </a:r>
          <a:endParaRPr lang="es-ES" sz="1600" kern="12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sp:txBody>
      <dsp:txXfrm>
        <a:off x="968102" y="2379597"/>
        <a:ext cx="3395996" cy="2037598"/>
      </dsp:txXfrm>
    </dsp:sp>
    <dsp:sp modelId="{A7D0340F-ACF9-174D-B3E7-72971BAE0C94}">
      <dsp:nvSpPr>
        <dsp:cNvPr id="0" name=""/>
        <dsp:cNvSpPr/>
      </dsp:nvSpPr>
      <dsp:spPr>
        <a:xfrm>
          <a:off x="4876793" y="2362196"/>
          <a:ext cx="3395996" cy="2037598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Reconoce demandas históricas y avances en materia del campesinado. 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i="0" kern="120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El ajuste fue (es) una demanda del movimiento campesino en sus diferentes estrategias de incidencia y recoge los avances jurisprudenciales que hasta ese entonces se había presentado. </a:t>
          </a:r>
          <a:br>
            <a:rPr lang="es-ES" sz="10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s-ES" sz="1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76793" y="2362196"/>
        <a:ext cx="3395996" cy="20375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9D527-95D7-8E44-A564-9E78CA663A5B}">
      <dsp:nvSpPr>
        <dsp:cNvPr id="0" name=""/>
        <dsp:cNvSpPr/>
      </dsp:nvSpPr>
      <dsp:spPr>
        <a:xfrm>
          <a:off x="0" y="367901"/>
          <a:ext cx="2833687" cy="1700212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Desarrollar políticas públicas adecuadas al marco constitucional.  </a:t>
          </a:r>
        </a:p>
      </dsp:txBody>
      <dsp:txXfrm>
        <a:off x="0" y="367901"/>
        <a:ext cx="2833687" cy="1700212"/>
      </dsp:txXfrm>
    </dsp:sp>
    <dsp:sp modelId="{A2D9DD0C-0AB8-3B40-9A59-80F8B31F61EE}">
      <dsp:nvSpPr>
        <dsp:cNvPr id="0" name=""/>
        <dsp:cNvSpPr/>
      </dsp:nvSpPr>
      <dsp:spPr>
        <a:xfrm>
          <a:off x="3215073" y="0"/>
          <a:ext cx="2833687" cy="1700212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cap="small" baseline="0" dirty="0">
              <a:solidFill>
                <a:schemeClr val="tx1"/>
              </a:solidFill>
              <a:latin typeface="+mj-lt"/>
              <a:cs typeface="Arial" panose="020B0604020202020204" pitchFamily="34" charset="0"/>
            </a:rPr>
            <a:t>Dar alcance y/o desarrollar las distintas dimensiones del campesinado y sus relacionamientos. </a:t>
          </a:r>
        </a:p>
      </dsp:txBody>
      <dsp:txXfrm>
        <a:off x="3215073" y="0"/>
        <a:ext cx="2833687" cy="1700212"/>
      </dsp:txXfrm>
    </dsp:sp>
    <dsp:sp modelId="{E8497E86-4333-4242-8D21-CC3C14933935}">
      <dsp:nvSpPr>
        <dsp:cNvPr id="0" name=""/>
        <dsp:cNvSpPr/>
      </dsp:nvSpPr>
      <dsp:spPr>
        <a:xfrm>
          <a:off x="6234111" y="367901"/>
          <a:ext cx="2833687" cy="1700212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i="0" kern="1200" cap="small" baseline="0" dirty="0">
              <a:solidFill>
                <a:schemeClr val="tx1"/>
              </a:solidFill>
              <a:latin typeface="+mn-lt"/>
            </a:rPr>
            <a:t>Desarrollar normativamente derechos del Campesinado.</a:t>
          </a:r>
          <a:endParaRPr lang="es-ES" sz="1600" kern="12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sp:txBody>
      <dsp:txXfrm>
        <a:off x="6234111" y="367901"/>
        <a:ext cx="2833687" cy="1700212"/>
      </dsp:txXfrm>
    </dsp:sp>
    <dsp:sp modelId="{42139D52-DEFA-4ED2-8A6A-76B54D9306E7}">
      <dsp:nvSpPr>
        <dsp:cNvPr id="0" name=""/>
        <dsp:cNvSpPr/>
      </dsp:nvSpPr>
      <dsp:spPr>
        <a:xfrm>
          <a:off x="4789356" y="2286007"/>
          <a:ext cx="2833687" cy="1700212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cap="small" baseline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Fortalecer los procesos organizativos del campesinado y sus instancias de participación.  </a:t>
          </a:r>
          <a:endParaRPr lang="es-ES" sz="1600" kern="1200" dirty="0">
            <a:solidFill>
              <a:schemeClr val="tx1"/>
            </a:solidFill>
            <a:latin typeface="+mn-lt"/>
            <a:cs typeface="Arial" panose="020B0604020202020204" pitchFamily="34" charset="0"/>
          </a:endParaRPr>
        </a:p>
      </dsp:txBody>
      <dsp:txXfrm>
        <a:off x="4789356" y="2286007"/>
        <a:ext cx="2833687" cy="1700212"/>
      </dsp:txXfrm>
    </dsp:sp>
    <dsp:sp modelId="{1B4A722A-A91F-4C7E-BD98-1C32DE8A718A}">
      <dsp:nvSpPr>
        <dsp:cNvPr id="0" name=""/>
        <dsp:cNvSpPr/>
      </dsp:nvSpPr>
      <dsp:spPr>
        <a:xfrm>
          <a:off x="914402" y="2286007"/>
          <a:ext cx="2833687" cy="1700212"/>
        </a:xfrm>
        <a:prstGeom prst="rect">
          <a:avLst/>
        </a:prstGeom>
        <a:solidFill>
          <a:schemeClr val="bg1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cap="small" baseline="0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Ajustar la institucionalidad a la nueva dimensión del sujeto campesino. 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10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s-ES" sz="1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14402" y="2286007"/>
        <a:ext cx="2833687" cy="1700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741152" y="740034"/>
            <a:ext cx="35560" cy="189230"/>
          </a:xfrm>
          <a:custGeom>
            <a:avLst/>
            <a:gdLst/>
            <a:ahLst/>
            <a:cxnLst/>
            <a:rect l="l" t="t" r="r" b="b"/>
            <a:pathLst>
              <a:path w="35559" h="189230">
                <a:moveTo>
                  <a:pt x="35371" y="0"/>
                </a:moveTo>
                <a:lnTo>
                  <a:pt x="0" y="0"/>
                </a:lnTo>
                <a:lnTo>
                  <a:pt x="0" y="189107"/>
                </a:lnTo>
                <a:lnTo>
                  <a:pt x="35371" y="189107"/>
                </a:lnTo>
                <a:lnTo>
                  <a:pt x="35371" y="0"/>
                </a:lnTo>
                <a:close/>
              </a:path>
            </a:pathLst>
          </a:custGeom>
          <a:solidFill>
            <a:srgbClr val="CD3B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8110" y="793884"/>
            <a:ext cx="127128" cy="1352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5640" y="758253"/>
            <a:ext cx="250048" cy="17351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45976" y="793359"/>
            <a:ext cx="90441" cy="13578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356200" y="734885"/>
            <a:ext cx="40005" cy="194310"/>
          </a:xfrm>
          <a:custGeom>
            <a:avLst/>
            <a:gdLst/>
            <a:ahLst/>
            <a:cxnLst/>
            <a:rect l="l" t="t" r="r" b="b"/>
            <a:pathLst>
              <a:path w="40004" h="194309">
                <a:moveTo>
                  <a:pt x="37299" y="61709"/>
                </a:moveTo>
                <a:lnTo>
                  <a:pt x="2451" y="61709"/>
                </a:lnTo>
                <a:lnTo>
                  <a:pt x="2451" y="194259"/>
                </a:lnTo>
                <a:lnTo>
                  <a:pt x="37299" y="194259"/>
                </a:lnTo>
                <a:lnTo>
                  <a:pt x="37299" y="61709"/>
                </a:lnTo>
                <a:close/>
              </a:path>
              <a:path w="40004" h="194309">
                <a:moveTo>
                  <a:pt x="39484" y="0"/>
                </a:moveTo>
                <a:lnTo>
                  <a:pt x="0" y="0"/>
                </a:lnTo>
                <a:lnTo>
                  <a:pt x="0" y="34404"/>
                </a:lnTo>
                <a:lnTo>
                  <a:pt x="39484" y="34404"/>
                </a:lnTo>
                <a:lnTo>
                  <a:pt x="39484" y="0"/>
                </a:lnTo>
                <a:close/>
              </a:path>
            </a:pathLst>
          </a:custGeom>
          <a:solidFill>
            <a:srgbClr val="CD3B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24316" y="793884"/>
            <a:ext cx="137372" cy="13788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92594" y="793359"/>
            <a:ext cx="90348" cy="13578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1009151" y="1052329"/>
            <a:ext cx="193675" cy="33655"/>
          </a:xfrm>
          <a:custGeom>
            <a:avLst/>
            <a:gdLst/>
            <a:ahLst/>
            <a:cxnLst/>
            <a:rect l="l" t="t" r="r" b="b"/>
            <a:pathLst>
              <a:path w="193675" h="33655">
                <a:moveTo>
                  <a:pt x="193138" y="0"/>
                </a:moveTo>
                <a:lnTo>
                  <a:pt x="0" y="0"/>
                </a:lnTo>
                <a:lnTo>
                  <a:pt x="0" y="33532"/>
                </a:lnTo>
                <a:lnTo>
                  <a:pt x="193138" y="33532"/>
                </a:lnTo>
                <a:lnTo>
                  <a:pt x="193138" y="0"/>
                </a:lnTo>
                <a:close/>
              </a:path>
            </a:pathLst>
          </a:custGeom>
          <a:solidFill>
            <a:srgbClr val="FCC5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202290" y="1052329"/>
            <a:ext cx="96520" cy="33655"/>
          </a:xfrm>
          <a:custGeom>
            <a:avLst/>
            <a:gdLst/>
            <a:ahLst/>
            <a:cxnLst/>
            <a:rect l="l" t="t" r="r" b="b"/>
            <a:pathLst>
              <a:path w="96520" h="33655">
                <a:moveTo>
                  <a:pt x="96476" y="0"/>
                </a:moveTo>
                <a:lnTo>
                  <a:pt x="0" y="0"/>
                </a:lnTo>
                <a:lnTo>
                  <a:pt x="0" y="33444"/>
                </a:lnTo>
                <a:lnTo>
                  <a:pt x="96476" y="33444"/>
                </a:lnTo>
                <a:lnTo>
                  <a:pt x="96476" y="0"/>
                </a:lnTo>
                <a:close/>
              </a:path>
            </a:pathLst>
          </a:custGeom>
          <a:solidFill>
            <a:srgbClr val="213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298766" y="1052329"/>
            <a:ext cx="96520" cy="33655"/>
          </a:xfrm>
          <a:custGeom>
            <a:avLst/>
            <a:gdLst/>
            <a:ahLst/>
            <a:cxnLst/>
            <a:rect l="l" t="t" r="r" b="b"/>
            <a:pathLst>
              <a:path w="96520" h="33655">
                <a:moveTo>
                  <a:pt x="96487" y="0"/>
                </a:moveTo>
                <a:lnTo>
                  <a:pt x="0" y="0"/>
                </a:lnTo>
                <a:lnTo>
                  <a:pt x="0" y="33444"/>
                </a:lnTo>
                <a:lnTo>
                  <a:pt x="96487" y="33444"/>
                </a:lnTo>
                <a:lnTo>
                  <a:pt x="96487" y="0"/>
                </a:lnTo>
                <a:close/>
              </a:path>
            </a:pathLst>
          </a:custGeom>
          <a:solidFill>
            <a:srgbClr val="D60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6684757"/>
            <a:ext cx="6098540" cy="173355"/>
          </a:xfrm>
          <a:custGeom>
            <a:avLst/>
            <a:gdLst/>
            <a:ahLst/>
            <a:cxnLst/>
            <a:rect l="l" t="t" r="r" b="b"/>
            <a:pathLst>
              <a:path w="6098540" h="173354">
                <a:moveTo>
                  <a:pt x="6098428" y="173240"/>
                </a:moveTo>
                <a:lnTo>
                  <a:pt x="6098428" y="0"/>
                </a:lnTo>
                <a:lnTo>
                  <a:pt x="0" y="0"/>
                </a:lnTo>
                <a:lnTo>
                  <a:pt x="0" y="173240"/>
                </a:lnTo>
                <a:lnTo>
                  <a:pt x="6098428" y="173240"/>
                </a:lnTo>
                <a:close/>
              </a:path>
            </a:pathLst>
          </a:custGeom>
          <a:solidFill>
            <a:srgbClr val="FCC5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098428" y="6684757"/>
            <a:ext cx="3048635" cy="173355"/>
          </a:xfrm>
          <a:custGeom>
            <a:avLst/>
            <a:gdLst/>
            <a:ahLst/>
            <a:cxnLst/>
            <a:rect l="l" t="t" r="r" b="b"/>
            <a:pathLst>
              <a:path w="3048634" h="173354">
                <a:moveTo>
                  <a:pt x="3048099" y="0"/>
                </a:moveTo>
                <a:lnTo>
                  <a:pt x="0" y="0"/>
                </a:lnTo>
                <a:lnTo>
                  <a:pt x="0" y="173240"/>
                </a:lnTo>
                <a:lnTo>
                  <a:pt x="3048099" y="173240"/>
                </a:lnTo>
                <a:lnTo>
                  <a:pt x="3048099" y="0"/>
                </a:lnTo>
                <a:close/>
              </a:path>
            </a:pathLst>
          </a:custGeom>
          <a:solidFill>
            <a:srgbClr val="213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9147036" y="6684757"/>
            <a:ext cx="3045460" cy="173355"/>
          </a:xfrm>
          <a:custGeom>
            <a:avLst/>
            <a:gdLst/>
            <a:ahLst/>
            <a:cxnLst/>
            <a:rect l="l" t="t" r="r" b="b"/>
            <a:pathLst>
              <a:path w="3045459" h="173354">
                <a:moveTo>
                  <a:pt x="0" y="0"/>
                </a:moveTo>
                <a:lnTo>
                  <a:pt x="0" y="173240"/>
                </a:lnTo>
                <a:lnTo>
                  <a:pt x="3044962" y="173240"/>
                </a:lnTo>
                <a:lnTo>
                  <a:pt x="3044962" y="0"/>
                </a:lnTo>
                <a:lnTo>
                  <a:pt x="0" y="0"/>
                </a:lnTo>
                <a:close/>
              </a:path>
            </a:pathLst>
          </a:custGeom>
          <a:solidFill>
            <a:srgbClr val="D60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805B226-F693-E23A-0AC6-0487A3BCF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8100"/>
            <a:ext cx="12191733" cy="68581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2C092A5-DE25-767F-031F-CE0639AC5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259010-DBE2-D34D-D879-AC7A1D283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8C31B2-286A-C9C4-E01D-E40D7257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D1DDB-6CC7-9360-8F7F-08FF87C5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C3D685-36E9-396E-8492-722E755F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199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D64394-963E-D625-32AA-BDFC76B6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F68054-34D7-9279-DFD5-715512BF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16C35A-4761-CBE9-49AD-2C3A4928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03094B-3B2A-4C1A-84F1-903486D2D0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98"/>
            <a:ext cx="12192000" cy="685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9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4201D2B-7635-B428-D717-5BAA3AF3A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7" y="-149"/>
            <a:ext cx="12192000" cy="68582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2C092A5-DE25-767F-031F-CE0639AC5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259010-DBE2-D34D-D879-AC7A1D283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8C31B2-286A-C9C4-E01D-E40D7257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D1DDB-6CC7-9360-8F7F-08FF87C5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C3D685-36E9-396E-8492-722E755F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AC55600-AB75-8578-D0BD-9944765F74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" y="-148"/>
            <a:ext cx="12191733" cy="685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1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D0CCB-4FFD-D76C-2516-7E388FCA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E21056-E582-22D1-6201-8C5FC793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B76F7-CED7-0277-AFCB-6886CB51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8B0CA-24C5-6F63-CBFA-9062B6F2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3FA383-2ECC-136F-2454-358FD4FC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E395E75-E0D6-55B3-7548-8B586457E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7" y="-149"/>
            <a:ext cx="12192000" cy="685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8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0128F-3548-EBBF-BD29-1EB1D245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611771-8F44-52FC-9741-53E17FE37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0D0EFA-890A-CDAE-F1B6-CDA7C84A4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03C958-22C5-59D4-D584-C88407A5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441F80-8960-189A-2E8E-15505E6A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B05C927-FCF5-0132-3B83-3AA55DB686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" y="-148"/>
            <a:ext cx="12191733" cy="685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9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1F210-8371-C703-B82E-47C593C7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5A348-98B3-3879-5E17-CB0127E64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F33D3A-1132-9B1A-B962-CD60ABDB6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E0D49E-7178-69A3-8F58-4D4C48A6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5CC090-A935-39EC-1352-2703D777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37035-180E-0152-1228-EECA4427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49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AB338-F339-66BE-83C6-7A3F6FEC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935FC1-EFEA-9E70-C955-E0F46AFA9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2A0A90-FD8F-D098-9E3C-8B3903C7E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0F47486-611C-6371-6BFF-C8AADB90A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A5BFE2-9B56-F9FE-1317-1698B3D8A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8251A3-C7BF-3DF9-1006-6349C94F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4687DF-C287-0B90-0384-AC46566F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92D22D-0268-7F05-56E0-5963F89C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668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FE461-F01D-222B-4C7C-57D2AA86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FB908D-19D2-F83C-4039-D58C06EC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7D68EF-BFF2-A72E-07EE-5E72D7A4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8FE25A-BF2A-CF99-7E87-C956434B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4105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9DC9B7-1E4F-7D26-4BD7-745061F4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5816B9-11D6-2A5A-0FD1-DB0FC94DB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A788D0-F4D3-2B6C-9239-17F58235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0748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11F9C-4982-DC10-47A7-6087D797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2D4D84-B18F-DC4C-91BD-C2D2452F6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4A5BCA-21FB-4F80-5D90-71B92FADA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C4DC66-6DB7-E14E-1352-1E2E2ED4E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AEA652-EF40-005F-FF90-AD253E40D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9AB725-99AA-BB55-8E39-F039EB14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3610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65C95-5503-7D88-003E-0E2E5F91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AC4D1E-48F0-A1F3-F9C4-7B875CE88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F0E517-DE99-33E7-2751-3A45597C8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892408-C707-58E8-CE35-B1C506B7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5293AC-92C2-E7E4-0ECB-1F609042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B57530-0A48-7CB0-27F9-91E06553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4336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5C3E2-E170-9268-25A1-AE60BCD4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DC4665-0C8C-E09A-7C93-4DB3CB0A6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63F176-85B0-9D54-437B-996F56A1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9FF4C6-8C08-CBB4-3CE2-59E6FA53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D7E2D5-E6C7-D872-FB2D-BAF97048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9456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AB6635-A1FA-05FB-BAB0-2B865D525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005000-C67B-39FC-C963-1BE222E2F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77B06B-FF69-1B1F-5058-EED75F49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1E3432-7CD9-B690-69AF-9AB3EC20F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BBF71-D1BB-B37A-0A5C-4B7A1432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220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802" y="12418"/>
            <a:ext cx="12184380" cy="6839584"/>
          </a:xfrm>
          <a:custGeom>
            <a:avLst/>
            <a:gdLst/>
            <a:ahLst/>
            <a:cxnLst/>
            <a:rect l="l" t="t" r="r" b="b"/>
            <a:pathLst>
              <a:path w="12184380" h="6839584">
                <a:moveTo>
                  <a:pt x="12184200" y="0"/>
                </a:moveTo>
                <a:lnTo>
                  <a:pt x="0" y="0"/>
                </a:lnTo>
                <a:lnTo>
                  <a:pt x="0" y="6839033"/>
                </a:lnTo>
                <a:lnTo>
                  <a:pt x="12184200" y="6839033"/>
                </a:lnTo>
                <a:lnTo>
                  <a:pt x="12184200" y="0"/>
                </a:lnTo>
                <a:close/>
              </a:path>
            </a:pathLst>
          </a:custGeom>
          <a:solidFill>
            <a:srgbClr val="D13B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39576" y="6058487"/>
            <a:ext cx="237965" cy="23793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904937" y="5939596"/>
            <a:ext cx="2287270" cy="918844"/>
          </a:xfrm>
          <a:custGeom>
            <a:avLst/>
            <a:gdLst/>
            <a:ahLst/>
            <a:cxnLst/>
            <a:rect l="l" t="t" r="r" b="b"/>
            <a:pathLst>
              <a:path w="2287270" h="918845">
                <a:moveTo>
                  <a:pt x="0" y="918403"/>
                </a:moveTo>
                <a:lnTo>
                  <a:pt x="31893" y="871282"/>
                </a:lnTo>
                <a:lnTo>
                  <a:pt x="58006" y="834827"/>
                </a:lnTo>
                <a:lnTo>
                  <a:pt x="84895" y="798975"/>
                </a:lnTo>
                <a:lnTo>
                  <a:pt x="112546" y="763740"/>
                </a:lnTo>
                <a:lnTo>
                  <a:pt x="140949" y="729133"/>
                </a:lnTo>
                <a:lnTo>
                  <a:pt x="170089" y="695166"/>
                </a:lnTo>
                <a:lnTo>
                  <a:pt x="199956" y="661853"/>
                </a:lnTo>
                <a:lnTo>
                  <a:pt x="230537" y="629204"/>
                </a:lnTo>
                <a:lnTo>
                  <a:pt x="261820" y="597233"/>
                </a:lnTo>
                <a:lnTo>
                  <a:pt x="293792" y="565951"/>
                </a:lnTo>
                <a:lnTo>
                  <a:pt x="326441" y="535370"/>
                </a:lnTo>
                <a:lnTo>
                  <a:pt x="359756" y="505504"/>
                </a:lnTo>
                <a:lnTo>
                  <a:pt x="393723" y="476364"/>
                </a:lnTo>
                <a:lnTo>
                  <a:pt x="428331" y="447962"/>
                </a:lnTo>
                <a:lnTo>
                  <a:pt x="463567" y="420311"/>
                </a:lnTo>
                <a:lnTo>
                  <a:pt x="499419" y="393423"/>
                </a:lnTo>
                <a:lnTo>
                  <a:pt x="535874" y="367311"/>
                </a:lnTo>
                <a:lnTo>
                  <a:pt x="572922" y="341985"/>
                </a:lnTo>
                <a:lnTo>
                  <a:pt x="610549" y="317459"/>
                </a:lnTo>
                <a:lnTo>
                  <a:pt x="648743" y="293746"/>
                </a:lnTo>
                <a:lnTo>
                  <a:pt x="687491" y="270856"/>
                </a:lnTo>
                <a:lnTo>
                  <a:pt x="726783" y="248802"/>
                </a:lnTo>
                <a:lnTo>
                  <a:pt x="766604" y="227598"/>
                </a:lnTo>
                <a:lnTo>
                  <a:pt x="806944" y="207254"/>
                </a:lnTo>
                <a:lnTo>
                  <a:pt x="847790" y="187783"/>
                </a:lnTo>
                <a:lnTo>
                  <a:pt x="889129" y="169197"/>
                </a:lnTo>
                <a:lnTo>
                  <a:pt x="930950" y="151509"/>
                </a:lnTo>
                <a:lnTo>
                  <a:pt x="973240" y="134731"/>
                </a:lnTo>
                <a:lnTo>
                  <a:pt x="1015987" y="118875"/>
                </a:lnTo>
                <a:lnTo>
                  <a:pt x="1059178" y="103953"/>
                </a:lnTo>
                <a:lnTo>
                  <a:pt x="1102802" y="89978"/>
                </a:lnTo>
                <a:lnTo>
                  <a:pt x="1146846" y="76961"/>
                </a:lnTo>
                <a:lnTo>
                  <a:pt x="1191299" y="64915"/>
                </a:lnTo>
                <a:lnTo>
                  <a:pt x="1236146" y="53853"/>
                </a:lnTo>
                <a:lnTo>
                  <a:pt x="1281378" y="43786"/>
                </a:lnTo>
                <a:lnTo>
                  <a:pt x="1326980" y="34727"/>
                </a:lnTo>
                <a:lnTo>
                  <a:pt x="1372942" y="26688"/>
                </a:lnTo>
                <a:lnTo>
                  <a:pt x="1419250" y="19680"/>
                </a:lnTo>
                <a:lnTo>
                  <a:pt x="1465893" y="13718"/>
                </a:lnTo>
                <a:lnTo>
                  <a:pt x="1512859" y="8812"/>
                </a:lnTo>
                <a:lnTo>
                  <a:pt x="1560134" y="4975"/>
                </a:lnTo>
                <a:lnTo>
                  <a:pt x="1607707" y="2219"/>
                </a:lnTo>
                <a:lnTo>
                  <a:pt x="1655566" y="556"/>
                </a:lnTo>
                <a:lnTo>
                  <a:pt x="1703697" y="0"/>
                </a:lnTo>
                <a:lnTo>
                  <a:pt x="1751827" y="556"/>
                </a:lnTo>
                <a:lnTo>
                  <a:pt x="1799682" y="2219"/>
                </a:lnTo>
                <a:lnTo>
                  <a:pt x="1847253" y="4975"/>
                </a:lnTo>
                <a:lnTo>
                  <a:pt x="1894525" y="8812"/>
                </a:lnTo>
                <a:lnTo>
                  <a:pt x="1941488" y="13718"/>
                </a:lnTo>
                <a:lnTo>
                  <a:pt x="1988128" y="19680"/>
                </a:lnTo>
                <a:lnTo>
                  <a:pt x="2034434" y="26688"/>
                </a:lnTo>
                <a:lnTo>
                  <a:pt x="2080394" y="34727"/>
                </a:lnTo>
                <a:lnTo>
                  <a:pt x="2125994" y="43786"/>
                </a:lnTo>
                <a:lnTo>
                  <a:pt x="2171223" y="53853"/>
                </a:lnTo>
                <a:lnTo>
                  <a:pt x="2216069" y="64915"/>
                </a:lnTo>
                <a:lnTo>
                  <a:pt x="2260519" y="76961"/>
                </a:lnTo>
                <a:lnTo>
                  <a:pt x="2287063" y="84806"/>
                </a:lnTo>
              </a:path>
            </a:pathLst>
          </a:custGeom>
          <a:ln w="1618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80751" y="855375"/>
            <a:ext cx="237965" cy="23793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37"/>
            <a:ext cx="2514600" cy="1212215"/>
          </a:xfrm>
          <a:custGeom>
            <a:avLst/>
            <a:gdLst/>
            <a:ahLst/>
            <a:cxnLst/>
            <a:rect l="l" t="t" r="r" b="b"/>
            <a:pathLst>
              <a:path w="2514600" h="1212215">
                <a:moveTo>
                  <a:pt x="2514023" y="0"/>
                </a:moveTo>
                <a:lnTo>
                  <a:pt x="2481525" y="69819"/>
                </a:lnTo>
                <a:lnTo>
                  <a:pt x="2461180" y="110158"/>
                </a:lnTo>
                <a:lnTo>
                  <a:pt x="2439975" y="149979"/>
                </a:lnTo>
                <a:lnTo>
                  <a:pt x="2417921" y="189270"/>
                </a:lnTo>
                <a:lnTo>
                  <a:pt x="2395031" y="228018"/>
                </a:lnTo>
                <a:lnTo>
                  <a:pt x="2371316" y="266211"/>
                </a:lnTo>
                <a:lnTo>
                  <a:pt x="2346790" y="303837"/>
                </a:lnTo>
                <a:lnTo>
                  <a:pt x="2321464" y="340884"/>
                </a:lnTo>
                <a:lnTo>
                  <a:pt x="2295350" y="377339"/>
                </a:lnTo>
                <a:lnTo>
                  <a:pt x="2268461" y="413191"/>
                </a:lnTo>
                <a:lnTo>
                  <a:pt x="2240810" y="448426"/>
                </a:lnTo>
                <a:lnTo>
                  <a:pt x="2212408" y="483033"/>
                </a:lnTo>
                <a:lnTo>
                  <a:pt x="2183267" y="517000"/>
                </a:lnTo>
                <a:lnTo>
                  <a:pt x="2153400" y="550314"/>
                </a:lnTo>
                <a:lnTo>
                  <a:pt x="2122819" y="582962"/>
                </a:lnTo>
                <a:lnTo>
                  <a:pt x="2091536" y="614934"/>
                </a:lnTo>
                <a:lnTo>
                  <a:pt x="2059564" y="646216"/>
                </a:lnTo>
                <a:lnTo>
                  <a:pt x="2026915" y="676796"/>
                </a:lnTo>
                <a:lnTo>
                  <a:pt x="1993601" y="706662"/>
                </a:lnTo>
                <a:lnTo>
                  <a:pt x="1959633" y="735802"/>
                </a:lnTo>
                <a:lnTo>
                  <a:pt x="1925026" y="764204"/>
                </a:lnTo>
                <a:lnTo>
                  <a:pt x="1889790" y="791855"/>
                </a:lnTo>
                <a:lnTo>
                  <a:pt x="1853938" y="818743"/>
                </a:lnTo>
                <a:lnTo>
                  <a:pt x="1817482" y="844856"/>
                </a:lnTo>
                <a:lnTo>
                  <a:pt x="1780434" y="870181"/>
                </a:lnTo>
                <a:lnTo>
                  <a:pt x="1742808" y="894707"/>
                </a:lnTo>
                <a:lnTo>
                  <a:pt x="1704614" y="918421"/>
                </a:lnTo>
                <a:lnTo>
                  <a:pt x="1665865" y="941311"/>
                </a:lnTo>
                <a:lnTo>
                  <a:pt x="1626574" y="963364"/>
                </a:lnTo>
                <a:lnTo>
                  <a:pt x="1586752" y="984569"/>
                </a:lnTo>
                <a:lnTo>
                  <a:pt x="1546412" y="1004913"/>
                </a:lnTo>
                <a:lnTo>
                  <a:pt x="1505566" y="1024384"/>
                </a:lnTo>
                <a:lnTo>
                  <a:pt x="1464227" y="1042969"/>
                </a:lnTo>
                <a:lnTo>
                  <a:pt x="1422406" y="1060657"/>
                </a:lnTo>
                <a:lnTo>
                  <a:pt x="1380116" y="1077435"/>
                </a:lnTo>
                <a:lnTo>
                  <a:pt x="1337370" y="1093292"/>
                </a:lnTo>
                <a:lnTo>
                  <a:pt x="1294178" y="1108213"/>
                </a:lnTo>
                <a:lnTo>
                  <a:pt x="1250554" y="1122189"/>
                </a:lnTo>
                <a:lnTo>
                  <a:pt x="1206510" y="1135205"/>
                </a:lnTo>
                <a:lnTo>
                  <a:pt x="1162058" y="1147251"/>
                </a:lnTo>
                <a:lnTo>
                  <a:pt x="1117210" y="1158313"/>
                </a:lnTo>
                <a:lnTo>
                  <a:pt x="1071978" y="1168380"/>
                </a:lnTo>
                <a:lnTo>
                  <a:pt x="1026376" y="1177440"/>
                </a:lnTo>
                <a:lnTo>
                  <a:pt x="980414" y="1185479"/>
                </a:lnTo>
                <a:lnTo>
                  <a:pt x="934106" y="1192486"/>
                </a:lnTo>
                <a:lnTo>
                  <a:pt x="887463" y="1198449"/>
                </a:lnTo>
                <a:lnTo>
                  <a:pt x="840498" y="1203355"/>
                </a:lnTo>
                <a:lnTo>
                  <a:pt x="793222" y="1207192"/>
                </a:lnTo>
                <a:lnTo>
                  <a:pt x="745649" y="1209948"/>
                </a:lnTo>
                <a:lnTo>
                  <a:pt x="697791" y="1211610"/>
                </a:lnTo>
                <a:lnTo>
                  <a:pt x="649659" y="1212167"/>
                </a:lnTo>
                <a:lnTo>
                  <a:pt x="601530" y="1211610"/>
                </a:lnTo>
                <a:lnTo>
                  <a:pt x="553674" y="1209948"/>
                </a:lnTo>
                <a:lnTo>
                  <a:pt x="506103" y="1207192"/>
                </a:lnTo>
                <a:lnTo>
                  <a:pt x="458831" y="1203355"/>
                </a:lnTo>
                <a:lnTo>
                  <a:pt x="411868" y="1198449"/>
                </a:lnTo>
                <a:lnTo>
                  <a:pt x="365228" y="1192486"/>
                </a:lnTo>
                <a:lnTo>
                  <a:pt x="318922" y="1185479"/>
                </a:lnTo>
                <a:lnTo>
                  <a:pt x="272962" y="1177440"/>
                </a:lnTo>
                <a:lnTo>
                  <a:pt x="227362" y="1168380"/>
                </a:lnTo>
                <a:lnTo>
                  <a:pt x="182133" y="1158314"/>
                </a:lnTo>
                <a:lnTo>
                  <a:pt x="137287" y="1147251"/>
                </a:lnTo>
                <a:lnTo>
                  <a:pt x="92837" y="1135206"/>
                </a:lnTo>
                <a:lnTo>
                  <a:pt x="48795" y="1122189"/>
                </a:lnTo>
                <a:lnTo>
                  <a:pt x="5173" y="1108214"/>
                </a:lnTo>
                <a:lnTo>
                  <a:pt x="0" y="1106426"/>
                </a:lnTo>
              </a:path>
            </a:pathLst>
          </a:custGeom>
          <a:ln w="1618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741152" y="740034"/>
            <a:ext cx="35560" cy="189230"/>
          </a:xfrm>
          <a:custGeom>
            <a:avLst/>
            <a:gdLst/>
            <a:ahLst/>
            <a:cxnLst/>
            <a:rect l="l" t="t" r="r" b="b"/>
            <a:pathLst>
              <a:path w="35559" h="189230">
                <a:moveTo>
                  <a:pt x="35371" y="0"/>
                </a:moveTo>
                <a:lnTo>
                  <a:pt x="0" y="0"/>
                </a:lnTo>
                <a:lnTo>
                  <a:pt x="0" y="189107"/>
                </a:lnTo>
                <a:lnTo>
                  <a:pt x="35371" y="189107"/>
                </a:lnTo>
                <a:lnTo>
                  <a:pt x="353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18110" y="793884"/>
            <a:ext cx="127128" cy="1352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65640" y="758253"/>
            <a:ext cx="250048" cy="17351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45976" y="793359"/>
            <a:ext cx="90441" cy="13578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1356200" y="734885"/>
            <a:ext cx="40005" cy="194310"/>
          </a:xfrm>
          <a:custGeom>
            <a:avLst/>
            <a:gdLst/>
            <a:ahLst/>
            <a:cxnLst/>
            <a:rect l="l" t="t" r="r" b="b"/>
            <a:pathLst>
              <a:path w="40004" h="194309">
                <a:moveTo>
                  <a:pt x="37299" y="61709"/>
                </a:moveTo>
                <a:lnTo>
                  <a:pt x="2451" y="61709"/>
                </a:lnTo>
                <a:lnTo>
                  <a:pt x="2451" y="194259"/>
                </a:lnTo>
                <a:lnTo>
                  <a:pt x="37299" y="194259"/>
                </a:lnTo>
                <a:lnTo>
                  <a:pt x="37299" y="61709"/>
                </a:lnTo>
                <a:close/>
              </a:path>
              <a:path w="40004" h="194309">
                <a:moveTo>
                  <a:pt x="39484" y="0"/>
                </a:moveTo>
                <a:lnTo>
                  <a:pt x="0" y="0"/>
                </a:lnTo>
                <a:lnTo>
                  <a:pt x="0" y="34404"/>
                </a:lnTo>
                <a:lnTo>
                  <a:pt x="39484" y="34404"/>
                </a:lnTo>
                <a:lnTo>
                  <a:pt x="394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24316" y="793884"/>
            <a:ext cx="137372" cy="13788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92594" y="793359"/>
            <a:ext cx="90348" cy="135781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1009151" y="1052329"/>
            <a:ext cx="193675" cy="33655"/>
          </a:xfrm>
          <a:custGeom>
            <a:avLst/>
            <a:gdLst/>
            <a:ahLst/>
            <a:cxnLst/>
            <a:rect l="l" t="t" r="r" b="b"/>
            <a:pathLst>
              <a:path w="193675" h="33655">
                <a:moveTo>
                  <a:pt x="193138" y="0"/>
                </a:moveTo>
                <a:lnTo>
                  <a:pt x="0" y="0"/>
                </a:lnTo>
                <a:lnTo>
                  <a:pt x="0" y="33532"/>
                </a:lnTo>
                <a:lnTo>
                  <a:pt x="193138" y="33532"/>
                </a:lnTo>
                <a:lnTo>
                  <a:pt x="193138" y="0"/>
                </a:lnTo>
                <a:close/>
              </a:path>
            </a:pathLst>
          </a:custGeom>
          <a:solidFill>
            <a:srgbClr val="FCC5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202290" y="1052329"/>
            <a:ext cx="96520" cy="33655"/>
          </a:xfrm>
          <a:custGeom>
            <a:avLst/>
            <a:gdLst/>
            <a:ahLst/>
            <a:cxnLst/>
            <a:rect l="l" t="t" r="r" b="b"/>
            <a:pathLst>
              <a:path w="96520" h="33655">
                <a:moveTo>
                  <a:pt x="96476" y="0"/>
                </a:moveTo>
                <a:lnTo>
                  <a:pt x="0" y="0"/>
                </a:lnTo>
                <a:lnTo>
                  <a:pt x="0" y="33444"/>
                </a:lnTo>
                <a:lnTo>
                  <a:pt x="96476" y="33444"/>
                </a:lnTo>
                <a:lnTo>
                  <a:pt x="96476" y="0"/>
                </a:lnTo>
                <a:close/>
              </a:path>
            </a:pathLst>
          </a:custGeom>
          <a:solidFill>
            <a:srgbClr val="213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298766" y="1052329"/>
            <a:ext cx="96520" cy="33655"/>
          </a:xfrm>
          <a:custGeom>
            <a:avLst/>
            <a:gdLst/>
            <a:ahLst/>
            <a:cxnLst/>
            <a:rect l="l" t="t" r="r" b="b"/>
            <a:pathLst>
              <a:path w="96520" h="33655">
                <a:moveTo>
                  <a:pt x="96487" y="0"/>
                </a:moveTo>
                <a:lnTo>
                  <a:pt x="0" y="0"/>
                </a:lnTo>
                <a:lnTo>
                  <a:pt x="0" y="33444"/>
                </a:lnTo>
                <a:lnTo>
                  <a:pt x="96487" y="33444"/>
                </a:lnTo>
                <a:lnTo>
                  <a:pt x="96487" y="0"/>
                </a:lnTo>
                <a:close/>
              </a:path>
            </a:pathLst>
          </a:custGeom>
          <a:solidFill>
            <a:srgbClr val="D60D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06444" y="2799816"/>
            <a:ext cx="5581141" cy="106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F842174-351A-5C35-E775-1CDC59E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D2E68F-9A0D-D89E-ED06-73EDB9E63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696-420C-C45E-6F3E-ED258E8D8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A6FAC-9192-436B-870E-80DDE60983C7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EF4216-2A8E-0656-28FD-6CAD51853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FEC2FF-6B1B-D345-F657-95FAADED4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CBB0B-5D0C-43FE-9043-22172208F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483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24.png"/><Relationship Id="rId10" Type="http://schemas.openxmlformats.org/officeDocument/2006/relationships/image" Target="../media/image19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canh.gov.co/" TargetMode="Externa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microsoft.com/office/2007/relationships/diagramDrawing" Target="../diagrams/drawing4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diagramColors" Target="../diagrams/colors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diagramQuickStyle" Target="../diagrams/quickStyle4.xml"/><Relationship Id="rId5" Type="http://schemas.openxmlformats.org/officeDocument/2006/relationships/image" Target="../media/image12.png"/><Relationship Id="rId10" Type="http://schemas.openxmlformats.org/officeDocument/2006/relationships/diagramLayout" Target="../diagrams/layout4.xml"/><Relationship Id="rId4" Type="http://schemas.openxmlformats.org/officeDocument/2006/relationships/image" Target="../media/image11.png"/><Relationship Id="rId9" Type="http://schemas.openxmlformats.org/officeDocument/2006/relationships/diagramData" Target="../diagrams/data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microsoft.com/office/2007/relationships/diagramDrawing" Target="../diagrams/drawing5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diagramColors" Target="../diagrams/colors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diagramQuickStyle" Target="../diagrams/quickStyle5.xml"/><Relationship Id="rId5" Type="http://schemas.openxmlformats.org/officeDocument/2006/relationships/image" Target="../media/image12.png"/><Relationship Id="rId10" Type="http://schemas.openxmlformats.org/officeDocument/2006/relationships/diagramLayout" Target="../diagrams/layout5.xml"/><Relationship Id="rId4" Type="http://schemas.openxmlformats.org/officeDocument/2006/relationships/image" Target="../media/image11.png"/><Relationship Id="rId9" Type="http://schemas.openxmlformats.org/officeDocument/2006/relationships/diagramData" Target="../diagrams/data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38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02" y="12418"/>
            <a:ext cx="12184380" cy="6839584"/>
          </a:xfrm>
          <a:custGeom>
            <a:avLst/>
            <a:gdLst/>
            <a:ahLst/>
            <a:cxnLst/>
            <a:rect l="l" t="t" r="r" b="b"/>
            <a:pathLst>
              <a:path w="12184380" h="6839584">
                <a:moveTo>
                  <a:pt x="12184200" y="0"/>
                </a:moveTo>
                <a:lnTo>
                  <a:pt x="0" y="0"/>
                </a:lnTo>
                <a:lnTo>
                  <a:pt x="0" y="6839033"/>
                </a:lnTo>
                <a:lnTo>
                  <a:pt x="12184200" y="6839033"/>
                </a:lnTo>
                <a:lnTo>
                  <a:pt x="12184200" y="0"/>
                </a:lnTo>
                <a:close/>
              </a:path>
            </a:pathLst>
          </a:custGeom>
          <a:solidFill>
            <a:srgbClr val="D13B4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896843" y="5931503"/>
            <a:ext cx="2303780" cy="934719"/>
            <a:chOff x="9896843" y="5931503"/>
            <a:chExt cx="2303780" cy="93471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39576" y="6058487"/>
              <a:ext cx="237965" cy="2379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04937" y="5939596"/>
              <a:ext cx="2287270" cy="918844"/>
            </a:xfrm>
            <a:custGeom>
              <a:avLst/>
              <a:gdLst/>
              <a:ahLst/>
              <a:cxnLst/>
              <a:rect l="l" t="t" r="r" b="b"/>
              <a:pathLst>
                <a:path w="2287270" h="918845">
                  <a:moveTo>
                    <a:pt x="0" y="918403"/>
                  </a:moveTo>
                  <a:lnTo>
                    <a:pt x="31893" y="871282"/>
                  </a:lnTo>
                  <a:lnTo>
                    <a:pt x="58006" y="834827"/>
                  </a:lnTo>
                  <a:lnTo>
                    <a:pt x="84895" y="798975"/>
                  </a:lnTo>
                  <a:lnTo>
                    <a:pt x="112546" y="763740"/>
                  </a:lnTo>
                  <a:lnTo>
                    <a:pt x="140949" y="729133"/>
                  </a:lnTo>
                  <a:lnTo>
                    <a:pt x="170089" y="695166"/>
                  </a:lnTo>
                  <a:lnTo>
                    <a:pt x="199956" y="661853"/>
                  </a:lnTo>
                  <a:lnTo>
                    <a:pt x="230537" y="629204"/>
                  </a:lnTo>
                  <a:lnTo>
                    <a:pt x="261820" y="597233"/>
                  </a:lnTo>
                  <a:lnTo>
                    <a:pt x="293792" y="565951"/>
                  </a:lnTo>
                  <a:lnTo>
                    <a:pt x="326441" y="535370"/>
                  </a:lnTo>
                  <a:lnTo>
                    <a:pt x="359756" y="505504"/>
                  </a:lnTo>
                  <a:lnTo>
                    <a:pt x="393723" y="476364"/>
                  </a:lnTo>
                  <a:lnTo>
                    <a:pt x="428331" y="447962"/>
                  </a:lnTo>
                  <a:lnTo>
                    <a:pt x="463567" y="420311"/>
                  </a:lnTo>
                  <a:lnTo>
                    <a:pt x="499419" y="393423"/>
                  </a:lnTo>
                  <a:lnTo>
                    <a:pt x="535874" y="367311"/>
                  </a:lnTo>
                  <a:lnTo>
                    <a:pt x="572922" y="341985"/>
                  </a:lnTo>
                  <a:lnTo>
                    <a:pt x="610549" y="317459"/>
                  </a:lnTo>
                  <a:lnTo>
                    <a:pt x="648743" y="293746"/>
                  </a:lnTo>
                  <a:lnTo>
                    <a:pt x="687491" y="270856"/>
                  </a:lnTo>
                  <a:lnTo>
                    <a:pt x="726783" y="248802"/>
                  </a:lnTo>
                  <a:lnTo>
                    <a:pt x="766604" y="227598"/>
                  </a:lnTo>
                  <a:lnTo>
                    <a:pt x="806944" y="207254"/>
                  </a:lnTo>
                  <a:lnTo>
                    <a:pt x="847790" y="187783"/>
                  </a:lnTo>
                  <a:lnTo>
                    <a:pt x="889129" y="169197"/>
                  </a:lnTo>
                  <a:lnTo>
                    <a:pt x="930950" y="151509"/>
                  </a:lnTo>
                  <a:lnTo>
                    <a:pt x="973240" y="134731"/>
                  </a:lnTo>
                  <a:lnTo>
                    <a:pt x="1015987" y="118875"/>
                  </a:lnTo>
                  <a:lnTo>
                    <a:pt x="1059178" y="103953"/>
                  </a:lnTo>
                  <a:lnTo>
                    <a:pt x="1102802" y="89978"/>
                  </a:lnTo>
                  <a:lnTo>
                    <a:pt x="1146846" y="76961"/>
                  </a:lnTo>
                  <a:lnTo>
                    <a:pt x="1191299" y="64915"/>
                  </a:lnTo>
                  <a:lnTo>
                    <a:pt x="1236146" y="53853"/>
                  </a:lnTo>
                  <a:lnTo>
                    <a:pt x="1281378" y="43786"/>
                  </a:lnTo>
                  <a:lnTo>
                    <a:pt x="1326980" y="34727"/>
                  </a:lnTo>
                  <a:lnTo>
                    <a:pt x="1372942" y="26688"/>
                  </a:lnTo>
                  <a:lnTo>
                    <a:pt x="1419250" y="19680"/>
                  </a:lnTo>
                  <a:lnTo>
                    <a:pt x="1465893" y="13718"/>
                  </a:lnTo>
                  <a:lnTo>
                    <a:pt x="1512859" y="8812"/>
                  </a:lnTo>
                  <a:lnTo>
                    <a:pt x="1560134" y="4975"/>
                  </a:lnTo>
                  <a:lnTo>
                    <a:pt x="1607707" y="2219"/>
                  </a:lnTo>
                  <a:lnTo>
                    <a:pt x="1655566" y="556"/>
                  </a:lnTo>
                  <a:lnTo>
                    <a:pt x="1703697" y="0"/>
                  </a:lnTo>
                  <a:lnTo>
                    <a:pt x="1751827" y="556"/>
                  </a:lnTo>
                  <a:lnTo>
                    <a:pt x="1799682" y="2219"/>
                  </a:lnTo>
                  <a:lnTo>
                    <a:pt x="1847253" y="4975"/>
                  </a:lnTo>
                  <a:lnTo>
                    <a:pt x="1894525" y="8812"/>
                  </a:lnTo>
                  <a:lnTo>
                    <a:pt x="1941488" y="13718"/>
                  </a:lnTo>
                  <a:lnTo>
                    <a:pt x="1988128" y="19680"/>
                  </a:lnTo>
                  <a:lnTo>
                    <a:pt x="2034434" y="26688"/>
                  </a:lnTo>
                  <a:lnTo>
                    <a:pt x="2080394" y="34727"/>
                  </a:lnTo>
                  <a:lnTo>
                    <a:pt x="2125994" y="43786"/>
                  </a:lnTo>
                  <a:lnTo>
                    <a:pt x="2171223" y="53853"/>
                  </a:lnTo>
                  <a:lnTo>
                    <a:pt x="2216069" y="64915"/>
                  </a:lnTo>
                  <a:lnTo>
                    <a:pt x="2260519" y="76961"/>
                  </a:lnTo>
                  <a:lnTo>
                    <a:pt x="2287063" y="84806"/>
                  </a:lnTo>
                </a:path>
              </a:pathLst>
            </a:custGeom>
            <a:ln w="161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8093" y="-8055"/>
            <a:ext cx="2530475" cy="1228725"/>
            <a:chOff x="-8093" y="-8055"/>
            <a:chExt cx="2530475" cy="12287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0751" y="855375"/>
              <a:ext cx="237965" cy="2379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7"/>
              <a:ext cx="2514600" cy="1212215"/>
            </a:xfrm>
            <a:custGeom>
              <a:avLst/>
              <a:gdLst/>
              <a:ahLst/>
              <a:cxnLst/>
              <a:rect l="l" t="t" r="r" b="b"/>
              <a:pathLst>
                <a:path w="2514600" h="1212215">
                  <a:moveTo>
                    <a:pt x="2514023" y="0"/>
                  </a:moveTo>
                  <a:lnTo>
                    <a:pt x="2481525" y="69819"/>
                  </a:lnTo>
                  <a:lnTo>
                    <a:pt x="2461180" y="110158"/>
                  </a:lnTo>
                  <a:lnTo>
                    <a:pt x="2439975" y="149979"/>
                  </a:lnTo>
                  <a:lnTo>
                    <a:pt x="2417921" y="189270"/>
                  </a:lnTo>
                  <a:lnTo>
                    <a:pt x="2395031" y="228018"/>
                  </a:lnTo>
                  <a:lnTo>
                    <a:pt x="2371316" y="266211"/>
                  </a:lnTo>
                  <a:lnTo>
                    <a:pt x="2346790" y="303837"/>
                  </a:lnTo>
                  <a:lnTo>
                    <a:pt x="2321464" y="340884"/>
                  </a:lnTo>
                  <a:lnTo>
                    <a:pt x="2295350" y="377339"/>
                  </a:lnTo>
                  <a:lnTo>
                    <a:pt x="2268461" y="413191"/>
                  </a:lnTo>
                  <a:lnTo>
                    <a:pt x="2240810" y="448426"/>
                  </a:lnTo>
                  <a:lnTo>
                    <a:pt x="2212408" y="483033"/>
                  </a:lnTo>
                  <a:lnTo>
                    <a:pt x="2183267" y="517000"/>
                  </a:lnTo>
                  <a:lnTo>
                    <a:pt x="2153400" y="550314"/>
                  </a:lnTo>
                  <a:lnTo>
                    <a:pt x="2122819" y="582962"/>
                  </a:lnTo>
                  <a:lnTo>
                    <a:pt x="2091536" y="614934"/>
                  </a:lnTo>
                  <a:lnTo>
                    <a:pt x="2059564" y="646216"/>
                  </a:lnTo>
                  <a:lnTo>
                    <a:pt x="2026915" y="676796"/>
                  </a:lnTo>
                  <a:lnTo>
                    <a:pt x="1993601" y="706662"/>
                  </a:lnTo>
                  <a:lnTo>
                    <a:pt x="1959633" y="735802"/>
                  </a:lnTo>
                  <a:lnTo>
                    <a:pt x="1925026" y="764204"/>
                  </a:lnTo>
                  <a:lnTo>
                    <a:pt x="1889790" y="791855"/>
                  </a:lnTo>
                  <a:lnTo>
                    <a:pt x="1853938" y="818743"/>
                  </a:lnTo>
                  <a:lnTo>
                    <a:pt x="1817482" y="844856"/>
                  </a:lnTo>
                  <a:lnTo>
                    <a:pt x="1780434" y="870181"/>
                  </a:lnTo>
                  <a:lnTo>
                    <a:pt x="1742808" y="894707"/>
                  </a:lnTo>
                  <a:lnTo>
                    <a:pt x="1704614" y="918421"/>
                  </a:lnTo>
                  <a:lnTo>
                    <a:pt x="1665865" y="941311"/>
                  </a:lnTo>
                  <a:lnTo>
                    <a:pt x="1626574" y="963364"/>
                  </a:lnTo>
                  <a:lnTo>
                    <a:pt x="1586752" y="984569"/>
                  </a:lnTo>
                  <a:lnTo>
                    <a:pt x="1546412" y="1004913"/>
                  </a:lnTo>
                  <a:lnTo>
                    <a:pt x="1505566" y="1024384"/>
                  </a:lnTo>
                  <a:lnTo>
                    <a:pt x="1464227" y="1042969"/>
                  </a:lnTo>
                  <a:lnTo>
                    <a:pt x="1422406" y="1060657"/>
                  </a:lnTo>
                  <a:lnTo>
                    <a:pt x="1380116" y="1077435"/>
                  </a:lnTo>
                  <a:lnTo>
                    <a:pt x="1337370" y="1093292"/>
                  </a:lnTo>
                  <a:lnTo>
                    <a:pt x="1294178" y="1108213"/>
                  </a:lnTo>
                  <a:lnTo>
                    <a:pt x="1250554" y="1122189"/>
                  </a:lnTo>
                  <a:lnTo>
                    <a:pt x="1206510" y="1135205"/>
                  </a:lnTo>
                  <a:lnTo>
                    <a:pt x="1162058" y="1147251"/>
                  </a:lnTo>
                  <a:lnTo>
                    <a:pt x="1117210" y="1158313"/>
                  </a:lnTo>
                  <a:lnTo>
                    <a:pt x="1071978" y="1168380"/>
                  </a:lnTo>
                  <a:lnTo>
                    <a:pt x="1026376" y="1177440"/>
                  </a:lnTo>
                  <a:lnTo>
                    <a:pt x="980414" y="1185479"/>
                  </a:lnTo>
                  <a:lnTo>
                    <a:pt x="934106" y="1192486"/>
                  </a:lnTo>
                  <a:lnTo>
                    <a:pt x="887463" y="1198449"/>
                  </a:lnTo>
                  <a:lnTo>
                    <a:pt x="840498" y="1203355"/>
                  </a:lnTo>
                  <a:lnTo>
                    <a:pt x="793222" y="1207192"/>
                  </a:lnTo>
                  <a:lnTo>
                    <a:pt x="745649" y="1209948"/>
                  </a:lnTo>
                  <a:lnTo>
                    <a:pt x="697791" y="1211610"/>
                  </a:lnTo>
                  <a:lnTo>
                    <a:pt x="649659" y="1212167"/>
                  </a:lnTo>
                  <a:lnTo>
                    <a:pt x="601530" y="1211610"/>
                  </a:lnTo>
                  <a:lnTo>
                    <a:pt x="553674" y="1209948"/>
                  </a:lnTo>
                  <a:lnTo>
                    <a:pt x="506103" y="1207192"/>
                  </a:lnTo>
                  <a:lnTo>
                    <a:pt x="458831" y="1203355"/>
                  </a:lnTo>
                  <a:lnTo>
                    <a:pt x="411868" y="1198449"/>
                  </a:lnTo>
                  <a:lnTo>
                    <a:pt x="365228" y="1192486"/>
                  </a:lnTo>
                  <a:lnTo>
                    <a:pt x="318922" y="1185479"/>
                  </a:lnTo>
                  <a:lnTo>
                    <a:pt x="272962" y="1177440"/>
                  </a:lnTo>
                  <a:lnTo>
                    <a:pt x="227362" y="1168380"/>
                  </a:lnTo>
                  <a:lnTo>
                    <a:pt x="182133" y="1158314"/>
                  </a:lnTo>
                  <a:lnTo>
                    <a:pt x="137287" y="1147251"/>
                  </a:lnTo>
                  <a:lnTo>
                    <a:pt x="92837" y="1135206"/>
                  </a:lnTo>
                  <a:lnTo>
                    <a:pt x="48795" y="1122189"/>
                  </a:lnTo>
                  <a:lnTo>
                    <a:pt x="5173" y="1108214"/>
                  </a:lnTo>
                  <a:lnTo>
                    <a:pt x="0" y="1106426"/>
                  </a:lnTo>
                </a:path>
              </a:pathLst>
            </a:custGeom>
            <a:ln w="161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741152" y="734875"/>
            <a:ext cx="942340" cy="197485"/>
            <a:chOff x="10741152" y="734875"/>
            <a:chExt cx="942340" cy="197485"/>
          </a:xfrm>
        </p:grpSpPr>
        <p:sp>
          <p:nvSpPr>
            <p:cNvPr id="10" name="object 10"/>
            <p:cNvSpPr/>
            <p:nvPr/>
          </p:nvSpPr>
          <p:spPr>
            <a:xfrm>
              <a:off x="10741152" y="740034"/>
              <a:ext cx="35560" cy="189230"/>
            </a:xfrm>
            <a:custGeom>
              <a:avLst/>
              <a:gdLst/>
              <a:ahLst/>
              <a:cxnLst/>
              <a:rect l="l" t="t" r="r" b="b"/>
              <a:pathLst>
                <a:path w="35559" h="189230">
                  <a:moveTo>
                    <a:pt x="35371" y="0"/>
                  </a:moveTo>
                  <a:lnTo>
                    <a:pt x="0" y="0"/>
                  </a:lnTo>
                  <a:lnTo>
                    <a:pt x="0" y="189107"/>
                  </a:lnTo>
                  <a:lnTo>
                    <a:pt x="35371" y="189107"/>
                  </a:lnTo>
                  <a:lnTo>
                    <a:pt x="353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18110" y="793884"/>
              <a:ext cx="127128" cy="1352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65640" y="758253"/>
              <a:ext cx="250048" cy="1735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45976" y="793359"/>
              <a:ext cx="90441" cy="1357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356200" y="734885"/>
              <a:ext cx="40005" cy="194310"/>
            </a:xfrm>
            <a:custGeom>
              <a:avLst/>
              <a:gdLst/>
              <a:ahLst/>
              <a:cxnLst/>
              <a:rect l="l" t="t" r="r" b="b"/>
              <a:pathLst>
                <a:path w="40004" h="194309">
                  <a:moveTo>
                    <a:pt x="37299" y="61709"/>
                  </a:moveTo>
                  <a:lnTo>
                    <a:pt x="2451" y="61709"/>
                  </a:lnTo>
                  <a:lnTo>
                    <a:pt x="2451" y="194259"/>
                  </a:lnTo>
                  <a:lnTo>
                    <a:pt x="37299" y="194259"/>
                  </a:lnTo>
                  <a:lnTo>
                    <a:pt x="37299" y="61709"/>
                  </a:lnTo>
                  <a:close/>
                </a:path>
                <a:path w="40004" h="194309">
                  <a:moveTo>
                    <a:pt x="39484" y="0"/>
                  </a:moveTo>
                  <a:lnTo>
                    <a:pt x="0" y="0"/>
                  </a:lnTo>
                  <a:lnTo>
                    <a:pt x="0" y="34404"/>
                  </a:lnTo>
                  <a:lnTo>
                    <a:pt x="39484" y="34404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4316" y="793884"/>
              <a:ext cx="137372" cy="13788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92594" y="793359"/>
              <a:ext cx="90348" cy="135781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-6943" y="-6942"/>
            <a:ext cx="12205335" cy="6871334"/>
            <a:chOff x="-6943" y="-6942"/>
            <a:chExt cx="12205335" cy="6871334"/>
          </a:xfrm>
        </p:grpSpPr>
        <p:sp>
          <p:nvSpPr>
            <p:cNvPr id="19" name="object 19"/>
            <p:cNvSpPr/>
            <p:nvPr/>
          </p:nvSpPr>
          <p:spPr>
            <a:xfrm>
              <a:off x="11009151" y="1052329"/>
              <a:ext cx="193675" cy="33655"/>
            </a:xfrm>
            <a:custGeom>
              <a:avLst/>
              <a:gdLst/>
              <a:ahLst/>
              <a:cxnLst/>
              <a:rect l="l" t="t" r="r" b="b"/>
              <a:pathLst>
                <a:path w="193675" h="33655">
                  <a:moveTo>
                    <a:pt x="193138" y="0"/>
                  </a:moveTo>
                  <a:lnTo>
                    <a:pt x="0" y="0"/>
                  </a:lnTo>
                  <a:lnTo>
                    <a:pt x="0" y="33532"/>
                  </a:lnTo>
                  <a:lnTo>
                    <a:pt x="193138" y="33532"/>
                  </a:lnTo>
                  <a:lnTo>
                    <a:pt x="193138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202290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76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76" y="33444"/>
                  </a:lnTo>
                  <a:lnTo>
                    <a:pt x="96476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298766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87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87" y="33444"/>
                  </a:lnTo>
                  <a:lnTo>
                    <a:pt x="96487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20033" y="-3"/>
              <a:ext cx="8871966" cy="68580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617" y="-687"/>
              <a:ext cx="6928484" cy="6858634"/>
            </a:xfrm>
            <a:custGeom>
              <a:avLst/>
              <a:gdLst/>
              <a:ahLst/>
              <a:cxnLst/>
              <a:rect l="l" t="t" r="r" b="b"/>
              <a:pathLst>
                <a:path w="6928484" h="6858634">
                  <a:moveTo>
                    <a:pt x="3509456" y="0"/>
                  </a:moveTo>
                  <a:lnTo>
                    <a:pt x="0" y="0"/>
                  </a:lnTo>
                  <a:lnTo>
                    <a:pt x="0" y="6845344"/>
                  </a:lnTo>
                  <a:lnTo>
                    <a:pt x="3204903" y="6845344"/>
                  </a:lnTo>
                  <a:lnTo>
                    <a:pt x="3253440" y="6849263"/>
                  </a:lnTo>
                  <a:lnTo>
                    <a:pt x="3302137" y="6852470"/>
                  </a:lnTo>
                  <a:lnTo>
                    <a:pt x="3350996" y="6854964"/>
                  </a:lnTo>
                  <a:lnTo>
                    <a:pt x="3400018" y="6856746"/>
                  </a:lnTo>
                  <a:lnTo>
                    <a:pt x="3449206" y="6857815"/>
                  </a:lnTo>
                  <a:lnTo>
                    <a:pt x="3498561" y="6858171"/>
                  </a:lnTo>
                  <a:lnTo>
                    <a:pt x="3547044" y="6857835"/>
                  </a:lnTo>
                  <a:lnTo>
                    <a:pt x="3595364" y="6856831"/>
                  </a:lnTo>
                  <a:lnTo>
                    <a:pt x="3643519" y="6855162"/>
                  </a:lnTo>
                  <a:lnTo>
                    <a:pt x="3691504" y="6852834"/>
                  </a:lnTo>
                  <a:lnTo>
                    <a:pt x="3739314" y="6849850"/>
                  </a:lnTo>
                  <a:lnTo>
                    <a:pt x="3786945" y="6846216"/>
                  </a:lnTo>
                  <a:lnTo>
                    <a:pt x="3834392" y="6841935"/>
                  </a:lnTo>
                  <a:lnTo>
                    <a:pt x="3881652" y="6837011"/>
                  </a:lnTo>
                  <a:lnTo>
                    <a:pt x="3928719" y="6831450"/>
                  </a:lnTo>
                  <a:lnTo>
                    <a:pt x="3975590" y="6825256"/>
                  </a:lnTo>
                  <a:lnTo>
                    <a:pt x="4022259" y="6818433"/>
                  </a:lnTo>
                  <a:lnTo>
                    <a:pt x="4068723" y="6810985"/>
                  </a:lnTo>
                  <a:lnTo>
                    <a:pt x="4114977" y="6802917"/>
                  </a:lnTo>
                  <a:lnTo>
                    <a:pt x="4161017" y="6794233"/>
                  </a:lnTo>
                  <a:lnTo>
                    <a:pt x="4206838" y="6784939"/>
                  </a:lnTo>
                  <a:lnTo>
                    <a:pt x="4252435" y="6775037"/>
                  </a:lnTo>
                  <a:lnTo>
                    <a:pt x="4297806" y="6764533"/>
                  </a:lnTo>
                  <a:lnTo>
                    <a:pt x="4342944" y="6753431"/>
                  </a:lnTo>
                  <a:lnTo>
                    <a:pt x="4387845" y="6741735"/>
                  </a:lnTo>
                  <a:lnTo>
                    <a:pt x="4432506" y="6729450"/>
                  </a:lnTo>
                  <a:lnTo>
                    <a:pt x="4476922" y="6716580"/>
                  </a:lnTo>
                  <a:lnTo>
                    <a:pt x="4521088" y="6703130"/>
                  </a:lnTo>
                  <a:lnTo>
                    <a:pt x="4565000" y="6689103"/>
                  </a:lnTo>
                  <a:lnTo>
                    <a:pt x="4608654" y="6674505"/>
                  </a:lnTo>
                  <a:lnTo>
                    <a:pt x="4652044" y="6659340"/>
                  </a:lnTo>
                  <a:lnTo>
                    <a:pt x="4695168" y="6643612"/>
                  </a:lnTo>
                  <a:lnTo>
                    <a:pt x="4738020" y="6627326"/>
                  </a:lnTo>
                  <a:lnTo>
                    <a:pt x="4780595" y="6610486"/>
                  </a:lnTo>
                  <a:lnTo>
                    <a:pt x="4822890" y="6593096"/>
                  </a:lnTo>
                  <a:lnTo>
                    <a:pt x="4864900" y="6575161"/>
                  </a:lnTo>
                  <a:lnTo>
                    <a:pt x="4906621" y="6556685"/>
                  </a:lnTo>
                  <a:lnTo>
                    <a:pt x="4948048" y="6537673"/>
                  </a:lnTo>
                  <a:lnTo>
                    <a:pt x="4989177" y="6518130"/>
                  </a:lnTo>
                  <a:lnTo>
                    <a:pt x="5030004" y="6498058"/>
                  </a:lnTo>
                  <a:lnTo>
                    <a:pt x="5070523" y="6477464"/>
                  </a:lnTo>
                  <a:lnTo>
                    <a:pt x="5110731" y="6456350"/>
                  </a:lnTo>
                  <a:lnTo>
                    <a:pt x="5150623" y="6434723"/>
                  </a:lnTo>
                  <a:lnTo>
                    <a:pt x="5190195" y="6412585"/>
                  </a:lnTo>
                  <a:lnTo>
                    <a:pt x="5229442" y="6389942"/>
                  </a:lnTo>
                  <a:lnTo>
                    <a:pt x="5268361" y="6366798"/>
                  </a:lnTo>
                  <a:lnTo>
                    <a:pt x="5306946" y="6343158"/>
                  </a:lnTo>
                  <a:lnTo>
                    <a:pt x="5345193" y="6319025"/>
                  </a:lnTo>
                  <a:lnTo>
                    <a:pt x="5383097" y="6294404"/>
                  </a:lnTo>
                  <a:lnTo>
                    <a:pt x="5420655" y="6269300"/>
                  </a:lnTo>
                  <a:lnTo>
                    <a:pt x="5457862" y="6243717"/>
                  </a:lnTo>
                  <a:lnTo>
                    <a:pt x="5494714" y="6217659"/>
                  </a:lnTo>
                  <a:lnTo>
                    <a:pt x="5531205" y="6191131"/>
                  </a:lnTo>
                  <a:lnTo>
                    <a:pt x="5567332" y="6164138"/>
                  </a:lnTo>
                  <a:lnTo>
                    <a:pt x="5603091" y="6136682"/>
                  </a:lnTo>
                  <a:lnTo>
                    <a:pt x="5638476" y="6108770"/>
                  </a:lnTo>
                  <a:lnTo>
                    <a:pt x="5673484" y="6080406"/>
                  </a:lnTo>
                  <a:lnTo>
                    <a:pt x="5708110" y="6051593"/>
                  </a:lnTo>
                  <a:lnTo>
                    <a:pt x="5742349" y="6022336"/>
                  </a:lnTo>
                  <a:lnTo>
                    <a:pt x="5776198" y="5992640"/>
                  </a:lnTo>
                  <a:lnTo>
                    <a:pt x="5809651" y="5962509"/>
                  </a:lnTo>
                  <a:lnTo>
                    <a:pt x="5842705" y="5931948"/>
                  </a:lnTo>
                  <a:lnTo>
                    <a:pt x="5875355" y="5900960"/>
                  </a:lnTo>
                  <a:lnTo>
                    <a:pt x="5907596" y="5869551"/>
                  </a:lnTo>
                  <a:lnTo>
                    <a:pt x="5939424" y="5837725"/>
                  </a:lnTo>
                  <a:lnTo>
                    <a:pt x="5970836" y="5805485"/>
                  </a:lnTo>
                  <a:lnTo>
                    <a:pt x="6001825" y="5772837"/>
                  </a:lnTo>
                  <a:lnTo>
                    <a:pt x="6032389" y="5739785"/>
                  </a:lnTo>
                  <a:lnTo>
                    <a:pt x="6062522" y="5706333"/>
                  </a:lnTo>
                  <a:lnTo>
                    <a:pt x="6092220" y="5672487"/>
                  </a:lnTo>
                  <a:lnTo>
                    <a:pt x="6121478" y="5638249"/>
                  </a:lnTo>
                  <a:lnTo>
                    <a:pt x="6150293" y="5603625"/>
                  </a:lnTo>
                  <a:lnTo>
                    <a:pt x="6178660" y="5568618"/>
                  </a:lnTo>
                  <a:lnTo>
                    <a:pt x="6206575" y="5533234"/>
                  </a:lnTo>
                  <a:lnTo>
                    <a:pt x="6234032" y="5497477"/>
                  </a:lnTo>
                  <a:lnTo>
                    <a:pt x="6261028" y="5461351"/>
                  </a:lnTo>
                  <a:lnTo>
                    <a:pt x="6287558" y="5424861"/>
                  </a:lnTo>
                  <a:lnTo>
                    <a:pt x="6313618" y="5388011"/>
                  </a:lnTo>
                  <a:lnTo>
                    <a:pt x="6339204" y="5350805"/>
                  </a:lnTo>
                  <a:lnTo>
                    <a:pt x="6364310" y="5313248"/>
                  </a:lnTo>
                  <a:lnTo>
                    <a:pt x="6388933" y="5275344"/>
                  </a:lnTo>
                  <a:lnTo>
                    <a:pt x="6413068" y="5237098"/>
                  </a:lnTo>
                  <a:lnTo>
                    <a:pt x="6436711" y="5198514"/>
                  </a:lnTo>
                  <a:lnTo>
                    <a:pt x="6459857" y="5159596"/>
                  </a:lnTo>
                  <a:lnTo>
                    <a:pt x="6482502" y="5120349"/>
                  </a:lnTo>
                  <a:lnTo>
                    <a:pt x="6504642" y="5080778"/>
                  </a:lnTo>
                  <a:lnTo>
                    <a:pt x="6526272" y="5040886"/>
                  </a:lnTo>
                  <a:lnTo>
                    <a:pt x="6547387" y="5000678"/>
                  </a:lnTo>
                  <a:lnTo>
                    <a:pt x="6567984" y="4960159"/>
                  </a:lnTo>
                  <a:lnTo>
                    <a:pt x="6588058" y="4919333"/>
                  </a:lnTo>
                  <a:lnTo>
                    <a:pt x="6607604" y="4878204"/>
                  </a:lnTo>
                  <a:lnTo>
                    <a:pt x="6626618" y="4836776"/>
                  </a:lnTo>
                  <a:lnTo>
                    <a:pt x="6645096" y="4795055"/>
                  </a:lnTo>
                  <a:lnTo>
                    <a:pt x="6663033" y="4753045"/>
                  </a:lnTo>
                  <a:lnTo>
                    <a:pt x="6680425" y="4710749"/>
                  </a:lnTo>
                  <a:lnTo>
                    <a:pt x="6697267" y="4668173"/>
                  </a:lnTo>
                  <a:lnTo>
                    <a:pt x="6713555" y="4625320"/>
                  </a:lnTo>
                  <a:lnTo>
                    <a:pt x="6729285" y="4582196"/>
                  </a:lnTo>
                  <a:lnTo>
                    <a:pt x="6744452" y="4538804"/>
                  </a:lnTo>
                  <a:lnTo>
                    <a:pt x="6759052" y="4495149"/>
                  </a:lnTo>
                  <a:lnTo>
                    <a:pt x="6773080" y="4451236"/>
                  </a:lnTo>
                  <a:lnTo>
                    <a:pt x="6786532" y="4407068"/>
                  </a:lnTo>
                  <a:lnTo>
                    <a:pt x="6799403" y="4362651"/>
                  </a:lnTo>
                  <a:lnTo>
                    <a:pt x="6811690" y="4317988"/>
                  </a:lnTo>
                  <a:lnTo>
                    <a:pt x="6823388" y="4273085"/>
                  </a:lnTo>
                  <a:lnTo>
                    <a:pt x="6834491" y="4227945"/>
                  </a:lnTo>
                  <a:lnTo>
                    <a:pt x="6844997" y="4182572"/>
                  </a:lnTo>
                  <a:lnTo>
                    <a:pt x="6854900" y="4136972"/>
                  </a:lnTo>
                  <a:lnTo>
                    <a:pt x="6864196" y="4091149"/>
                  </a:lnTo>
                  <a:lnTo>
                    <a:pt x="6872881" y="4045107"/>
                  </a:lnTo>
                  <a:lnTo>
                    <a:pt x="6880950" y="3998850"/>
                  </a:lnTo>
                  <a:lnTo>
                    <a:pt x="6888399" y="3952383"/>
                  </a:lnTo>
                  <a:lnTo>
                    <a:pt x="6895223" y="3905710"/>
                  </a:lnTo>
                  <a:lnTo>
                    <a:pt x="6901418" y="3858836"/>
                  </a:lnTo>
                  <a:lnTo>
                    <a:pt x="6906980" y="3811765"/>
                  </a:lnTo>
                  <a:lnTo>
                    <a:pt x="6911904" y="3764502"/>
                  </a:lnTo>
                  <a:lnTo>
                    <a:pt x="6916186" y="3717051"/>
                  </a:lnTo>
                  <a:lnTo>
                    <a:pt x="6919821" y="3669416"/>
                  </a:lnTo>
                  <a:lnTo>
                    <a:pt x="6922805" y="3621602"/>
                  </a:lnTo>
                  <a:lnTo>
                    <a:pt x="6925134" y="3573613"/>
                  </a:lnTo>
                  <a:lnTo>
                    <a:pt x="6926803" y="3525453"/>
                  </a:lnTo>
                  <a:lnTo>
                    <a:pt x="6927807" y="3477128"/>
                  </a:lnTo>
                  <a:lnTo>
                    <a:pt x="6928143" y="3428641"/>
                  </a:lnTo>
                  <a:lnTo>
                    <a:pt x="6927808" y="3380262"/>
                  </a:lnTo>
                  <a:lnTo>
                    <a:pt x="6926808" y="3332044"/>
                  </a:lnTo>
                  <a:lnTo>
                    <a:pt x="6925146" y="3283991"/>
                  </a:lnTo>
                  <a:lnTo>
                    <a:pt x="6922827" y="3236108"/>
                  </a:lnTo>
                  <a:lnTo>
                    <a:pt x="6919854" y="3188399"/>
                  </a:lnTo>
                  <a:lnTo>
                    <a:pt x="6916234" y="3140867"/>
                  </a:lnTo>
                  <a:lnTo>
                    <a:pt x="6911969" y="3093519"/>
                  </a:lnTo>
                  <a:lnTo>
                    <a:pt x="6907065" y="3046358"/>
                  </a:lnTo>
                  <a:lnTo>
                    <a:pt x="6901525" y="2999388"/>
                  </a:lnTo>
                  <a:lnTo>
                    <a:pt x="6895354" y="2952614"/>
                  </a:lnTo>
                  <a:lnTo>
                    <a:pt x="6888557" y="2906040"/>
                  </a:lnTo>
                  <a:lnTo>
                    <a:pt x="6881137" y="2859671"/>
                  </a:lnTo>
                  <a:lnTo>
                    <a:pt x="6873100" y="2813511"/>
                  </a:lnTo>
                  <a:lnTo>
                    <a:pt x="6864449" y="2767564"/>
                  </a:lnTo>
                  <a:lnTo>
                    <a:pt x="6855190" y="2721835"/>
                  </a:lnTo>
                  <a:lnTo>
                    <a:pt x="6845325" y="2676328"/>
                  </a:lnTo>
                  <a:lnTo>
                    <a:pt x="6834861" y="2631047"/>
                  </a:lnTo>
                  <a:lnTo>
                    <a:pt x="6823800" y="2585998"/>
                  </a:lnTo>
                  <a:lnTo>
                    <a:pt x="6812148" y="2541184"/>
                  </a:lnTo>
                  <a:lnTo>
                    <a:pt x="6799909" y="2496609"/>
                  </a:lnTo>
                  <a:lnTo>
                    <a:pt x="6787087" y="2452279"/>
                  </a:lnTo>
                  <a:lnTo>
                    <a:pt x="6773687" y="2408197"/>
                  </a:lnTo>
                  <a:lnTo>
                    <a:pt x="6759713" y="2364368"/>
                  </a:lnTo>
                  <a:lnTo>
                    <a:pt x="6745169" y="2320796"/>
                  </a:lnTo>
                  <a:lnTo>
                    <a:pt x="6730060" y="2277486"/>
                  </a:lnTo>
                  <a:lnTo>
                    <a:pt x="6714390" y="2234441"/>
                  </a:lnTo>
                  <a:lnTo>
                    <a:pt x="6698164" y="2191668"/>
                  </a:lnTo>
                  <a:lnTo>
                    <a:pt x="6681385" y="2149169"/>
                  </a:lnTo>
                  <a:lnTo>
                    <a:pt x="6664059" y="2106949"/>
                  </a:lnTo>
                  <a:lnTo>
                    <a:pt x="6646190" y="2065012"/>
                  </a:lnTo>
                  <a:lnTo>
                    <a:pt x="6627782" y="2023364"/>
                  </a:lnTo>
                  <a:lnTo>
                    <a:pt x="6608839" y="1982008"/>
                  </a:lnTo>
                  <a:lnTo>
                    <a:pt x="6589366" y="1940948"/>
                  </a:lnTo>
                  <a:lnTo>
                    <a:pt x="6569367" y="1900190"/>
                  </a:lnTo>
                  <a:lnTo>
                    <a:pt x="6548847" y="1859737"/>
                  </a:lnTo>
                  <a:lnTo>
                    <a:pt x="6527810" y="1819594"/>
                  </a:lnTo>
                  <a:lnTo>
                    <a:pt x="6506260" y="1779765"/>
                  </a:lnTo>
                  <a:lnTo>
                    <a:pt x="6484202" y="1740255"/>
                  </a:lnTo>
                  <a:lnTo>
                    <a:pt x="6461640" y="1701068"/>
                  </a:lnTo>
                  <a:lnTo>
                    <a:pt x="6438579" y="1662209"/>
                  </a:lnTo>
                  <a:lnTo>
                    <a:pt x="6415022" y="1623681"/>
                  </a:lnTo>
                  <a:lnTo>
                    <a:pt x="6390975" y="1585489"/>
                  </a:lnTo>
                  <a:lnTo>
                    <a:pt x="6366442" y="1547638"/>
                  </a:lnTo>
                  <a:lnTo>
                    <a:pt x="6341426" y="1510132"/>
                  </a:lnTo>
                  <a:lnTo>
                    <a:pt x="6315933" y="1472975"/>
                  </a:lnTo>
                  <a:lnTo>
                    <a:pt x="6289967" y="1436172"/>
                  </a:lnTo>
                  <a:lnTo>
                    <a:pt x="6263532" y="1399726"/>
                  </a:lnTo>
                  <a:lnTo>
                    <a:pt x="6236633" y="1363644"/>
                  </a:lnTo>
                  <a:lnTo>
                    <a:pt x="6209273" y="1327928"/>
                  </a:lnTo>
                  <a:lnTo>
                    <a:pt x="6181458" y="1292584"/>
                  </a:lnTo>
                  <a:lnTo>
                    <a:pt x="6153192" y="1257615"/>
                  </a:lnTo>
                  <a:lnTo>
                    <a:pt x="6124479" y="1223026"/>
                  </a:lnTo>
                  <a:lnTo>
                    <a:pt x="6095323" y="1188822"/>
                  </a:lnTo>
                  <a:lnTo>
                    <a:pt x="6065729" y="1155006"/>
                  </a:lnTo>
                  <a:lnTo>
                    <a:pt x="6035701" y="1121584"/>
                  </a:lnTo>
                  <a:lnTo>
                    <a:pt x="6005244" y="1088559"/>
                  </a:lnTo>
                  <a:lnTo>
                    <a:pt x="5974362" y="1055936"/>
                  </a:lnTo>
                  <a:lnTo>
                    <a:pt x="5943059" y="1023719"/>
                  </a:lnTo>
                  <a:lnTo>
                    <a:pt x="5911341" y="991914"/>
                  </a:lnTo>
                  <a:lnTo>
                    <a:pt x="5879210" y="960523"/>
                  </a:lnTo>
                  <a:lnTo>
                    <a:pt x="5846672" y="929552"/>
                  </a:lnTo>
                  <a:lnTo>
                    <a:pt x="5813731" y="899004"/>
                  </a:lnTo>
                  <a:lnTo>
                    <a:pt x="5780391" y="868885"/>
                  </a:lnTo>
                  <a:lnTo>
                    <a:pt x="5746657" y="839199"/>
                  </a:lnTo>
                  <a:lnTo>
                    <a:pt x="5712532" y="809950"/>
                  </a:lnTo>
                  <a:lnTo>
                    <a:pt x="5678023" y="781142"/>
                  </a:lnTo>
                  <a:lnTo>
                    <a:pt x="5643132" y="752779"/>
                  </a:lnTo>
                  <a:lnTo>
                    <a:pt x="5607864" y="724868"/>
                  </a:lnTo>
                  <a:lnTo>
                    <a:pt x="5572224" y="697410"/>
                  </a:lnTo>
                  <a:lnTo>
                    <a:pt x="5536216" y="670412"/>
                  </a:lnTo>
                  <a:lnTo>
                    <a:pt x="5499845" y="643877"/>
                  </a:lnTo>
                  <a:lnTo>
                    <a:pt x="5463114" y="617809"/>
                  </a:lnTo>
                  <a:lnTo>
                    <a:pt x="5426028" y="592214"/>
                  </a:lnTo>
                  <a:lnTo>
                    <a:pt x="5388592" y="567096"/>
                  </a:lnTo>
                  <a:lnTo>
                    <a:pt x="5350809" y="542458"/>
                  </a:lnTo>
                  <a:lnTo>
                    <a:pt x="5312685" y="518305"/>
                  </a:lnTo>
                  <a:lnTo>
                    <a:pt x="5274224" y="494643"/>
                  </a:lnTo>
                  <a:lnTo>
                    <a:pt x="5235430" y="471474"/>
                  </a:lnTo>
                  <a:lnTo>
                    <a:pt x="5196307" y="448803"/>
                  </a:lnTo>
                  <a:lnTo>
                    <a:pt x="5156859" y="426636"/>
                  </a:lnTo>
                  <a:lnTo>
                    <a:pt x="5117093" y="404976"/>
                  </a:lnTo>
                  <a:lnTo>
                    <a:pt x="5077010" y="383827"/>
                  </a:lnTo>
                  <a:lnTo>
                    <a:pt x="5036617" y="363194"/>
                  </a:lnTo>
                  <a:lnTo>
                    <a:pt x="4995917" y="343082"/>
                  </a:lnTo>
                  <a:lnTo>
                    <a:pt x="4954914" y="323494"/>
                  </a:lnTo>
                  <a:lnTo>
                    <a:pt x="4913614" y="304436"/>
                  </a:lnTo>
                  <a:lnTo>
                    <a:pt x="4872020" y="285911"/>
                  </a:lnTo>
                  <a:lnTo>
                    <a:pt x="4830137" y="267923"/>
                  </a:lnTo>
                  <a:lnTo>
                    <a:pt x="4787970" y="250479"/>
                  </a:lnTo>
                  <a:lnTo>
                    <a:pt x="4745522" y="233581"/>
                  </a:lnTo>
                  <a:lnTo>
                    <a:pt x="4702798" y="217234"/>
                  </a:lnTo>
                  <a:lnTo>
                    <a:pt x="4659802" y="201442"/>
                  </a:lnTo>
                  <a:lnTo>
                    <a:pt x="4616539" y="186210"/>
                  </a:lnTo>
                  <a:lnTo>
                    <a:pt x="4573013" y="171543"/>
                  </a:lnTo>
                  <a:lnTo>
                    <a:pt x="4529229" y="157444"/>
                  </a:lnTo>
                  <a:lnTo>
                    <a:pt x="4485191" y="143918"/>
                  </a:lnTo>
                  <a:lnTo>
                    <a:pt x="4440903" y="130969"/>
                  </a:lnTo>
                  <a:lnTo>
                    <a:pt x="4396370" y="118602"/>
                  </a:lnTo>
                  <a:lnTo>
                    <a:pt x="4351596" y="106822"/>
                  </a:lnTo>
                  <a:lnTo>
                    <a:pt x="4306585" y="95631"/>
                  </a:lnTo>
                  <a:lnTo>
                    <a:pt x="4261342" y="85036"/>
                  </a:lnTo>
                  <a:lnTo>
                    <a:pt x="4215871" y="75040"/>
                  </a:lnTo>
                  <a:lnTo>
                    <a:pt x="4170177" y="65648"/>
                  </a:lnTo>
                  <a:lnTo>
                    <a:pt x="4124264" y="56864"/>
                  </a:lnTo>
                  <a:lnTo>
                    <a:pt x="4078136" y="48692"/>
                  </a:lnTo>
                  <a:lnTo>
                    <a:pt x="4031798" y="41137"/>
                  </a:lnTo>
                  <a:lnTo>
                    <a:pt x="3985254" y="34204"/>
                  </a:lnTo>
                  <a:lnTo>
                    <a:pt x="3938509" y="27896"/>
                  </a:lnTo>
                  <a:lnTo>
                    <a:pt x="3891566" y="22218"/>
                  </a:lnTo>
                  <a:lnTo>
                    <a:pt x="3844431" y="17174"/>
                  </a:lnTo>
                  <a:lnTo>
                    <a:pt x="3797108" y="12769"/>
                  </a:lnTo>
                  <a:lnTo>
                    <a:pt x="3749600" y="9007"/>
                  </a:lnTo>
                  <a:lnTo>
                    <a:pt x="3701913" y="5893"/>
                  </a:lnTo>
                  <a:lnTo>
                    <a:pt x="3654051" y="3431"/>
                  </a:lnTo>
                  <a:lnTo>
                    <a:pt x="3606018" y="1625"/>
                  </a:lnTo>
                  <a:lnTo>
                    <a:pt x="3557818" y="480"/>
                  </a:lnTo>
                  <a:lnTo>
                    <a:pt x="3509456" y="0"/>
                  </a:lnTo>
                  <a:close/>
                </a:path>
              </a:pathLst>
            </a:custGeom>
            <a:solidFill>
              <a:srgbClr val="D23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4473" y="2566069"/>
              <a:ext cx="204153" cy="20413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0" y="0"/>
              <a:ext cx="2951480" cy="2872740"/>
            </a:xfrm>
            <a:custGeom>
              <a:avLst/>
              <a:gdLst/>
              <a:ahLst/>
              <a:cxnLst/>
              <a:rect l="l" t="t" r="r" b="b"/>
              <a:pathLst>
                <a:path w="2951480" h="2872740">
                  <a:moveTo>
                    <a:pt x="2542816" y="0"/>
                  </a:moveTo>
                  <a:lnTo>
                    <a:pt x="2586351" y="53852"/>
                  </a:lnTo>
                  <a:lnTo>
                    <a:pt x="2613328" y="89684"/>
                  </a:lnTo>
                  <a:lnTo>
                    <a:pt x="2639400" y="126221"/>
                  </a:lnTo>
                  <a:lnTo>
                    <a:pt x="2664549" y="163446"/>
                  </a:lnTo>
                  <a:lnTo>
                    <a:pt x="2688761" y="201343"/>
                  </a:lnTo>
                  <a:lnTo>
                    <a:pt x="2712017" y="239895"/>
                  </a:lnTo>
                  <a:lnTo>
                    <a:pt x="2734301" y="279086"/>
                  </a:lnTo>
                  <a:lnTo>
                    <a:pt x="2755596" y="318898"/>
                  </a:lnTo>
                  <a:lnTo>
                    <a:pt x="2775886" y="359316"/>
                  </a:lnTo>
                  <a:lnTo>
                    <a:pt x="2795155" y="400321"/>
                  </a:lnTo>
                  <a:lnTo>
                    <a:pt x="2813384" y="441899"/>
                  </a:lnTo>
                  <a:lnTo>
                    <a:pt x="2830559" y="484031"/>
                  </a:lnTo>
                  <a:lnTo>
                    <a:pt x="2846662" y="526702"/>
                  </a:lnTo>
                  <a:lnTo>
                    <a:pt x="2861675" y="569895"/>
                  </a:lnTo>
                  <a:lnTo>
                    <a:pt x="2875584" y="613592"/>
                  </a:lnTo>
                  <a:lnTo>
                    <a:pt x="2888371" y="657778"/>
                  </a:lnTo>
                  <a:lnTo>
                    <a:pt x="2900019" y="702436"/>
                  </a:lnTo>
                  <a:lnTo>
                    <a:pt x="2910512" y="747549"/>
                  </a:lnTo>
                  <a:lnTo>
                    <a:pt x="2919832" y="793100"/>
                  </a:lnTo>
                  <a:lnTo>
                    <a:pt x="2927964" y="839073"/>
                  </a:lnTo>
                  <a:lnTo>
                    <a:pt x="2934891" y="885450"/>
                  </a:lnTo>
                  <a:lnTo>
                    <a:pt x="2940596" y="932216"/>
                  </a:lnTo>
                  <a:lnTo>
                    <a:pt x="2945062" y="979354"/>
                  </a:lnTo>
                  <a:lnTo>
                    <a:pt x="2948273" y="1026847"/>
                  </a:lnTo>
                  <a:lnTo>
                    <a:pt x="2950211" y="1074678"/>
                  </a:lnTo>
                  <a:lnTo>
                    <a:pt x="2950861" y="1122831"/>
                  </a:lnTo>
                  <a:lnTo>
                    <a:pt x="2950211" y="1170983"/>
                  </a:lnTo>
                  <a:lnTo>
                    <a:pt x="2948273" y="1218814"/>
                  </a:lnTo>
                  <a:lnTo>
                    <a:pt x="2945062" y="1266307"/>
                  </a:lnTo>
                  <a:lnTo>
                    <a:pt x="2940596" y="1313445"/>
                  </a:lnTo>
                  <a:lnTo>
                    <a:pt x="2934891" y="1360211"/>
                  </a:lnTo>
                  <a:lnTo>
                    <a:pt x="2927964" y="1406589"/>
                  </a:lnTo>
                  <a:lnTo>
                    <a:pt x="2919832" y="1452562"/>
                  </a:lnTo>
                  <a:lnTo>
                    <a:pt x="2910512" y="1498114"/>
                  </a:lnTo>
                  <a:lnTo>
                    <a:pt x="2900019" y="1543227"/>
                  </a:lnTo>
                  <a:lnTo>
                    <a:pt x="2888371" y="1587885"/>
                  </a:lnTo>
                  <a:lnTo>
                    <a:pt x="2875584" y="1632071"/>
                  </a:lnTo>
                  <a:lnTo>
                    <a:pt x="2861675" y="1675769"/>
                  </a:lnTo>
                  <a:lnTo>
                    <a:pt x="2846662" y="1718963"/>
                  </a:lnTo>
                  <a:lnTo>
                    <a:pt x="2830559" y="1761634"/>
                  </a:lnTo>
                  <a:lnTo>
                    <a:pt x="2813384" y="1803767"/>
                  </a:lnTo>
                  <a:lnTo>
                    <a:pt x="2795155" y="1845345"/>
                  </a:lnTo>
                  <a:lnTo>
                    <a:pt x="2775886" y="1886352"/>
                  </a:lnTo>
                  <a:lnTo>
                    <a:pt x="2755596" y="1926770"/>
                  </a:lnTo>
                  <a:lnTo>
                    <a:pt x="2734301" y="1966583"/>
                  </a:lnTo>
                  <a:lnTo>
                    <a:pt x="2712017" y="2005774"/>
                  </a:lnTo>
                  <a:lnTo>
                    <a:pt x="2688761" y="2044327"/>
                  </a:lnTo>
                  <a:lnTo>
                    <a:pt x="2664549" y="2082224"/>
                  </a:lnTo>
                  <a:lnTo>
                    <a:pt x="2639400" y="2119450"/>
                  </a:lnTo>
                  <a:lnTo>
                    <a:pt x="2613328" y="2155988"/>
                  </a:lnTo>
                  <a:lnTo>
                    <a:pt x="2586351" y="2191821"/>
                  </a:lnTo>
                  <a:lnTo>
                    <a:pt x="2558486" y="2226931"/>
                  </a:lnTo>
                  <a:lnTo>
                    <a:pt x="2529749" y="2261304"/>
                  </a:lnTo>
                  <a:lnTo>
                    <a:pt x="2500157" y="2294921"/>
                  </a:lnTo>
                  <a:lnTo>
                    <a:pt x="2469726" y="2327766"/>
                  </a:lnTo>
                  <a:lnTo>
                    <a:pt x="2438474" y="2359823"/>
                  </a:lnTo>
                  <a:lnTo>
                    <a:pt x="2406416" y="2391075"/>
                  </a:lnTo>
                  <a:lnTo>
                    <a:pt x="2373570" y="2421505"/>
                  </a:lnTo>
                  <a:lnTo>
                    <a:pt x="2339952" y="2451097"/>
                  </a:lnTo>
                  <a:lnTo>
                    <a:pt x="2305579" y="2479833"/>
                  </a:lnTo>
                  <a:lnTo>
                    <a:pt x="2270468" y="2507698"/>
                  </a:lnTo>
                  <a:lnTo>
                    <a:pt x="2234634" y="2534674"/>
                  </a:lnTo>
                  <a:lnTo>
                    <a:pt x="2198096" y="2560745"/>
                  </a:lnTo>
                  <a:lnTo>
                    <a:pt x="2160870" y="2585894"/>
                  </a:lnTo>
                  <a:lnTo>
                    <a:pt x="2122971" y="2610104"/>
                  </a:lnTo>
                  <a:lnTo>
                    <a:pt x="2084418" y="2633360"/>
                  </a:lnTo>
                  <a:lnTo>
                    <a:pt x="2045226" y="2655643"/>
                  </a:lnTo>
                  <a:lnTo>
                    <a:pt x="2005412" y="2676938"/>
                  </a:lnTo>
                  <a:lnTo>
                    <a:pt x="1964994" y="2697228"/>
                  </a:lnTo>
                  <a:lnTo>
                    <a:pt x="1923987" y="2716496"/>
                  </a:lnTo>
                  <a:lnTo>
                    <a:pt x="1882408" y="2734725"/>
                  </a:lnTo>
                  <a:lnTo>
                    <a:pt x="1840275" y="2751899"/>
                  </a:lnTo>
                  <a:lnTo>
                    <a:pt x="1797603" y="2768001"/>
                  </a:lnTo>
                  <a:lnTo>
                    <a:pt x="1754409" y="2783014"/>
                  </a:lnTo>
                  <a:lnTo>
                    <a:pt x="1710711" y="2796923"/>
                  </a:lnTo>
                  <a:lnTo>
                    <a:pt x="1666524" y="2809709"/>
                  </a:lnTo>
                  <a:lnTo>
                    <a:pt x="1621865" y="2821357"/>
                  </a:lnTo>
                  <a:lnTo>
                    <a:pt x="1576752" y="2831849"/>
                  </a:lnTo>
                  <a:lnTo>
                    <a:pt x="1531200" y="2841170"/>
                  </a:lnTo>
                  <a:lnTo>
                    <a:pt x="1485227" y="2849301"/>
                  </a:lnTo>
                  <a:lnTo>
                    <a:pt x="1438849" y="2856228"/>
                  </a:lnTo>
                  <a:lnTo>
                    <a:pt x="1392082" y="2861933"/>
                  </a:lnTo>
                  <a:lnTo>
                    <a:pt x="1344944" y="2866398"/>
                  </a:lnTo>
                  <a:lnTo>
                    <a:pt x="1297451" y="2869609"/>
                  </a:lnTo>
                  <a:lnTo>
                    <a:pt x="1249620" y="2871548"/>
                  </a:lnTo>
                  <a:lnTo>
                    <a:pt x="1201468" y="2872197"/>
                  </a:lnTo>
                  <a:lnTo>
                    <a:pt x="1153318" y="2871548"/>
                  </a:lnTo>
                  <a:lnTo>
                    <a:pt x="1105489" y="2869609"/>
                  </a:lnTo>
                  <a:lnTo>
                    <a:pt x="1057999" y="2866398"/>
                  </a:lnTo>
                  <a:lnTo>
                    <a:pt x="1010864" y="2861932"/>
                  </a:lnTo>
                  <a:lnTo>
                    <a:pt x="964100" y="2856228"/>
                  </a:lnTo>
                  <a:lnTo>
                    <a:pt x="917724" y="2849301"/>
                  </a:lnTo>
                  <a:lnTo>
                    <a:pt x="871753" y="2841170"/>
                  </a:lnTo>
                  <a:lnTo>
                    <a:pt x="826204" y="2831849"/>
                  </a:lnTo>
                  <a:lnTo>
                    <a:pt x="781092" y="2821357"/>
                  </a:lnTo>
                  <a:lnTo>
                    <a:pt x="736436" y="2809709"/>
                  </a:lnTo>
                  <a:lnTo>
                    <a:pt x="692251" y="2796923"/>
                  </a:lnTo>
                  <a:lnTo>
                    <a:pt x="648555" y="2783014"/>
                  </a:lnTo>
                  <a:lnTo>
                    <a:pt x="605363" y="2768001"/>
                  </a:lnTo>
                  <a:lnTo>
                    <a:pt x="562693" y="2751899"/>
                  </a:lnTo>
                  <a:lnTo>
                    <a:pt x="520561" y="2734725"/>
                  </a:lnTo>
                  <a:lnTo>
                    <a:pt x="478984" y="2716495"/>
                  </a:lnTo>
                  <a:lnTo>
                    <a:pt x="437979" y="2697228"/>
                  </a:lnTo>
                  <a:lnTo>
                    <a:pt x="397562" y="2676938"/>
                  </a:lnTo>
                  <a:lnTo>
                    <a:pt x="357750" y="2655643"/>
                  </a:lnTo>
                  <a:lnTo>
                    <a:pt x="318559" y="2633360"/>
                  </a:lnTo>
                  <a:lnTo>
                    <a:pt x="280007" y="2610104"/>
                  </a:lnTo>
                  <a:lnTo>
                    <a:pt x="242110" y="2585894"/>
                  </a:lnTo>
                  <a:lnTo>
                    <a:pt x="204885" y="2560745"/>
                  </a:lnTo>
                  <a:lnTo>
                    <a:pt x="168347" y="2534674"/>
                  </a:lnTo>
                  <a:lnTo>
                    <a:pt x="132515" y="2507698"/>
                  </a:lnTo>
                  <a:lnTo>
                    <a:pt x="97405" y="2479833"/>
                  </a:lnTo>
                  <a:lnTo>
                    <a:pt x="63033" y="2451097"/>
                  </a:lnTo>
                  <a:lnTo>
                    <a:pt x="29416" y="2421505"/>
                  </a:lnTo>
                  <a:lnTo>
                    <a:pt x="0" y="2394251"/>
                  </a:lnTo>
                </a:path>
              </a:pathLst>
            </a:custGeom>
            <a:ln w="138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51634" y="6505115"/>
              <a:ext cx="183359" cy="1833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837117" y="4068111"/>
              <a:ext cx="2355215" cy="2790190"/>
            </a:xfrm>
            <a:custGeom>
              <a:avLst/>
              <a:gdLst/>
              <a:ahLst/>
              <a:cxnLst/>
              <a:rect l="l" t="t" r="r" b="b"/>
              <a:pathLst>
                <a:path w="2355215" h="2790190">
                  <a:moveTo>
                    <a:pt x="233772" y="2789887"/>
                  </a:moveTo>
                  <a:lnTo>
                    <a:pt x="211247" y="2747940"/>
                  </a:lnTo>
                  <a:lnTo>
                    <a:pt x="190802" y="2707446"/>
                  </a:lnTo>
                  <a:lnTo>
                    <a:pt x="171317" y="2666424"/>
                  </a:lnTo>
                  <a:lnTo>
                    <a:pt x="152806" y="2624889"/>
                  </a:lnTo>
                  <a:lnTo>
                    <a:pt x="135282" y="2582858"/>
                  </a:lnTo>
                  <a:lnTo>
                    <a:pt x="118759" y="2540346"/>
                  </a:lnTo>
                  <a:lnTo>
                    <a:pt x="103250" y="2497370"/>
                  </a:lnTo>
                  <a:lnTo>
                    <a:pt x="88769" y="2453946"/>
                  </a:lnTo>
                  <a:lnTo>
                    <a:pt x="75328" y="2410090"/>
                  </a:lnTo>
                  <a:lnTo>
                    <a:pt x="62941" y="2365817"/>
                  </a:lnTo>
                  <a:lnTo>
                    <a:pt x="51622" y="2321144"/>
                  </a:lnTo>
                  <a:lnTo>
                    <a:pt x="41384" y="2276087"/>
                  </a:lnTo>
                  <a:lnTo>
                    <a:pt x="32240" y="2230662"/>
                  </a:lnTo>
                  <a:lnTo>
                    <a:pt x="24204" y="2184885"/>
                  </a:lnTo>
                  <a:lnTo>
                    <a:pt x="17289" y="2138772"/>
                  </a:lnTo>
                  <a:lnTo>
                    <a:pt x="11509" y="2092339"/>
                  </a:lnTo>
                  <a:lnTo>
                    <a:pt x="6876" y="2045602"/>
                  </a:lnTo>
                  <a:lnTo>
                    <a:pt x="3405" y="1998578"/>
                  </a:lnTo>
                  <a:lnTo>
                    <a:pt x="1108" y="1951282"/>
                  </a:lnTo>
                  <a:lnTo>
                    <a:pt x="0" y="1903730"/>
                  </a:lnTo>
                  <a:lnTo>
                    <a:pt x="92" y="1855938"/>
                  </a:lnTo>
                  <a:lnTo>
                    <a:pt x="1400" y="1807923"/>
                  </a:lnTo>
                  <a:lnTo>
                    <a:pt x="3935" y="1759701"/>
                  </a:lnTo>
                  <a:lnTo>
                    <a:pt x="7712" y="1711287"/>
                  </a:lnTo>
                  <a:lnTo>
                    <a:pt x="12713" y="1662984"/>
                  </a:lnTo>
                  <a:lnTo>
                    <a:pt x="18901" y="1615093"/>
                  </a:lnTo>
                  <a:lnTo>
                    <a:pt x="26259" y="1567627"/>
                  </a:lnTo>
                  <a:lnTo>
                    <a:pt x="34773" y="1520600"/>
                  </a:lnTo>
                  <a:lnTo>
                    <a:pt x="44424" y="1474025"/>
                  </a:lnTo>
                  <a:lnTo>
                    <a:pt x="55199" y="1427915"/>
                  </a:lnTo>
                  <a:lnTo>
                    <a:pt x="67080" y="1382284"/>
                  </a:lnTo>
                  <a:lnTo>
                    <a:pt x="80051" y="1337145"/>
                  </a:lnTo>
                  <a:lnTo>
                    <a:pt x="94097" y="1292511"/>
                  </a:lnTo>
                  <a:lnTo>
                    <a:pt x="109201" y="1248397"/>
                  </a:lnTo>
                  <a:lnTo>
                    <a:pt x="125347" y="1204815"/>
                  </a:lnTo>
                  <a:lnTo>
                    <a:pt x="142519" y="1161778"/>
                  </a:lnTo>
                  <a:lnTo>
                    <a:pt x="160702" y="1119301"/>
                  </a:lnTo>
                  <a:lnTo>
                    <a:pt x="179879" y="1077396"/>
                  </a:lnTo>
                  <a:lnTo>
                    <a:pt x="200034" y="1036076"/>
                  </a:lnTo>
                  <a:lnTo>
                    <a:pt x="221151" y="995356"/>
                  </a:lnTo>
                  <a:lnTo>
                    <a:pt x="243214" y="955249"/>
                  </a:lnTo>
                  <a:lnTo>
                    <a:pt x="266207" y="915767"/>
                  </a:lnTo>
                  <a:lnTo>
                    <a:pt x="290114" y="876925"/>
                  </a:lnTo>
                  <a:lnTo>
                    <a:pt x="314918" y="838736"/>
                  </a:lnTo>
                  <a:lnTo>
                    <a:pt x="340604" y="801213"/>
                  </a:lnTo>
                  <a:lnTo>
                    <a:pt x="367157" y="764369"/>
                  </a:lnTo>
                  <a:lnTo>
                    <a:pt x="394558" y="728218"/>
                  </a:lnTo>
                  <a:lnTo>
                    <a:pt x="422793" y="692773"/>
                  </a:lnTo>
                  <a:lnTo>
                    <a:pt x="451846" y="658048"/>
                  </a:lnTo>
                  <a:lnTo>
                    <a:pt x="481701" y="624056"/>
                  </a:lnTo>
                  <a:lnTo>
                    <a:pt x="512340" y="590810"/>
                  </a:lnTo>
                  <a:lnTo>
                    <a:pt x="543750" y="558324"/>
                  </a:lnTo>
                  <a:lnTo>
                    <a:pt x="575912" y="526611"/>
                  </a:lnTo>
                  <a:lnTo>
                    <a:pt x="608812" y="495685"/>
                  </a:lnTo>
                  <a:lnTo>
                    <a:pt x="642433" y="465558"/>
                  </a:lnTo>
                  <a:lnTo>
                    <a:pt x="676759" y="436245"/>
                  </a:lnTo>
                  <a:lnTo>
                    <a:pt x="711774" y="407759"/>
                  </a:lnTo>
                  <a:lnTo>
                    <a:pt x="747463" y="380112"/>
                  </a:lnTo>
                  <a:lnTo>
                    <a:pt x="783808" y="353319"/>
                  </a:lnTo>
                  <a:lnTo>
                    <a:pt x="820795" y="327393"/>
                  </a:lnTo>
                  <a:lnTo>
                    <a:pt x="858406" y="302347"/>
                  </a:lnTo>
                  <a:lnTo>
                    <a:pt x="896626" y="278195"/>
                  </a:lnTo>
                  <a:lnTo>
                    <a:pt x="935439" y="254949"/>
                  </a:lnTo>
                  <a:lnTo>
                    <a:pt x="974829" y="232624"/>
                  </a:lnTo>
                  <a:lnTo>
                    <a:pt x="1014779" y="211233"/>
                  </a:lnTo>
                  <a:lnTo>
                    <a:pt x="1055274" y="190789"/>
                  </a:lnTo>
                  <a:lnTo>
                    <a:pt x="1096298" y="171305"/>
                  </a:lnTo>
                  <a:lnTo>
                    <a:pt x="1137834" y="152795"/>
                  </a:lnTo>
                  <a:lnTo>
                    <a:pt x="1179867" y="135272"/>
                  </a:lnTo>
                  <a:lnTo>
                    <a:pt x="1222380" y="118750"/>
                  </a:lnTo>
                  <a:lnTo>
                    <a:pt x="1265358" y="103242"/>
                  </a:lnTo>
                  <a:lnTo>
                    <a:pt x="1308783" y="88761"/>
                  </a:lnTo>
                  <a:lnTo>
                    <a:pt x="1352642" y="75321"/>
                  </a:lnTo>
                  <a:lnTo>
                    <a:pt x="1396916" y="62935"/>
                  </a:lnTo>
                  <a:lnTo>
                    <a:pt x="1441591" y="51617"/>
                  </a:lnTo>
                  <a:lnTo>
                    <a:pt x="1486649" y="41380"/>
                  </a:lnTo>
                  <a:lnTo>
                    <a:pt x="1532076" y="32237"/>
                  </a:lnTo>
                  <a:lnTo>
                    <a:pt x="1577855" y="24201"/>
                  </a:lnTo>
                  <a:lnTo>
                    <a:pt x="1623969" y="17287"/>
                  </a:lnTo>
                  <a:lnTo>
                    <a:pt x="1670404" y="11507"/>
                  </a:lnTo>
                  <a:lnTo>
                    <a:pt x="1717142" y="6875"/>
                  </a:lnTo>
                  <a:lnTo>
                    <a:pt x="1764169" y="3404"/>
                  </a:lnTo>
                  <a:lnTo>
                    <a:pt x="1811467" y="1108"/>
                  </a:lnTo>
                  <a:lnTo>
                    <a:pt x="1859020" y="0"/>
                  </a:lnTo>
                  <a:lnTo>
                    <a:pt x="1906814" y="92"/>
                  </a:lnTo>
                  <a:lnTo>
                    <a:pt x="1954831" y="1400"/>
                  </a:lnTo>
                  <a:lnTo>
                    <a:pt x="2003055" y="3936"/>
                  </a:lnTo>
                  <a:lnTo>
                    <a:pt x="2051471" y="7713"/>
                  </a:lnTo>
                  <a:lnTo>
                    <a:pt x="2099776" y="12714"/>
                  </a:lnTo>
                  <a:lnTo>
                    <a:pt x="2147669" y="18902"/>
                  </a:lnTo>
                  <a:lnTo>
                    <a:pt x="2195137" y="26261"/>
                  </a:lnTo>
                  <a:lnTo>
                    <a:pt x="2242166" y="34774"/>
                  </a:lnTo>
                  <a:lnTo>
                    <a:pt x="2288743" y="44426"/>
                  </a:lnTo>
                  <a:lnTo>
                    <a:pt x="2334855" y="55200"/>
                  </a:lnTo>
                  <a:lnTo>
                    <a:pt x="2354878" y="60413"/>
                  </a:lnTo>
                </a:path>
              </a:pathLst>
            </a:custGeom>
            <a:ln w="12524">
              <a:solidFill>
                <a:srgbClr val="D13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1576" y="5635752"/>
              <a:ext cx="11620500" cy="738505"/>
            </a:xfrm>
            <a:custGeom>
              <a:avLst/>
              <a:gdLst/>
              <a:ahLst/>
              <a:cxnLst/>
              <a:rect l="l" t="t" r="r" b="b"/>
              <a:pathLst>
                <a:path w="11620500" h="738504">
                  <a:moveTo>
                    <a:pt x="4814874" y="738416"/>
                  </a:moveTo>
                  <a:lnTo>
                    <a:pt x="11620423" y="738416"/>
                  </a:lnTo>
                </a:path>
                <a:path w="11620500" h="738504">
                  <a:moveTo>
                    <a:pt x="0" y="0"/>
                  </a:moveTo>
                  <a:lnTo>
                    <a:pt x="376369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3453" y="1173772"/>
              <a:ext cx="50165" cy="267335"/>
            </a:xfrm>
            <a:custGeom>
              <a:avLst/>
              <a:gdLst/>
              <a:ahLst/>
              <a:cxnLst/>
              <a:rect l="l" t="t" r="r" b="b"/>
              <a:pathLst>
                <a:path w="50165" h="267334">
                  <a:moveTo>
                    <a:pt x="49955" y="0"/>
                  </a:moveTo>
                  <a:lnTo>
                    <a:pt x="0" y="0"/>
                  </a:lnTo>
                  <a:lnTo>
                    <a:pt x="0" y="267080"/>
                  </a:lnTo>
                  <a:lnTo>
                    <a:pt x="49955" y="267080"/>
                  </a:lnTo>
                  <a:lnTo>
                    <a:pt x="499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2142" y="1249827"/>
              <a:ext cx="179546" cy="19102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0502" y="1199503"/>
              <a:ext cx="353148" cy="24505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6426" y="1249085"/>
              <a:ext cx="127732" cy="19176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422095" y="1166494"/>
              <a:ext cx="55880" cy="274955"/>
            </a:xfrm>
            <a:custGeom>
              <a:avLst/>
              <a:gdLst/>
              <a:ahLst/>
              <a:cxnLst/>
              <a:rect l="l" t="t" r="r" b="b"/>
              <a:pathLst>
                <a:path w="55880" h="274955">
                  <a:moveTo>
                    <a:pt x="52679" y="87160"/>
                  </a:moveTo>
                  <a:lnTo>
                    <a:pt x="3454" y="87160"/>
                  </a:lnTo>
                  <a:lnTo>
                    <a:pt x="3454" y="274370"/>
                  </a:lnTo>
                  <a:lnTo>
                    <a:pt x="52679" y="274370"/>
                  </a:lnTo>
                  <a:lnTo>
                    <a:pt x="52679" y="87160"/>
                  </a:lnTo>
                  <a:close/>
                </a:path>
                <a:path w="55880" h="274955">
                  <a:moveTo>
                    <a:pt x="55765" y="0"/>
                  </a:moveTo>
                  <a:lnTo>
                    <a:pt x="0" y="0"/>
                  </a:lnTo>
                  <a:lnTo>
                    <a:pt x="0" y="48590"/>
                  </a:lnTo>
                  <a:lnTo>
                    <a:pt x="55765" y="48590"/>
                  </a:lnTo>
                  <a:lnTo>
                    <a:pt x="557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55962" y="1249085"/>
              <a:ext cx="127600" cy="19176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18298" y="1249827"/>
              <a:ext cx="194014" cy="19473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41959" y="506794"/>
              <a:ext cx="525404" cy="58166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1954" y="1614834"/>
              <a:ext cx="273050" cy="47625"/>
            </a:xfrm>
            <a:custGeom>
              <a:avLst/>
              <a:gdLst/>
              <a:ahLst/>
              <a:cxnLst/>
              <a:rect l="l" t="t" r="r" b="b"/>
              <a:pathLst>
                <a:path w="273050" h="47625">
                  <a:moveTo>
                    <a:pt x="272773" y="0"/>
                  </a:moveTo>
                  <a:lnTo>
                    <a:pt x="0" y="0"/>
                  </a:lnTo>
                  <a:lnTo>
                    <a:pt x="0" y="47358"/>
                  </a:lnTo>
                  <a:lnTo>
                    <a:pt x="272773" y="47358"/>
                  </a:lnTo>
                  <a:lnTo>
                    <a:pt x="272773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04727" y="1614834"/>
              <a:ext cx="136525" cy="47625"/>
            </a:xfrm>
            <a:custGeom>
              <a:avLst/>
              <a:gdLst/>
              <a:ahLst/>
              <a:cxnLst/>
              <a:rect l="l" t="t" r="r" b="b"/>
              <a:pathLst>
                <a:path w="136525" h="47625">
                  <a:moveTo>
                    <a:pt x="136254" y="0"/>
                  </a:moveTo>
                  <a:lnTo>
                    <a:pt x="0" y="0"/>
                  </a:lnTo>
                  <a:lnTo>
                    <a:pt x="0" y="47234"/>
                  </a:lnTo>
                  <a:lnTo>
                    <a:pt x="136254" y="47234"/>
                  </a:lnTo>
                  <a:lnTo>
                    <a:pt x="136254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40982" y="1614834"/>
              <a:ext cx="136525" cy="47625"/>
            </a:xfrm>
            <a:custGeom>
              <a:avLst/>
              <a:gdLst/>
              <a:ahLst/>
              <a:cxnLst/>
              <a:rect l="l" t="t" r="r" b="b"/>
              <a:pathLst>
                <a:path w="136525" h="47625">
                  <a:moveTo>
                    <a:pt x="136271" y="0"/>
                  </a:moveTo>
                  <a:lnTo>
                    <a:pt x="0" y="0"/>
                  </a:lnTo>
                  <a:lnTo>
                    <a:pt x="0" y="47234"/>
                  </a:lnTo>
                  <a:lnTo>
                    <a:pt x="136271" y="47234"/>
                  </a:lnTo>
                  <a:lnTo>
                    <a:pt x="136271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49960" y="4630928"/>
            <a:ext cx="3987800" cy="1374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Dirección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Democracia,</a:t>
            </a:r>
            <a:r>
              <a:rPr sz="18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Participación</a:t>
            </a:r>
            <a:r>
              <a:rPr sz="18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Ciudadana</a:t>
            </a:r>
            <a:r>
              <a:rPr sz="18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Acción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Comunal</a:t>
            </a:r>
            <a:endParaRPr sz="18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197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Grupo</a:t>
            </a:r>
            <a:r>
              <a:rPr sz="18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Asuntos</a:t>
            </a:r>
            <a:r>
              <a:rPr sz="18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Campesinos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7956" y="3030092"/>
            <a:ext cx="5882844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ts val="5350"/>
              </a:lnSpc>
              <a:spcBef>
                <a:spcPts val="100"/>
              </a:spcBef>
            </a:pPr>
            <a:r>
              <a:rPr lang="en-US" sz="4800" b="1" spc="-10" dirty="0" err="1">
                <a:solidFill>
                  <a:srgbClr val="FFFFFF"/>
                </a:solidFill>
                <a:latin typeface="Arial"/>
                <a:cs typeface="Arial"/>
              </a:rPr>
              <a:t>Reconocimiento</a:t>
            </a:r>
            <a:r>
              <a:rPr lang="en-US" sz="4800" b="1" spc="-10" dirty="0">
                <a:solidFill>
                  <a:srgbClr val="FFFFFF"/>
                </a:solidFill>
                <a:latin typeface="Arial"/>
                <a:cs typeface="Arial"/>
              </a:rPr>
              <a:t> del </a:t>
            </a:r>
            <a:r>
              <a:rPr lang="en-US" sz="4800" b="1" spc="-10" dirty="0" err="1">
                <a:solidFill>
                  <a:srgbClr val="FFFFFF"/>
                </a:solidFill>
                <a:latin typeface="Arial"/>
                <a:cs typeface="Arial"/>
              </a:rPr>
              <a:t>campesinado</a:t>
            </a:r>
            <a:endParaRPr sz="4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63E9FF8-726C-C90D-F2BB-C32B8EBE4472}"/>
              </a:ext>
            </a:extLst>
          </p:cNvPr>
          <p:cNvSpPr txBox="1"/>
          <p:nvPr/>
        </p:nvSpPr>
        <p:spPr>
          <a:xfrm>
            <a:off x="5206978" y="6639446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100" b="1" dirty="0">
                <a:solidFill>
                  <a:schemeClr val="bg1"/>
                </a:solidFill>
                <a:latin typeface="Helvetica" pitchFamily="2" charset="0"/>
              </a:rPr>
              <a:t>www.mininterior.gov.co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7883E01-59F6-7D06-E396-78658869BBBD}"/>
              </a:ext>
            </a:extLst>
          </p:cNvPr>
          <p:cNvSpPr/>
          <p:nvPr/>
        </p:nvSpPr>
        <p:spPr>
          <a:xfrm>
            <a:off x="292135" y="992366"/>
            <a:ext cx="70182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Funciones del Grupo de Asuntos Campesinos </a:t>
            </a:r>
          </a:p>
        </p:txBody>
      </p:sp>
      <p:sp>
        <p:nvSpPr>
          <p:cNvPr id="60" name="object 6">
            <a:extLst>
              <a:ext uri="{FF2B5EF4-FFF2-40B4-BE49-F238E27FC236}">
                <a16:creationId xmlns:a16="http://schemas.microsoft.com/office/drawing/2014/main" id="{97B3A48A-71F0-6131-8660-BF5A580DECCB}"/>
              </a:ext>
            </a:extLst>
          </p:cNvPr>
          <p:cNvSpPr txBox="1"/>
          <p:nvPr/>
        </p:nvSpPr>
        <p:spPr>
          <a:xfrm>
            <a:off x="481324" y="2029360"/>
            <a:ext cx="3023235" cy="38536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654050" marR="547370" indent="-99060">
              <a:lnSpc>
                <a:spcPts val="2620"/>
              </a:lnSpc>
              <a:spcBef>
                <a:spcPts val="405"/>
              </a:spcBef>
            </a:pPr>
            <a:endParaRPr lang="es-CO" sz="2400" dirty="0">
              <a:cs typeface="Trebuchet MS"/>
            </a:endParaRPr>
          </a:p>
        </p:txBody>
      </p:sp>
      <p:sp>
        <p:nvSpPr>
          <p:cNvPr id="61" name="object 6">
            <a:extLst>
              <a:ext uri="{FF2B5EF4-FFF2-40B4-BE49-F238E27FC236}">
                <a16:creationId xmlns:a16="http://schemas.microsoft.com/office/drawing/2014/main" id="{A7244047-7DDB-99B7-26CA-FF687D071897}"/>
              </a:ext>
            </a:extLst>
          </p:cNvPr>
          <p:cNvSpPr txBox="1"/>
          <p:nvPr/>
        </p:nvSpPr>
        <p:spPr>
          <a:xfrm>
            <a:off x="8175863" y="1807763"/>
            <a:ext cx="3023235" cy="42126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r>
              <a:rPr lang="es-ES" sz="2400" b="0" i="0" dirty="0">
                <a:solidFill>
                  <a:srgbClr val="232323"/>
                </a:solidFill>
                <a:effectLst/>
                <a:latin typeface="Open Sans" panose="020B0604020202020204" pitchFamily="34" charset="0"/>
              </a:rPr>
              <a:t> </a:t>
            </a:r>
            <a:endParaRPr lang="es-CO" sz="2400" dirty="0">
              <a:cs typeface="Trebuchet MS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6863BE8-8694-3A89-EA65-4959FB27786E}"/>
              </a:ext>
            </a:extLst>
          </p:cNvPr>
          <p:cNvSpPr txBox="1"/>
          <p:nvPr/>
        </p:nvSpPr>
        <p:spPr>
          <a:xfrm>
            <a:off x="301890" y="1311364"/>
            <a:ext cx="8584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en clave de Política pública (Resolución 727 de 2020)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B79C7FA-DA15-53C4-D807-91E3B76D10E8}"/>
              </a:ext>
            </a:extLst>
          </p:cNvPr>
          <p:cNvGrpSpPr/>
          <p:nvPr/>
        </p:nvGrpSpPr>
        <p:grpSpPr>
          <a:xfrm>
            <a:off x="8035448" y="1753805"/>
            <a:ext cx="4862995" cy="4235647"/>
            <a:chOff x="169760" y="2109616"/>
            <a:chExt cx="4862995" cy="4235647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05F4772B-057A-A249-387A-D45C5B8D558B}"/>
                </a:ext>
              </a:extLst>
            </p:cNvPr>
            <p:cNvSpPr/>
            <p:nvPr/>
          </p:nvSpPr>
          <p:spPr>
            <a:xfrm>
              <a:off x="503301" y="2109616"/>
              <a:ext cx="3229464" cy="10907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23C46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3" name="object 6">
              <a:extLst>
                <a:ext uri="{FF2B5EF4-FFF2-40B4-BE49-F238E27FC236}">
                  <a16:creationId xmlns:a16="http://schemas.microsoft.com/office/drawing/2014/main" id="{10304600-28F0-68F0-8F80-1999A694E175}"/>
                </a:ext>
              </a:extLst>
            </p:cNvPr>
            <p:cNvSpPr txBox="1"/>
            <p:nvPr/>
          </p:nvSpPr>
          <p:spPr>
            <a:xfrm>
              <a:off x="169760" y="2319527"/>
              <a:ext cx="4862995" cy="605935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612000" marR="547370" indent="-99060" algn="ctr"/>
              <a:r>
                <a:rPr b="1" spc="-135" dirty="0">
                  <a:solidFill>
                    <a:srgbClr val="D23C46"/>
                  </a:solidFill>
                  <a:latin typeface="+mj-lt"/>
                  <a:cs typeface="Trebuchet MS"/>
                </a:rPr>
                <a:t>Política</a:t>
              </a:r>
              <a:r>
                <a:rPr b="1" spc="-240" dirty="0">
                  <a:solidFill>
                    <a:srgbClr val="D23C46"/>
                  </a:solidFill>
                  <a:latin typeface="+mj-lt"/>
                  <a:cs typeface="Trebuchet MS"/>
                </a:rPr>
                <a:t> </a:t>
              </a:r>
              <a:r>
                <a:rPr b="1" spc="-140" dirty="0" err="1">
                  <a:solidFill>
                    <a:srgbClr val="D23C46"/>
                  </a:solidFill>
                  <a:latin typeface="+mj-lt"/>
                  <a:cs typeface="Trebuchet MS"/>
                </a:rPr>
                <a:t>Pública</a:t>
              </a:r>
              <a:endParaRPr lang="es-MX" b="1" spc="-140" dirty="0">
                <a:solidFill>
                  <a:srgbClr val="D23C46"/>
                </a:solidFill>
                <a:latin typeface="+mj-lt"/>
                <a:cs typeface="Trebuchet MS"/>
              </a:endParaRPr>
            </a:p>
            <a:p>
              <a:pPr marL="612000" marR="547370" indent="-99060" algn="ctr"/>
              <a:r>
                <a:rPr b="1" spc="-120" dirty="0" err="1">
                  <a:solidFill>
                    <a:srgbClr val="D23C46"/>
                  </a:solidFill>
                  <a:latin typeface="+mj-lt"/>
                  <a:cs typeface="Trebuchet MS"/>
                </a:rPr>
                <a:t>Campesinado</a:t>
              </a:r>
              <a:endParaRPr b="1" dirty="0">
                <a:solidFill>
                  <a:srgbClr val="D23C46"/>
                </a:solidFill>
                <a:latin typeface="+mj-lt"/>
                <a:cs typeface="Trebuchet MS"/>
              </a:endParaRPr>
            </a:p>
          </p:txBody>
        </p:sp>
        <p:sp>
          <p:nvSpPr>
            <p:cNvPr id="64" name="object 7">
              <a:extLst>
                <a:ext uri="{FF2B5EF4-FFF2-40B4-BE49-F238E27FC236}">
                  <a16:creationId xmlns:a16="http://schemas.microsoft.com/office/drawing/2014/main" id="{110356A8-81C5-BF38-25ED-935F01688915}"/>
                </a:ext>
              </a:extLst>
            </p:cNvPr>
            <p:cNvSpPr txBox="1"/>
            <p:nvPr/>
          </p:nvSpPr>
          <p:spPr>
            <a:xfrm>
              <a:off x="481325" y="3332387"/>
              <a:ext cx="3251440" cy="3012876"/>
            </a:xfrm>
            <a:prstGeom prst="rect">
              <a:avLst/>
            </a:prstGeom>
            <a:solidFill>
              <a:srgbClr val="FFFFFF">
                <a:alpha val="90199"/>
              </a:srgbClr>
            </a:solidFill>
            <a:ln w="19050">
              <a:solidFill>
                <a:schemeClr val="bg1">
                  <a:lumMod val="50000"/>
                </a:schemeClr>
              </a:solidFill>
              <a:prstDash val="lgDashDot"/>
            </a:ln>
          </p:spPr>
          <p:txBody>
            <a:bodyPr vert="horz" wrap="square" lIns="0" tIns="67310" rIns="0" bIns="0" rtlCol="0">
              <a:spAutoFit/>
            </a:bodyPr>
            <a:lstStyle/>
            <a:p>
              <a:pPr marL="85090" marR="106045">
                <a:lnSpc>
                  <a:spcPct val="91300"/>
                </a:lnSpc>
                <a:spcBef>
                  <a:spcPts val="530"/>
                </a:spcBef>
                <a:tabLst>
                  <a:tab pos="257175" algn="l"/>
                </a:tabLst>
              </a:pPr>
              <a:endParaRPr lang="es-MX" sz="1600" spc="-60" dirty="0">
                <a:solidFill>
                  <a:schemeClr val="tx1">
                    <a:lumMod val="50000"/>
                    <a:lumOff val="50000"/>
                  </a:schemeClr>
                </a:solidFill>
                <a:cs typeface="Trebuchet MS"/>
              </a:endParaRPr>
            </a:p>
            <a:p>
              <a:pPr marL="256540" marR="106045" indent="-171450">
                <a:lnSpc>
                  <a:spcPct val="91300"/>
                </a:lnSpc>
                <a:spcBef>
                  <a:spcPts val="530"/>
                </a:spcBef>
                <a:buChar char="•"/>
                <a:tabLst>
                  <a:tab pos="257175" algn="l"/>
                </a:tabLst>
              </a:pPr>
              <a:r>
                <a:rPr sz="1600" spc="-6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Acompañar</a:t>
              </a:r>
              <a:r>
                <a:rPr sz="1600" spc="-6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 </a:t>
              </a:r>
              <a:r>
                <a:rPr sz="1600" spc="-9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el </a:t>
              </a:r>
              <a:r>
                <a:rPr sz="1600" spc="-6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proceso </a:t>
              </a:r>
              <a:r>
                <a:rPr sz="1600" spc="-7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de  formulación </a:t>
              </a:r>
              <a:r>
                <a:rPr sz="1600" spc="-6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y seguimiento </a:t>
              </a:r>
              <a:r>
                <a:rPr sz="1600" spc="-7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de </a:t>
              </a:r>
              <a:r>
                <a:rPr sz="1600" spc="-9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la  </a:t>
              </a:r>
              <a:r>
                <a:rPr sz="1600" spc="-8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política</a:t>
              </a:r>
              <a:r>
                <a:rPr sz="1600" spc="-13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 </a:t>
              </a:r>
              <a:r>
                <a:rPr sz="1600" spc="-95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pública</a:t>
              </a:r>
              <a:r>
                <a:rPr sz="1600" spc="-9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.</a:t>
              </a:r>
              <a:endParaRPr lang="es-ES" sz="1600" spc="-95" dirty="0">
                <a:solidFill>
                  <a:schemeClr val="tx1">
                    <a:lumMod val="50000"/>
                    <a:lumOff val="50000"/>
                  </a:schemeClr>
                </a:solidFill>
                <a:cs typeface="Trebuchet MS"/>
              </a:endParaRPr>
            </a:p>
            <a:p>
              <a:pPr marL="256540" marR="106045" indent="-171450">
                <a:lnSpc>
                  <a:spcPct val="91300"/>
                </a:lnSpc>
                <a:spcBef>
                  <a:spcPts val="530"/>
                </a:spcBef>
                <a:buFontTx/>
                <a:buChar char="•"/>
                <a:tabLst>
                  <a:tab pos="257175" algn="l"/>
                </a:tabLst>
              </a:pPr>
              <a:r>
                <a:rPr lang="es-ES" sz="1600" spc="-9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Velar </a:t>
              </a:r>
              <a:r>
                <a:rPr lang="es-ES" sz="1600" spc="-4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por</a:t>
              </a:r>
              <a:r>
                <a:rPr lang="es-ES" sz="1600" spc="-37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 </a:t>
              </a:r>
              <a:r>
                <a:rPr lang="es-ES" sz="1600" spc="-9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el </a:t>
              </a:r>
              <a:r>
                <a:rPr lang="es-ES" sz="1600" spc="-5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diseño </a:t>
              </a:r>
              <a:r>
                <a:rPr lang="es-ES" sz="1600" spc="-6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y </a:t>
              </a:r>
              <a:r>
                <a:rPr lang="es-ES" sz="1600" spc="-9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ejecución </a:t>
              </a:r>
              <a:r>
                <a:rPr lang="es-ES" sz="16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e  </a:t>
              </a:r>
              <a:r>
                <a:rPr lang="es-ES" sz="1600" spc="-6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programas y </a:t>
              </a:r>
              <a:r>
                <a:rPr lang="es-ES" sz="1600" spc="-7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proyectos de  </a:t>
              </a:r>
              <a:r>
                <a:rPr lang="es-ES" sz="1600" spc="-8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fortalecimiento </a:t>
              </a:r>
              <a:r>
                <a:rPr lang="es-ES" sz="1600" spc="-6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de </a:t>
              </a:r>
              <a:r>
                <a:rPr lang="es-ES" sz="1600" spc="-9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la </a:t>
              </a:r>
              <a:r>
                <a:rPr lang="es-ES" sz="1600" spc="-65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población  </a:t>
              </a:r>
              <a:r>
                <a:rPr lang="es-ES" sz="16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campesina.</a:t>
              </a:r>
            </a:p>
            <a:p>
              <a:pPr marL="256540" marR="106045" indent="-171450">
                <a:lnSpc>
                  <a:spcPct val="91300"/>
                </a:lnSpc>
                <a:spcBef>
                  <a:spcPts val="530"/>
                </a:spcBef>
                <a:buFontTx/>
                <a:buChar char="•"/>
                <a:tabLst>
                  <a:tab pos="257175" algn="l"/>
                </a:tabLst>
              </a:pPr>
              <a:r>
                <a:rPr lang="es-ES" sz="1600" spc="-8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rPr>
                <a:t>Propender por la conservación de las costumbres y conocimientos tradicionales. </a:t>
              </a:r>
              <a:endPara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Trebuchet MS"/>
              </a:endParaRPr>
            </a:p>
            <a:p>
              <a:pPr marL="256540" marR="106045" indent="-171450" algn="just">
                <a:lnSpc>
                  <a:spcPct val="91300"/>
                </a:lnSpc>
                <a:spcBef>
                  <a:spcPts val="530"/>
                </a:spcBef>
                <a:buChar char="•"/>
                <a:tabLst>
                  <a:tab pos="257175" algn="l"/>
                </a:tabLst>
              </a:pPr>
              <a:endParaRPr sz="1600" dirty="0">
                <a:solidFill>
                  <a:schemeClr val="tx1">
                    <a:lumMod val="50000"/>
                    <a:lumOff val="50000"/>
                  </a:schemeClr>
                </a:solidFill>
                <a:cs typeface="Trebuchet MS"/>
              </a:endParaRPr>
            </a:p>
          </p:txBody>
        </p:sp>
        <p:grpSp>
          <p:nvGrpSpPr>
            <p:cNvPr id="73" name="object 25">
              <a:extLst>
                <a:ext uri="{FF2B5EF4-FFF2-40B4-BE49-F238E27FC236}">
                  <a16:creationId xmlns:a16="http://schemas.microsoft.com/office/drawing/2014/main" id="{60121353-0FBF-C835-F593-442F46E19363}"/>
                </a:ext>
              </a:extLst>
            </p:cNvPr>
            <p:cNvGrpSpPr/>
            <p:nvPr/>
          </p:nvGrpSpPr>
          <p:grpSpPr>
            <a:xfrm>
              <a:off x="917054" y="2271499"/>
              <a:ext cx="759218" cy="710550"/>
              <a:chOff x="1248524" y="2826473"/>
              <a:chExt cx="544830" cy="509905"/>
            </a:xfrm>
          </p:grpSpPr>
          <p:sp>
            <p:nvSpPr>
              <p:cNvPr id="74" name="object 26">
                <a:extLst>
                  <a:ext uri="{FF2B5EF4-FFF2-40B4-BE49-F238E27FC236}">
                    <a16:creationId xmlns:a16="http://schemas.microsoft.com/office/drawing/2014/main" id="{4979991A-ED9D-EE96-2725-A4FAF1415B4A}"/>
                  </a:ext>
                </a:extLst>
              </p:cNvPr>
              <p:cNvSpPr/>
              <p:nvPr/>
            </p:nvSpPr>
            <p:spPr>
              <a:xfrm>
                <a:off x="1304366" y="2916054"/>
                <a:ext cx="433070" cy="267335"/>
              </a:xfrm>
              <a:custGeom>
                <a:avLst/>
                <a:gdLst/>
                <a:ahLst/>
                <a:cxnLst/>
                <a:rect l="l" t="t" r="r" b="b"/>
                <a:pathLst>
                  <a:path w="433069" h="267335">
                    <a:moveTo>
                      <a:pt x="432964" y="0"/>
                    </a:moveTo>
                    <a:lnTo>
                      <a:pt x="0" y="0"/>
                    </a:lnTo>
                    <a:lnTo>
                      <a:pt x="0" y="266895"/>
                    </a:lnTo>
                    <a:lnTo>
                      <a:pt x="432964" y="266895"/>
                    </a:lnTo>
                    <a:lnTo>
                      <a:pt x="432964" y="0"/>
                    </a:lnTo>
                    <a:close/>
                  </a:path>
                </a:pathLst>
              </a:custGeom>
              <a:solidFill>
                <a:srgbClr val="FBFA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27">
                <a:extLst>
                  <a:ext uri="{FF2B5EF4-FFF2-40B4-BE49-F238E27FC236}">
                    <a16:creationId xmlns:a16="http://schemas.microsoft.com/office/drawing/2014/main" id="{E91411D1-DF37-CDF6-5D85-D4F04F5E25D2}"/>
                  </a:ext>
                </a:extLst>
              </p:cNvPr>
              <p:cNvSpPr/>
              <p:nvPr/>
            </p:nvSpPr>
            <p:spPr>
              <a:xfrm>
                <a:off x="1265966" y="2872447"/>
                <a:ext cx="510540" cy="354330"/>
              </a:xfrm>
              <a:custGeom>
                <a:avLst/>
                <a:gdLst/>
                <a:ahLst/>
                <a:cxnLst/>
                <a:rect l="l" t="t" r="r" b="b"/>
                <a:pathLst>
                  <a:path w="510539" h="354330">
                    <a:moveTo>
                      <a:pt x="497301" y="310362"/>
                    </a:moveTo>
                    <a:lnTo>
                      <a:pt x="12606" y="310362"/>
                    </a:lnTo>
                    <a:lnTo>
                      <a:pt x="7767" y="311289"/>
                    </a:lnTo>
                    <a:lnTo>
                      <a:pt x="3663" y="313664"/>
                    </a:lnTo>
                    <a:lnTo>
                      <a:pt x="1024" y="317347"/>
                    </a:lnTo>
                    <a:lnTo>
                      <a:pt x="0" y="321703"/>
                    </a:lnTo>
                    <a:lnTo>
                      <a:pt x="0" y="342645"/>
                    </a:lnTo>
                    <a:lnTo>
                      <a:pt x="1024" y="346989"/>
                    </a:lnTo>
                    <a:lnTo>
                      <a:pt x="3663" y="350685"/>
                    </a:lnTo>
                    <a:lnTo>
                      <a:pt x="7767" y="353047"/>
                    </a:lnTo>
                    <a:lnTo>
                      <a:pt x="12606" y="353974"/>
                    </a:lnTo>
                    <a:lnTo>
                      <a:pt x="497301" y="353974"/>
                    </a:lnTo>
                    <a:lnTo>
                      <a:pt x="502140" y="353047"/>
                    </a:lnTo>
                    <a:lnTo>
                      <a:pt x="506242" y="350685"/>
                    </a:lnTo>
                    <a:lnTo>
                      <a:pt x="508883" y="346989"/>
                    </a:lnTo>
                    <a:lnTo>
                      <a:pt x="509912" y="342645"/>
                    </a:lnTo>
                    <a:lnTo>
                      <a:pt x="509912" y="321703"/>
                    </a:lnTo>
                    <a:lnTo>
                      <a:pt x="508883" y="317347"/>
                    </a:lnTo>
                    <a:lnTo>
                      <a:pt x="506242" y="313664"/>
                    </a:lnTo>
                    <a:lnTo>
                      <a:pt x="502140" y="311289"/>
                    </a:lnTo>
                    <a:lnTo>
                      <a:pt x="497301" y="310362"/>
                    </a:lnTo>
                    <a:close/>
                  </a:path>
                  <a:path w="510539" h="354330">
                    <a:moveTo>
                      <a:pt x="497301" y="0"/>
                    </a:moveTo>
                    <a:lnTo>
                      <a:pt x="12606" y="0"/>
                    </a:lnTo>
                    <a:lnTo>
                      <a:pt x="7767" y="787"/>
                    </a:lnTo>
                    <a:lnTo>
                      <a:pt x="3663" y="3289"/>
                    </a:lnTo>
                    <a:lnTo>
                      <a:pt x="1024" y="6845"/>
                    </a:lnTo>
                    <a:lnTo>
                      <a:pt x="0" y="11328"/>
                    </a:lnTo>
                    <a:lnTo>
                      <a:pt x="0" y="32270"/>
                    </a:lnTo>
                    <a:lnTo>
                      <a:pt x="1024" y="36626"/>
                    </a:lnTo>
                    <a:lnTo>
                      <a:pt x="3663" y="40309"/>
                    </a:lnTo>
                    <a:lnTo>
                      <a:pt x="7767" y="42684"/>
                    </a:lnTo>
                    <a:lnTo>
                      <a:pt x="12606" y="43599"/>
                    </a:lnTo>
                    <a:lnTo>
                      <a:pt x="497301" y="43599"/>
                    </a:lnTo>
                    <a:lnTo>
                      <a:pt x="502140" y="42684"/>
                    </a:lnTo>
                    <a:lnTo>
                      <a:pt x="506242" y="40309"/>
                    </a:lnTo>
                    <a:lnTo>
                      <a:pt x="508883" y="36626"/>
                    </a:lnTo>
                    <a:lnTo>
                      <a:pt x="509912" y="32270"/>
                    </a:lnTo>
                    <a:lnTo>
                      <a:pt x="509912" y="11328"/>
                    </a:lnTo>
                    <a:lnTo>
                      <a:pt x="508883" y="6845"/>
                    </a:lnTo>
                    <a:lnTo>
                      <a:pt x="506242" y="3289"/>
                    </a:lnTo>
                    <a:lnTo>
                      <a:pt x="502140" y="787"/>
                    </a:lnTo>
                    <a:lnTo>
                      <a:pt x="497301" y="0"/>
                    </a:lnTo>
                    <a:close/>
                  </a:path>
                </a:pathLst>
              </a:custGeom>
              <a:solidFill>
                <a:srgbClr val="FF800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28">
                <a:extLst>
                  <a:ext uri="{FF2B5EF4-FFF2-40B4-BE49-F238E27FC236}">
                    <a16:creationId xmlns:a16="http://schemas.microsoft.com/office/drawing/2014/main" id="{3CD4B018-638C-0818-0262-BF948B9B668D}"/>
                  </a:ext>
                </a:extLst>
              </p:cNvPr>
              <p:cNvSpPr/>
              <p:nvPr/>
            </p:nvSpPr>
            <p:spPr>
              <a:xfrm>
                <a:off x="1248524" y="2826473"/>
                <a:ext cx="544830" cy="509905"/>
              </a:xfrm>
              <a:custGeom>
                <a:avLst/>
                <a:gdLst/>
                <a:ahLst/>
                <a:cxnLst/>
                <a:rect l="l" t="t" r="r" b="b"/>
                <a:pathLst>
                  <a:path w="544830" h="509904">
                    <a:moveTo>
                      <a:pt x="358355" y="482155"/>
                    </a:moveTo>
                    <a:lnTo>
                      <a:pt x="186143" y="482155"/>
                    </a:lnTo>
                    <a:lnTo>
                      <a:pt x="179400" y="483209"/>
                    </a:lnTo>
                    <a:lnTo>
                      <a:pt x="173824" y="486105"/>
                    </a:lnTo>
                    <a:lnTo>
                      <a:pt x="170167" y="490448"/>
                    </a:lnTo>
                    <a:lnTo>
                      <a:pt x="168846" y="495719"/>
                    </a:lnTo>
                    <a:lnTo>
                      <a:pt x="170167" y="500989"/>
                    </a:lnTo>
                    <a:lnTo>
                      <a:pt x="173824" y="505332"/>
                    </a:lnTo>
                    <a:lnTo>
                      <a:pt x="179400" y="508228"/>
                    </a:lnTo>
                    <a:lnTo>
                      <a:pt x="186143" y="509282"/>
                    </a:lnTo>
                    <a:lnTo>
                      <a:pt x="358355" y="509282"/>
                    </a:lnTo>
                    <a:lnTo>
                      <a:pt x="365099" y="508228"/>
                    </a:lnTo>
                    <a:lnTo>
                      <a:pt x="370674" y="505332"/>
                    </a:lnTo>
                    <a:lnTo>
                      <a:pt x="374332" y="500989"/>
                    </a:lnTo>
                    <a:lnTo>
                      <a:pt x="375653" y="495719"/>
                    </a:lnTo>
                    <a:lnTo>
                      <a:pt x="374332" y="490448"/>
                    </a:lnTo>
                    <a:lnTo>
                      <a:pt x="370674" y="486105"/>
                    </a:lnTo>
                    <a:lnTo>
                      <a:pt x="365099" y="483209"/>
                    </a:lnTo>
                    <a:lnTo>
                      <a:pt x="358355" y="482155"/>
                    </a:lnTo>
                    <a:close/>
                  </a:path>
                  <a:path w="544830" h="509904">
                    <a:moveTo>
                      <a:pt x="289623" y="413651"/>
                    </a:moveTo>
                    <a:lnTo>
                      <a:pt x="254876" y="413651"/>
                    </a:lnTo>
                    <a:lnTo>
                      <a:pt x="254876" y="482155"/>
                    </a:lnTo>
                    <a:lnTo>
                      <a:pt x="289623" y="482155"/>
                    </a:lnTo>
                    <a:lnTo>
                      <a:pt x="289623" y="413651"/>
                    </a:lnTo>
                    <a:close/>
                  </a:path>
                  <a:path w="544830" h="509904">
                    <a:moveTo>
                      <a:pt x="509917" y="342900"/>
                    </a:moveTo>
                    <a:lnTo>
                      <a:pt x="28143" y="342900"/>
                    </a:lnTo>
                    <a:lnTo>
                      <a:pt x="17148" y="344614"/>
                    </a:lnTo>
                    <a:lnTo>
                      <a:pt x="8208" y="349364"/>
                    </a:lnTo>
                    <a:lnTo>
                      <a:pt x="2198" y="356336"/>
                    </a:lnTo>
                    <a:lnTo>
                      <a:pt x="0" y="365036"/>
                    </a:lnTo>
                    <a:lnTo>
                      <a:pt x="0" y="391515"/>
                    </a:lnTo>
                    <a:lnTo>
                      <a:pt x="2198" y="400215"/>
                    </a:lnTo>
                    <a:lnTo>
                      <a:pt x="8208" y="407187"/>
                    </a:lnTo>
                    <a:lnTo>
                      <a:pt x="17148" y="411937"/>
                    </a:lnTo>
                    <a:lnTo>
                      <a:pt x="28143" y="413651"/>
                    </a:lnTo>
                    <a:lnTo>
                      <a:pt x="516356" y="413651"/>
                    </a:lnTo>
                    <a:lnTo>
                      <a:pt x="527354" y="411937"/>
                    </a:lnTo>
                    <a:lnTo>
                      <a:pt x="536295" y="407187"/>
                    </a:lnTo>
                    <a:lnTo>
                      <a:pt x="542302" y="400215"/>
                    </a:lnTo>
                    <a:lnTo>
                      <a:pt x="544499" y="391515"/>
                    </a:lnTo>
                    <a:lnTo>
                      <a:pt x="544499" y="386511"/>
                    </a:lnTo>
                    <a:lnTo>
                      <a:pt x="34594" y="386511"/>
                    </a:lnTo>
                    <a:lnTo>
                      <a:pt x="34594" y="370039"/>
                    </a:lnTo>
                    <a:lnTo>
                      <a:pt x="509917" y="370039"/>
                    </a:lnTo>
                    <a:lnTo>
                      <a:pt x="509917" y="342900"/>
                    </a:lnTo>
                    <a:close/>
                  </a:path>
                  <a:path w="544830" h="509904">
                    <a:moveTo>
                      <a:pt x="516356" y="342900"/>
                    </a:moveTo>
                    <a:lnTo>
                      <a:pt x="509917" y="342900"/>
                    </a:lnTo>
                    <a:lnTo>
                      <a:pt x="509917" y="386511"/>
                    </a:lnTo>
                    <a:lnTo>
                      <a:pt x="544499" y="386511"/>
                    </a:lnTo>
                    <a:lnTo>
                      <a:pt x="544499" y="365036"/>
                    </a:lnTo>
                    <a:lnTo>
                      <a:pt x="542302" y="356336"/>
                    </a:lnTo>
                    <a:lnTo>
                      <a:pt x="536295" y="349364"/>
                    </a:lnTo>
                    <a:lnTo>
                      <a:pt x="527354" y="344614"/>
                    </a:lnTo>
                    <a:lnTo>
                      <a:pt x="516356" y="342900"/>
                    </a:lnTo>
                    <a:close/>
                  </a:path>
                  <a:path w="544830" h="509904">
                    <a:moveTo>
                      <a:pt x="73139" y="103276"/>
                    </a:moveTo>
                    <a:lnTo>
                      <a:pt x="38404" y="103276"/>
                    </a:lnTo>
                    <a:lnTo>
                      <a:pt x="38404" y="342900"/>
                    </a:lnTo>
                    <a:lnTo>
                      <a:pt x="73139" y="342900"/>
                    </a:lnTo>
                    <a:lnTo>
                      <a:pt x="73139" y="103276"/>
                    </a:lnTo>
                    <a:close/>
                  </a:path>
                  <a:path w="544830" h="509904">
                    <a:moveTo>
                      <a:pt x="506107" y="76009"/>
                    </a:moveTo>
                    <a:lnTo>
                      <a:pt x="471360" y="76009"/>
                    </a:lnTo>
                    <a:lnTo>
                      <a:pt x="471360" y="342900"/>
                    </a:lnTo>
                    <a:lnTo>
                      <a:pt x="506107" y="342900"/>
                    </a:lnTo>
                    <a:lnTo>
                      <a:pt x="506107" y="103276"/>
                    </a:lnTo>
                    <a:lnTo>
                      <a:pt x="516356" y="103276"/>
                    </a:lnTo>
                    <a:lnTo>
                      <a:pt x="527354" y="101561"/>
                    </a:lnTo>
                    <a:lnTo>
                      <a:pt x="536295" y="96824"/>
                    </a:lnTo>
                    <a:lnTo>
                      <a:pt x="542302" y="89712"/>
                    </a:lnTo>
                    <a:lnTo>
                      <a:pt x="544499" y="81152"/>
                    </a:lnTo>
                    <a:lnTo>
                      <a:pt x="544499" y="76136"/>
                    </a:lnTo>
                    <a:lnTo>
                      <a:pt x="506107" y="76136"/>
                    </a:lnTo>
                    <a:lnTo>
                      <a:pt x="506107" y="76009"/>
                    </a:lnTo>
                    <a:close/>
                  </a:path>
                  <a:path w="544830" h="509904">
                    <a:moveTo>
                      <a:pt x="188925" y="195364"/>
                    </a:moveTo>
                    <a:lnTo>
                      <a:pt x="109042" y="287439"/>
                    </a:lnTo>
                    <a:lnTo>
                      <a:pt x="138798" y="301409"/>
                    </a:lnTo>
                    <a:lnTo>
                      <a:pt x="189801" y="234619"/>
                    </a:lnTo>
                    <a:lnTo>
                      <a:pt x="273327" y="234619"/>
                    </a:lnTo>
                    <a:lnTo>
                      <a:pt x="231140" y="234492"/>
                    </a:lnTo>
                    <a:lnTo>
                      <a:pt x="203873" y="201549"/>
                    </a:lnTo>
                    <a:lnTo>
                      <a:pt x="200952" y="198920"/>
                    </a:lnTo>
                    <a:lnTo>
                      <a:pt x="197421" y="196938"/>
                    </a:lnTo>
                    <a:lnTo>
                      <a:pt x="193319" y="195757"/>
                    </a:lnTo>
                    <a:lnTo>
                      <a:pt x="188925" y="195364"/>
                    </a:lnTo>
                    <a:close/>
                  </a:path>
                  <a:path w="544830" h="509904">
                    <a:moveTo>
                      <a:pt x="273327" y="234619"/>
                    </a:moveTo>
                    <a:lnTo>
                      <a:pt x="189801" y="234619"/>
                    </a:lnTo>
                    <a:lnTo>
                      <a:pt x="216039" y="266230"/>
                    </a:lnTo>
                    <a:lnTo>
                      <a:pt x="218681" y="268744"/>
                    </a:lnTo>
                    <a:lnTo>
                      <a:pt x="222199" y="270713"/>
                    </a:lnTo>
                    <a:lnTo>
                      <a:pt x="226009" y="271894"/>
                    </a:lnTo>
                    <a:lnTo>
                      <a:pt x="230263" y="272427"/>
                    </a:lnTo>
                    <a:lnTo>
                      <a:pt x="234505" y="272033"/>
                    </a:lnTo>
                    <a:lnTo>
                      <a:pt x="238467" y="270979"/>
                    </a:lnTo>
                    <a:lnTo>
                      <a:pt x="241985" y="269138"/>
                    </a:lnTo>
                    <a:lnTo>
                      <a:pt x="244767" y="266636"/>
                    </a:lnTo>
                    <a:lnTo>
                      <a:pt x="273327" y="234619"/>
                    </a:lnTo>
                    <a:close/>
                  </a:path>
                  <a:path w="544830" h="509904">
                    <a:moveTo>
                      <a:pt x="371768" y="222757"/>
                    </a:moveTo>
                    <a:lnTo>
                      <a:pt x="283908" y="222757"/>
                    </a:lnTo>
                    <a:lnTo>
                      <a:pt x="312343" y="251345"/>
                    </a:lnTo>
                    <a:lnTo>
                      <a:pt x="314972" y="253453"/>
                    </a:lnTo>
                    <a:lnTo>
                      <a:pt x="318198" y="255041"/>
                    </a:lnTo>
                    <a:lnTo>
                      <a:pt x="321716" y="256095"/>
                    </a:lnTo>
                    <a:lnTo>
                      <a:pt x="325526" y="256489"/>
                    </a:lnTo>
                    <a:lnTo>
                      <a:pt x="329336" y="256349"/>
                    </a:lnTo>
                    <a:lnTo>
                      <a:pt x="332854" y="255435"/>
                    </a:lnTo>
                    <a:lnTo>
                      <a:pt x="336232" y="253987"/>
                    </a:lnTo>
                    <a:lnTo>
                      <a:pt x="339013" y="251879"/>
                    </a:lnTo>
                    <a:lnTo>
                      <a:pt x="371768" y="222757"/>
                    </a:lnTo>
                    <a:close/>
                  </a:path>
                  <a:path w="544830" h="509904">
                    <a:moveTo>
                      <a:pt x="282587" y="186397"/>
                    </a:moveTo>
                    <a:lnTo>
                      <a:pt x="231140" y="234492"/>
                    </a:lnTo>
                    <a:lnTo>
                      <a:pt x="273440" y="234492"/>
                    </a:lnTo>
                    <a:lnTo>
                      <a:pt x="283908" y="222757"/>
                    </a:lnTo>
                    <a:lnTo>
                      <a:pt x="371768" y="222757"/>
                    </a:lnTo>
                    <a:lnTo>
                      <a:pt x="372954" y="221703"/>
                    </a:lnTo>
                    <a:lnTo>
                      <a:pt x="326847" y="221703"/>
                    </a:lnTo>
                    <a:lnTo>
                      <a:pt x="296799" y="191541"/>
                    </a:lnTo>
                    <a:lnTo>
                      <a:pt x="293865" y="189306"/>
                    </a:lnTo>
                    <a:lnTo>
                      <a:pt x="290499" y="187718"/>
                    </a:lnTo>
                    <a:lnTo>
                      <a:pt x="286689" y="186664"/>
                    </a:lnTo>
                    <a:lnTo>
                      <a:pt x="282587" y="186397"/>
                    </a:lnTo>
                    <a:close/>
                  </a:path>
                  <a:path w="544830" h="509904">
                    <a:moveTo>
                      <a:pt x="407606" y="149783"/>
                    </a:moveTo>
                    <a:lnTo>
                      <a:pt x="326847" y="221703"/>
                    </a:lnTo>
                    <a:lnTo>
                      <a:pt x="372954" y="221703"/>
                    </a:lnTo>
                    <a:lnTo>
                      <a:pt x="433692" y="167703"/>
                    </a:lnTo>
                    <a:lnTo>
                      <a:pt x="407606" y="149783"/>
                    </a:lnTo>
                    <a:close/>
                  </a:path>
                  <a:path w="544830" h="509904">
                    <a:moveTo>
                      <a:pt x="509917" y="32537"/>
                    </a:moveTo>
                    <a:lnTo>
                      <a:pt x="28143" y="32537"/>
                    </a:lnTo>
                    <a:lnTo>
                      <a:pt x="17148" y="34251"/>
                    </a:lnTo>
                    <a:lnTo>
                      <a:pt x="8208" y="38988"/>
                    </a:lnTo>
                    <a:lnTo>
                      <a:pt x="2198" y="45974"/>
                    </a:lnTo>
                    <a:lnTo>
                      <a:pt x="0" y="54533"/>
                    </a:lnTo>
                    <a:lnTo>
                      <a:pt x="0" y="81152"/>
                    </a:lnTo>
                    <a:lnTo>
                      <a:pt x="2198" y="89712"/>
                    </a:lnTo>
                    <a:lnTo>
                      <a:pt x="8208" y="96824"/>
                    </a:lnTo>
                    <a:lnTo>
                      <a:pt x="17148" y="101561"/>
                    </a:lnTo>
                    <a:lnTo>
                      <a:pt x="28143" y="103276"/>
                    </a:lnTo>
                    <a:lnTo>
                      <a:pt x="471360" y="103276"/>
                    </a:lnTo>
                    <a:lnTo>
                      <a:pt x="471360" y="76136"/>
                    </a:lnTo>
                    <a:lnTo>
                      <a:pt x="34594" y="76136"/>
                    </a:lnTo>
                    <a:lnTo>
                      <a:pt x="34594" y="59677"/>
                    </a:lnTo>
                    <a:lnTo>
                      <a:pt x="509917" y="59677"/>
                    </a:lnTo>
                    <a:lnTo>
                      <a:pt x="509917" y="32537"/>
                    </a:lnTo>
                    <a:close/>
                  </a:path>
                  <a:path w="544830" h="509904">
                    <a:moveTo>
                      <a:pt x="471360" y="76009"/>
                    </a:moveTo>
                    <a:lnTo>
                      <a:pt x="38404" y="76009"/>
                    </a:lnTo>
                    <a:lnTo>
                      <a:pt x="38404" y="76136"/>
                    </a:lnTo>
                    <a:lnTo>
                      <a:pt x="471360" y="76136"/>
                    </a:lnTo>
                    <a:lnTo>
                      <a:pt x="471360" y="76009"/>
                    </a:lnTo>
                    <a:close/>
                  </a:path>
                  <a:path w="544830" h="509904">
                    <a:moveTo>
                      <a:pt x="516356" y="32537"/>
                    </a:moveTo>
                    <a:lnTo>
                      <a:pt x="509917" y="32537"/>
                    </a:lnTo>
                    <a:lnTo>
                      <a:pt x="509917" y="76136"/>
                    </a:lnTo>
                    <a:lnTo>
                      <a:pt x="544499" y="76136"/>
                    </a:lnTo>
                    <a:lnTo>
                      <a:pt x="544499" y="54533"/>
                    </a:lnTo>
                    <a:lnTo>
                      <a:pt x="542302" y="45974"/>
                    </a:lnTo>
                    <a:lnTo>
                      <a:pt x="536295" y="38988"/>
                    </a:lnTo>
                    <a:lnTo>
                      <a:pt x="527354" y="34251"/>
                    </a:lnTo>
                    <a:lnTo>
                      <a:pt x="516356" y="32537"/>
                    </a:lnTo>
                    <a:close/>
                  </a:path>
                  <a:path w="544830" h="509904">
                    <a:moveTo>
                      <a:pt x="272326" y="0"/>
                    </a:moveTo>
                    <a:lnTo>
                      <a:pt x="265442" y="1054"/>
                    </a:lnTo>
                    <a:lnTo>
                      <a:pt x="260007" y="4076"/>
                    </a:lnTo>
                    <a:lnTo>
                      <a:pt x="256197" y="8293"/>
                    </a:lnTo>
                    <a:lnTo>
                      <a:pt x="254876" y="13563"/>
                    </a:lnTo>
                    <a:lnTo>
                      <a:pt x="254876" y="32537"/>
                    </a:lnTo>
                    <a:lnTo>
                      <a:pt x="289623" y="32537"/>
                    </a:lnTo>
                    <a:lnTo>
                      <a:pt x="289623" y="13563"/>
                    </a:lnTo>
                    <a:lnTo>
                      <a:pt x="288302" y="8293"/>
                    </a:lnTo>
                    <a:lnTo>
                      <a:pt x="284492" y="4076"/>
                    </a:lnTo>
                    <a:lnTo>
                      <a:pt x="279069" y="1054"/>
                    </a:lnTo>
                    <a:lnTo>
                      <a:pt x="272326" y="0"/>
                    </a:lnTo>
                    <a:close/>
                  </a:path>
                </a:pathLst>
              </a:custGeom>
              <a:solidFill>
                <a:srgbClr val="4D1F03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D99EFDD-F0F0-A006-C954-D7811CB01008}"/>
              </a:ext>
            </a:extLst>
          </p:cNvPr>
          <p:cNvGrpSpPr/>
          <p:nvPr/>
        </p:nvGrpSpPr>
        <p:grpSpPr>
          <a:xfrm>
            <a:off x="478821" y="2245069"/>
            <a:ext cx="8290066" cy="3505032"/>
            <a:chOff x="4030830" y="3645911"/>
            <a:chExt cx="8290066" cy="3505032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B6EA4F23-EF07-D2BC-EF81-C9C05E4C99FC}"/>
                </a:ext>
              </a:extLst>
            </p:cNvPr>
            <p:cNvGrpSpPr/>
            <p:nvPr/>
          </p:nvGrpSpPr>
          <p:grpSpPr>
            <a:xfrm>
              <a:off x="4030830" y="3645911"/>
              <a:ext cx="8290066" cy="3505032"/>
              <a:chOff x="4076019" y="2115592"/>
              <a:chExt cx="8290066" cy="3505032"/>
            </a:xfrm>
          </p:grpSpPr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A8AB6A8C-7851-F87D-6227-1CCE1E8FC5C9}"/>
                  </a:ext>
                </a:extLst>
              </p:cNvPr>
              <p:cNvSpPr/>
              <p:nvPr/>
            </p:nvSpPr>
            <p:spPr>
              <a:xfrm>
                <a:off x="8066166" y="3351233"/>
                <a:ext cx="3574608" cy="226939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94BA8187-2B9E-6C43-788E-BD2122ED74AB}"/>
                  </a:ext>
                </a:extLst>
              </p:cNvPr>
              <p:cNvSpPr/>
              <p:nvPr/>
            </p:nvSpPr>
            <p:spPr>
              <a:xfrm>
                <a:off x="8066166" y="2115592"/>
                <a:ext cx="3574608" cy="109078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D23C46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98AA9F4F-0BB9-4EBC-3103-DDD6DDB882C1}"/>
                  </a:ext>
                </a:extLst>
              </p:cNvPr>
              <p:cNvSpPr/>
              <p:nvPr/>
            </p:nvSpPr>
            <p:spPr>
              <a:xfrm>
                <a:off x="4163904" y="2628642"/>
                <a:ext cx="3540197" cy="109078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D23C46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65" name="object 11">
                <a:extLst>
                  <a:ext uri="{FF2B5EF4-FFF2-40B4-BE49-F238E27FC236}">
                    <a16:creationId xmlns:a16="http://schemas.microsoft.com/office/drawing/2014/main" id="{3C3DEE5A-BD93-E377-CEFB-EFC68755666A}"/>
                  </a:ext>
                </a:extLst>
              </p:cNvPr>
              <p:cNvSpPr txBox="1"/>
              <p:nvPr/>
            </p:nvSpPr>
            <p:spPr>
              <a:xfrm>
                <a:off x="5058353" y="3030069"/>
                <a:ext cx="3023235" cy="32060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90245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b="1" spc="-140" dirty="0">
                    <a:solidFill>
                      <a:srgbClr val="D23C46"/>
                    </a:solidFill>
                    <a:latin typeface="+mj-lt"/>
                    <a:cs typeface="Trebuchet MS"/>
                  </a:rPr>
                  <a:t>Participación</a:t>
                </a:r>
                <a:endParaRPr sz="2000" b="1" dirty="0">
                  <a:solidFill>
                    <a:srgbClr val="D23C46"/>
                  </a:solidFill>
                  <a:latin typeface="+mj-lt"/>
                  <a:cs typeface="Trebuchet MS"/>
                </a:endParaRPr>
              </a:p>
            </p:txBody>
          </p:sp>
          <p:sp>
            <p:nvSpPr>
              <p:cNvPr id="77" name="object 29">
                <a:extLst>
                  <a:ext uri="{FF2B5EF4-FFF2-40B4-BE49-F238E27FC236}">
                    <a16:creationId xmlns:a16="http://schemas.microsoft.com/office/drawing/2014/main" id="{71A87095-E206-FFEA-B1F4-EF7EDCF99B87}"/>
                  </a:ext>
                </a:extLst>
              </p:cNvPr>
              <p:cNvSpPr/>
              <p:nvPr/>
            </p:nvSpPr>
            <p:spPr>
              <a:xfrm>
                <a:off x="4610783" y="2736414"/>
                <a:ext cx="927845" cy="860932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78" name="Rectángulo 77">
                <a:extLst>
                  <a:ext uri="{FF2B5EF4-FFF2-40B4-BE49-F238E27FC236}">
                    <a16:creationId xmlns:a16="http://schemas.microsoft.com/office/drawing/2014/main" id="{AC00CA30-DD32-C5EF-905E-251C7175B073}"/>
                  </a:ext>
                </a:extLst>
              </p:cNvPr>
              <p:cNvSpPr/>
              <p:nvPr/>
            </p:nvSpPr>
            <p:spPr>
              <a:xfrm>
                <a:off x="4129493" y="3872967"/>
                <a:ext cx="3574608" cy="162486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50000"/>
                  </a:schemeClr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4702002E-784F-563D-035B-1AB3C6405125}"/>
                  </a:ext>
                </a:extLst>
              </p:cNvPr>
              <p:cNvSpPr txBox="1"/>
              <p:nvPr/>
            </p:nvSpPr>
            <p:spPr>
              <a:xfrm>
                <a:off x="4076019" y="4042712"/>
                <a:ext cx="4134239" cy="1310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56540" marR="537845" indent="-171450">
                  <a:lnSpc>
                    <a:spcPts val="1800"/>
                  </a:lnSpc>
                  <a:spcBef>
                    <a:spcPts val="525"/>
                  </a:spcBef>
                  <a:buChar char="•"/>
                  <a:tabLst>
                    <a:tab pos="257175" algn="l"/>
                  </a:tabLst>
                </a:pPr>
                <a:r>
                  <a:rPr lang="es-MX" sz="1600" spc="-6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Promover </a:t>
                </a:r>
                <a:r>
                  <a:rPr lang="es-MX" sz="1600" spc="-6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y </a:t>
                </a:r>
                <a:r>
                  <a:rPr lang="es-MX" sz="1600" spc="-8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establecer  </a:t>
                </a:r>
                <a:r>
                  <a:rPr lang="es-MX" sz="1600" spc="-7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instancias </a:t>
                </a:r>
                <a:r>
                  <a:rPr lang="es-MX" sz="1600" spc="-7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de</a:t>
                </a:r>
                <a:r>
                  <a:rPr lang="es-MX" sz="1600" spc="-22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 </a:t>
                </a:r>
                <a:r>
                  <a:rPr lang="es-MX" sz="1600" spc="-8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participación.</a:t>
                </a:r>
              </a:p>
              <a:p>
                <a:pPr marL="256540" marR="537845" indent="-171450">
                  <a:lnSpc>
                    <a:spcPts val="1800"/>
                  </a:lnSpc>
                  <a:spcBef>
                    <a:spcPts val="525"/>
                  </a:spcBef>
                  <a:buChar char="•"/>
                  <a:tabLst>
                    <a:tab pos="257175" algn="l"/>
                  </a:tabLst>
                </a:pPr>
                <a:r>
                  <a:rPr lang="es-MX" sz="1600" spc="-8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Coordinar interinstitucionalmente la realización de espacios de participación campesinas. </a:t>
                </a:r>
              </a:p>
            </p:txBody>
          </p:sp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65BC83F7-4C4C-2EDA-1F49-D2CA5E320EFD}"/>
                  </a:ext>
                </a:extLst>
              </p:cNvPr>
              <p:cNvSpPr txBox="1"/>
              <p:nvPr/>
            </p:nvSpPr>
            <p:spPr>
              <a:xfrm>
                <a:off x="8028478" y="3520434"/>
                <a:ext cx="3755852" cy="1994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56540" marR="494665" indent="-171450">
                  <a:lnSpc>
                    <a:spcPct val="92100"/>
                  </a:lnSpc>
                  <a:spcBef>
                    <a:spcPts val="515"/>
                  </a:spcBef>
                  <a:buChar char="•"/>
                  <a:tabLst>
                    <a:tab pos="257175" algn="l"/>
                  </a:tabLst>
                </a:pPr>
                <a:r>
                  <a:rPr lang="es-MX" sz="1600" spc="-6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Instar </a:t>
                </a:r>
                <a:r>
                  <a:rPr lang="es-MX" sz="1600" spc="-7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a las </a:t>
                </a:r>
                <a:r>
                  <a:rPr lang="es-MX" sz="1600" spc="-6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gobernaciones</a:t>
                </a:r>
                <a:r>
                  <a:rPr lang="es-MX" sz="1600" spc="-34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      </a:t>
                </a:r>
                <a:r>
                  <a:rPr lang="es-MX" sz="1600" spc="-6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y  </a:t>
                </a:r>
                <a:r>
                  <a:rPr lang="es-MX" sz="1600" spc="-8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alcaldías </a:t>
                </a:r>
                <a:r>
                  <a:rPr lang="es-MX" sz="1600" spc="-6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en </a:t>
                </a:r>
                <a:r>
                  <a:rPr lang="es-MX" sz="1600" spc="-9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la </a:t>
                </a:r>
                <a:r>
                  <a:rPr lang="es-MX" sz="1600" spc="-7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adecuada  </a:t>
                </a:r>
                <a:r>
                  <a:rPr lang="es-MX" sz="1600" spc="-7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atención a </a:t>
                </a:r>
                <a:r>
                  <a:rPr lang="es-MX" sz="1600" spc="-9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la </a:t>
                </a:r>
                <a:r>
                  <a:rPr lang="es-MX" sz="1600" spc="-6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población  </a:t>
                </a:r>
                <a:r>
                  <a:rPr lang="es-MX" sz="1600" spc="-8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campesina.</a:t>
                </a:r>
                <a:endParaRPr lang="es-MX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endParaRPr>
              </a:p>
              <a:p>
                <a:pPr marL="256540" marR="187325" indent="-171450">
                  <a:lnSpc>
                    <a:spcPct val="90600"/>
                  </a:lnSpc>
                  <a:spcBef>
                    <a:spcPts val="375"/>
                  </a:spcBef>
                  <a:buChar char="•"/>
                  <a:tabLst>
                    <a:tab pos="257175" algn="l"/>
                  </a:tabLst>
                </a:pPr>
                <a:r>
                  <a:rPr lang="es-MX" sz="1600" spc="-6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Promover </a:t>
                </a:r>
                <a:r>
                  <a:rPr lang="es-MX" sz="1600" spc="-9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el </a:t>
                </a:r>
                <a:r>
                  <a:rPr lang="es-MX" sz="1600" spc="-6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diálogo </a:t>
                </a:r>
                <a:r>
                  <a:rPr lang="es-MX" sz="1600" spc="-5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amistoso </a:t>
                </a:r>
                <a:r>
                  <a:rPr lang="es-MX" sz="1600" spc="-34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 </a:t>
                </a:r>
                <a:r>
                  <a:rPr lang="es-MX" sz="1600" spc="-65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y  formas de resolución de  </a:t>
                </a:r>
                <a:r>
                  <a:rPr lang="es-MX" sz="1600" spc="-9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conflictos.</a:t>
                </a:r>
              </a:p>
              <a:p>
                <a:pPr marL="256540" marR="187325" indent="-171450">
                  <a:lnSpc>
                    <a:spcPct val="90600"/>
                  </a:lnSpc>
                  <a:spcBef>
                    <a:spcPts val="375"/>
                  </a:spcBef>
                  <a:buChar char="•"/>
                  <a:tabLst>
                    <a:tab pos="257175" algn="l"/>
                  </a:tabLst>
                </a:pPr>
                <a:r>
                  <a:rPr lang="es-MX" sz="1600" spc="-9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Trebuchet MS"/>
                  </a:rPr>
                  <a:t>Coordinar interinstitucionalmente las sesiones de espacios de diálogo, concertación e interlocución. </a:t>
                </a:r>
                <a:endParaRPr lang="es-MX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Trebuchet MS"/>
                </a:endParaRPr>
              </a:p>
            </p:txBody>
          </p:sp>
          <p:sp>
            <p:nvSpPr>
              <p:cNvPr id="81" name="object 16">
                <a:extLst>
                  <a:ext uri="{FF2B5EF4-FFF2-40B4-BE49-F238E27FC236}">
                    <a16:creationId xmlns:a16="http://schemas.microsoft.com/office/drawing/2014/main" id="{F3416898-CB98-DC72-8A98-D72884717D4C}"/>
                  </a:ext>
                </a:extLst>
              </p:cNvPr>
              <p:cNvSpPr txBox="1"/>
              <p:nvPr/>
            </p:nvSpPr>
            <p:spPr>
              <a:xfrm>
                <a:off x="8738329" y="2319858"/>
                <a:ext cx="3627756" cy="698781"/>
              </a:xfrm>
              <a:prstGeom prst="rect">
                <a:avLst/>
              </a:prstGeom>
            </p:spPr>
            <p:txBody>
              <a:bodyPr vert="horz" wrap="square" lIns="0" tIns="51435" rIns="0" bIns="0" rtlCol="0">
                <a:spAutoFit/>
              </a:bodyPr>
              <a:lstStyle/>
              <a:p>
                <a:pPr marL="690880" marR="636905" indent="-46355">
                  <a:lnSpc>
                    <a:spcPts val="2620"/>
                  </a:lnSpc>
                  <a:spcBef>
                    <a:spcPts val="405"/>
                  </a:spcBef>
                </a:pPr>
                <a:r>
                  <a:rPr sz="2000" b="1" spc="-135" dirty="0" err="1">
                    <a:solidFill>
                      <a:srgbClr val="D23C46"/>
                    </a:solidFill>
                    <a:latin typeface="+mj-lt"/>
                    <a:cs typeface="Trebuchet MS"/>
                  </a:rPr>
                  <a:t>Articulación</a:t>
                </a:r>
                <a:r>
                  <a:rPr sz="2000" b="1" spc="-265" dirty="0">
                    <a:solidFill>
                      <a:srgbClr val="D23C46"/>
                    </a:solidFill>
                    <a:latin typeface="+mj-lt"/>
                    <a:cs typeface="Trebuchet MS"/>
                  </a:rPr>
                  <a:t> </a:t>
                </a:r>
                <a:r>
                  <a:rPr lang="es-MX" sz="2000" b="1" spc="-265" dirty="0">
                    <a:solidFill>
                      <a:srgbClr val="D23C46"/>
                    </a:solidFill>
                    <a:latin typeface="+mj-lt"/>
                    <a:cs typeface="Trebuchet MS"/>
                  </a:rPr>
                  <a:t> </a:t>
                </a:r>
                <a:r>
                  <a:rPr sz="2000" b="1" spc="-145" dirty="0">
                    <a:solidFill>
                      <a:srgbClr val="D23C46"/>
                    </a:solidFill>
                    <a:latin typeface="+mj-lt"/>
                    <a:cs typeface="Trebuchet MS"/>
                  </a:rPr>
                  <a:t>y  </a:t>
                </a:r>
                <a:r>
                  <a:rPr sz="2000" b="1" spc="-135" dirty="0">
                    <a:solidFill>
                      <a:srgbClr val="D23C46"/>
                    </a:solidFill>
                    <a:latin typeface="+mj-lt"/>
                    <a:cs typeface="Trebuchet MS"/>
                  </a:rPr>
                  <a:t>coordinación</a:t>
                </a:r>
                <a:endParaRPr sz="2000" b="1" dirty="0">
                  <a:solidFill>
                    <a:srgbClr val="D23C46"/>
                  </a:solidFill>
                  <a:latin typeface="+mj-lt"/>
                  <a:cs typeface="Trebuchet MS"/>
                </a:endParaRPr>
              </a:p>
            </p:txBody>
          </p:sp>
        </p:grpSp>
        <p:grpSp>
          <p:nvGrpSpPr>
            <p:cNvPr id="66" name="object 18">
              <a:extLst>
                <a:ext uri="{FF2B5EF4-FFF2-40B4-BE49-F238E27FC236}">
                  <a16:creationId xmlns:a16="http://schemas.microsoft.com/office/drawing/2014/main" id="{597BDFAA-520C-25D4-9DAF-0E4B1FD5D499}"/>
                </a:ext>
              </a:extLst>
            </p:cNvPr>
            <p:cNvGrpSpPr/>
            <p:nvPr/>
          </p:nvGrpSpPr>
          <p:grpSpPr>
            <a:xfrm>
              <a:off x="8444537" y="3744700"/>
              <a:ext cx="497205" cy="744220"/>
              <a:chOff x="8252803" y="2686786"/>
              <a:chExt cx="497205" cy="744220"/>
            </a:xfrm>
          </p:grpSpPr>
          <p:sp>
            <p:nvSpPr>
              <p:cNvPr id="67" name="object 19">
                <a:extLst>
                  <a:ext uri="{FF2B5EF4-FFF2-40B4-BE49-F238E27FC236}">
                    <a16:creationId xmlns:a16="http://schemas.microsoft.com/office/drawing/2014/main" id="{17601446-C9D3-72AF-0A02-94D17C53661F}"/>
                  </a:ext>
                </a:extLst>
              </p:cNvPr>
              <p:cNvSpPr/>
              <p:nvPr/>
            </p:nvSpPr>
            <p:spPr>
              <a:xfrm>
                <a:off x="8271853" y="2771241"/>
                <a:ext cx="459105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459104" h="641350">
                    <a:moveTo>
                      <a:pt x="459104" y="0"/>
                    </a:moveTo>
                    <a:lnTo>
                      <a:pt x="0" y="0"/>
                    </a:lnTo>
                    <a:lnTo>
                      <a:pt x="0" y="641350"/>
                    </a:lnTo>
                    <a:lnTo>
                      <a:pt x="459104" y="641350"/>
                    </a:lnTo>
                    <a:lnTo>
                      <a:pt x="459104" y="0"/>
                    </a:lnTo>
                    <a:close/>
                  </a:path>
                </a:pathLst>
              </a:custGeom>
              <a:solidFill>
                <a:srgbClr val="F7DC4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20">
                <a:extLst>
                  <a:ext uri="{FF2B5EF4-FFF2-40B4-BE49-F238E27FC236}">
                    <a16:creationId xmlns:a16="http://schemas.microsoft.com/office/drawing/2014/main" id="{A9312775-F343-2E0B-AC0A-447692D882D4}"/>
                  </a:ext>
                </a:extLst>
              </p:cNvPr>
              <p:cNvSpPr/>
              <p:nvPr/>
            </p:nvSpPr>
            <p:spPr>
              <a:xfrm>
                <a:off x="8252803" y="2752191"/>
                <a:ext cx="497205" cy="678815"/>
              </a:xfrm>
              <a:custGeom>
                <a:avLst/>
                <a:gdLst/>
                <a:ahLst/>
                <a:cxnLst/>
                <a:rect l="l" t="t" r="r" b="b"/>
                <a:pathLst>
                  <a:path w="497204" h="678814">
                    <a:moveTo>
                      <a:pt x="478154" y="0"/>
                    </a:moveTo>
                    <a:lnTo>
                      <a:pt x="19050" y="0"/>
                    </a:lnTo>
                    <a:lnTo>
                      <a:pt x="11429" y="1269"/>
                    </a:lnTo>
                    <a:lnTo>
                      <a:pt x="5715" y="5079"/>
                    </a:lnTo>
                    <a:lnTo>
                      <a:pt x="1270" y="11429"/>
                    </a:lnTo>
                    <a:lnTo>
                      <a:pt x="0" y="19050"/>
                    </a:lnTo>
                    <a:lnTo>
                      <a:pt x="0" y="659764"/>
                    </a:lnTo>
                    <a:lnTo>
                      <a:pt x="1270" y="667384"/>
                    </a:lnTo>
                    <a:lnTo>
                      <a:pt x="5715" y="673100"/>
                    </a:lnTo>
                    <a:lnTo>
                      <a:pt x="11429" y="677544"/>
                    </a:lnTo>
                    <a:lnTo>
                      <a:pt x="19050" y="678814"/>
                    </a:lnTo>
                    <a:lnTo>
                      <a:pt x="478154" y="678814"/>
                    </a:lnTo>
                    <a:lnTo>
                      <a:pt x="485775" y="677544"/>
                    </a:lnTo>
                    <a:lnTo>
                      <a:pt x="491490" y="673100"/>
                    </a:lnTo>
                    <a:lnTo>
                      <a:pt x="495934" y="667384"/>
                    </a:lnTo>
                    <a:lnTo>
                      <a:pt x="497204" y="659764"/>
                    </a:lnTo>
                    <a:lnTo>
                      <a:pt x="497204" y="640714"/>
                    </a:lnTo>
                    <a:lnTo>
                      <a:pt x="38100" y="640714"/>
                    </a:lnTo>
                    <a:lnTo>
                      <a:pt x="38100" y="38100"/>
                    </a:lnTo>
                    <a:lnTo>
                      <a:pt x="497204" y="38100"/>
                    </a:lnTo>
                    <a:lnTo>
                      <a:pt x="497204" y="19050"/>
                    </a:lnTo>
                    <a:lnTo>
                      <a:pt x="495934" y="11429"/>
                    </a:lnTo>
                    <a:lnTo>
                      <a:pt x="491490" y="5079"/>
                    </a:lnTo>
                    <a:lnTo>
                      <a:pt x="485775" y="1269"/>
                    </a:lnTo>
                    <a:lnTo>
                      <a:pt x="478154" y="0"/>
                    </a:lnTo>
                    <a:close/>
                  </a:path>
                  <a:path w="497204" h="678814">
                    <a:moveTo>
                      <a:pt x="497204" y="38100"/>
                    </a:moveTo>
                    <a:lnTo>
                      <a:pt x="459104" y="38100"/>
                    </a:lnTo>
                    <a:lnTo>
                      <a:pt x="459104" y="640714"/>
                    </a:lnTo>
                    <a:lnTo>
                      <a:pt x="497204" y="640714"/>
                    </a:lnTo>
                    <a:lnTo>
                      <a:pt x="497204" y="38100"/>
                    </a:lnTo>
                    <a:close/>
                  </a:path>
                </a:pathLst>
              </a:custGeom>
              <a:solidFill>
                <a:srgbClr val="1D005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21">
                <a:extLst>
                  <a:ext uri="{FF2B5EF4-FFF2-40B4-BE49-F238E27FC236}">
                    <a16:creationId xmlns:a16="http://schemas.microsoft.com/office/drawing/2014/main" id="{C8E211EE-D814-A31B-E29F-4F61A1912E70}"/>
                  </a:ext>
                </a:extLst>
              </p:cNvPr>
              <p:cNvSpPr/>
              <p:nvPr/>
            </p:nvSpPr>
            <p:spPr>
              <a:xfrm>
                <a:off x="8330273" y="2826486"/>
                <a:ext cx="341630" cy="509270"/>
              </a:xfrm>
              <a:custGeom>
                <a:avLst/>
                <a:gdLst/>
                <a:ahLst/>
                <a:cxnLst/>
                <a:rect l="l" t="t" r="r" b="b"/>
                <a:pathLst>
                  <a:path w="341629" h="509270">
                    <a:moveTo>
                      <a:pt x="341629" y="0"/>
                    </a:moveTo>
                    <a:lnTo>
                      <a:pt x="0" y="0"/>
                    </a:lnTo>
                    <a:lnTo>
                      <a:pt x="0" y="509270"/>
                    </a:lnTo>
                    <a:lnTo>
                      <a:pt x="341629" y="509270"/>
                    </a:lnTo>
                    <a:lnTo>
                      <a:pt x="341629" y="0"/>
                    </a:lnTo>
                    <a:close/>
                  </a:path>
                </a:pathLst>
              </a:custGeom>
              <a:solidFill>
                <a:srgbClr val="FCFCB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22">
                <a:extLst>
                  <a:ext uri="{FF2B5EF4-FFF2-40B4-BE49-F238E27FC236}">
                    <a16:creationId xmlns:a16="http://schemas.microsoft.com/office/drawing/2014/main" id="{3C5EAF9D-B659-D68E-1889-77746D82C318}"/>
                  </a:ext>
                </a:extLst>
              </p:cNvPr>
              <p:cNvSpPr/>
              <p:nvPr/>
            </p:nvSpPr>
            <p:spPr>
              <a:xfrm>
                <a:off x="8311223" y="2686786"/>
                <a:ext cx="379095" cy="667385"/>
              </a:xfrm>
              <a:custGeom>
                <a:avLst/>
                <a:gdLst/>
                <a:ahLst/>
                <a:cxnLst/>
                <a:rect l="l" t="t" r="r" b="b"/>
                <a:pathLst>
                  <a:path w="379095" h="667385">
                    <a:moveTo>
                      <a:pt x="214629" y="0"/>
                    </a:moveTo>
                    <a:lnTo>
                      <a:pt x="167004" y="0"/>
                    </a:lnTo>
                    <a:lnTo>
                      <a:pt x="147320" y="2539"/>
                    </a:lnTo>
                    <a:lnTo>
                      <a:pt x="130175" y="10160"/>
                    </a:lnTo>
                    <a:lnTo>
                      <a:pt x="116204" y="22225"/>
                    </a:lnTo>
                    <a:lnTo>
                      <a:pt x="106679" y="37464"/>
                    </a:lnTo>
                    <a:lnTo>
                      <a:pt x="92709" y="72389"/>
                    </a:lnTo>
                    <a:lnTo>
                      <a:pt x="128270" y="86360"/>
                    </a:lnTo>
                    <a:lnTo>
                      <a:pt x="142239" y="52070"/>
                    </a:lnTo>
                    <a:lnTo>
                      <a:pt x="146050" y="46355"/>
                    </a:lnTo>
                    <a:lnTo>
                      <a:pt x="151764" y="41910"/>
                    </a:lnTo>
                    <a:lnTo>
                      <a:pt x="158750" y="39370"/>
                    </a:lnTo>
                    <a:lnTo>
                      <a:pt x="167004" y="38100"/>
                    </a:lnTo>
                    <a:lnTo>
                      <a:pt x="274578" y="38100"/>
                    </a:lnTo>
                    <a:lnTo>
                      <a:pt x="267334" y="24130"/>
                    </a:lnTo>
                    <a:lnTo>
                      <a:pt x="253364" y="11430"/>
                    </a:lnTo>
                    <a:lnTo>
                      <a:pt x="235584" y="3175"/>
                    </a:lnTo>
                    <a:lnTo>
                      <a:pt x="214629" y="0"/>
                    </a:lnTo>
                    <a:close/>
                  </a:path>
                  <a:path w="379095" h="667385">
                    <a:moveTo>
                      <a:pt x="274578" y="38100"/>
                    </a:moveTo>
                    <a:lnTo>
                      <a:pt x="214629" y="38100"/>
                    </a:lnTo>
                    <a:lnTo>
                      <a:pt x="223520" y="39370"/>
                    </a:lnTo>
                    <a:lnTo>
                      <a:pt x="230504" y="42545"/>
                    </a:lnTo>
                    <a:lnTo>
                      <a:pt x="236220" y="46989"/>
                    </a:lnTo>
                    <a:lnTo>
                      <a:pt x="240029" y="53339"/>
                    </a:lnTo>
                    <a:lnTo>
                      <a:pt x="250189" y="85089"/>
                    </a:lnTo>
                    <a:lnTo>
                      <a:pt x="287020" y="73660"/>
                    </a:lnTo>
                    <a:lnTo>
                      <a:pt x="276225" y="41275"/>
                    </a:lnTo>
                    <a:lnTo>
                      <a:pt x="274578" y="38100"/>
                    </a:lnTo>
                    <a:close/>
                  </a:path>
                  <a:path w="379095" h="667385">
                    <a:moveTo>
                      <a:pt x="340995" y="120650"/>
                    </a:moveTo>
                    <a:lnTo>
                      <a:pt x="37464" y="120650"/>
                    </a:lnTo>
                    <a:lnTo>
                      <a:pt x="22859" y="123825"/>
                    </a:lnTo>
                    <a:lnTo>
                      <a:pt x="10795" y="131445"/>
                    </a:lnTo>
                    <a:lnTo>
                      <a:pt x="2539" y="143510"/>
                    </a:lnTo>
                    <a:lnTo>
                      <a:pt x="0" y="158114"/>
                    </a:lnTo>
                    <a:lnTo>
                      <a:pt x="0" y="629920"/>
                    </a:lnTo>
                    <a:lnTo>
                      <a:pt x="2539" y="644525"/>
                    </a:lnTo>
                    <a:lnTo>
                      <a:pt x="10795" y="656589"/>
                    </a:lnTo>
                    <a:lnTo>
                      <a:pt x="22859" y="664845"/>
                    </a:lnTo>
                    <a:lnTo>
                      <a:pt x="37464" y="667385"/>
                    </a:lnTo>
                    <a:lnTo>
                      <a:pt x="341629" y="667385"/>
                    </a:lnTo>
                    <a:lnTo>
                      <a:pt x="356234" y="664845"/>
                    </a:lnTo>
                    <a:lnTo>
                      <a:pt x="368300" y="656589"/>
                    </a:lnTo>
                    <a:lnTo>
                      <a:pt x="376554" y="644525"/>
                    </a:lnTo>
                    <a:lnTo>
                      <a:pt x="379095" y="629920"/>
                    </a:lnTo>
                    <a:lnTo>
                      <a:pt x="379095" y="629285"/>
                    </a:lnTo>
                    <a:lnTo>
                      <a:pt x="38100" y="629285"/>
                    </a:lnTo>
                    <a:lnTo>
                      <a:pt x="38100" y="158750"/>
                    </a:lnTo>
                    <a:lnTo>
                      <a:pt x="340995" y="158750"/>
                    </a:lnTo>
                    <a:lnTo>
                      <a:pt x="340995" y="120650"/>
                    </a:lnTo>
                    <a:close/>
                  </a:path>
                  <a:path w="379095" h="667385">
                    <a:moveTo>
                      <a:pt x="341629" y="120650"/>
                    </a:moveTo>
                    <a:lnTo>
                      <a:pt x="340995" y="120650"/>
                    </a:lnTo>
                    <a:lnTo>
                      <a:pt x="340995" y="629285"/>
                    </a:lnTo>
                    <a:lnTo>
                      <a:pt x="379095" y="629285"/>
                    </a:lnTo>
                    <a:lnTo>
                      <a:pt x="379095" y="158114"/>
                    </a:lnTo>
                    <a:lnTo>
                      <a:pt x="376554" y="143510"/>
                    </a:lnTo>
                    <a:lnTo>
                      <a:pt x="368300" y="131445"/>
                    </a:lnTo>
                    <a:lnTo>
                      <a:pt x="356234" y="123825"/>
                    </a:lnTo>
                    <a:lnTo>
                      <a:pt x="341629" y="120650"/>
                    </a:lnTo>
                    <a:close/>
                  </a:path>
                </a:pathLst>
              </a:custGeom>
              <a:solidFill>
                <a:srgbClr val="1D005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23">
                <a:extLst>
                  <a:ext uri="{FF2B5EF4-FFF2-40B4-BE49-F238E27FC236}">
                    <a16:creationId xmlns:a16="http://schemas.microsoft.com/office/drawing/2014/main" id="{85FEFABA-D3FD-B93C-C783-39EBBD41A325}"/>
                  </a:ext>
                </a:extLst>
              </p:cNvPr>
              <p:cNvSpPr/>
              <p:nvPr/>
            </p:nvSpPr>
            <p:spPr>
              <a:xfrm>
                <a:off x="8377898" y="2766161"/>
                <a:ext cx="24701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247015" h="113030">
                    <a:moveTo>
                      <a:pt x="247015" y="0"/>
                    </a:moveTo>
                    <a:lnTo>
                      <a:pt x="0" y="0"/>
                    </a:lnTo>
                    <a:lnTo>
                      <a:pt x="0" y="113029"/>
                    </a:lnTo>
                    <a:lnTo>
                      <a:pt x="247015" y="113029"/>
                    </a:lnTo>
                    <a:lnTo>
                      <a:pt x="247015" y="0"/>
                    </a:lnTo>
                    <a:close/>
                  </a:path>
                </a:pathLst>
              </a:custGeom>
              <a:solidFill>
                <a:srgbClr val="AEC4D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24">
                <a:extLst>
                  <a:ext uri="{FF2B5EF4-FFF2-40B4-BE49-F238E27FC236}">
                    <a16:creationId xmlns:a16="http://schemas.microsoft.com/office/drawing/2014/main" id="{B8084756-D424-061B-C32C-C8F5719947F9}"/>
                  </a:ext>
                </a:extLst>
              </p:cNvPr>
              <p:cNvSpPr/>
              <p:nvPr/>
            </p:nvSpPr>
            <p:spPr>
              <a:xfrm>
                <a:off x="8358848" y="2747111"/>
                <a:ext cx="285115" cy="473075"/>
              </a:xfrm>
              <a:custGeom>
                <a:avLst/>
                <a:gdLst/>
                <a:ahLst/>
                <a:cxnLst/>
                <a:rect l="l" t="t" r="r" b="b"/>
                <a:pathLst>
                  <a:path w="285115" h="473075">
                    <a:moveTo>
                      <a:pt x="38100" y="441325"/>
                    </a:moveTo>
                    <a:lnTo>
                      <a:pt x="26670" y="446405"/>
                    </a:lnTo>
                    <a:lnTo>
                      <a:pt x="22859" y="457200"/>
                    </a:lnTo>
                    <a:lnTo>
                      <a:pt x="26670" y="467995"/>
                    </a:lnTo>
                    <a:lnTo>
                      <a:pt x="38100" y="473075"/>
                    </a:lnTo>
                    <a:lnTo>
                      <a:pt x="49529" y="467995"/>
                    </a:lnTo>
                    <a:lnTo>
                      <a:pt x="53339" y="457200"/>
                    </a:lnTo>
                    <a:lnTo>
                      <a:pt x="49529" y="446405"/>
                    </a:lnTo>
                    <a:lnTo>
                      <a:pt x="38100" y="441325"/>
                    </a:lnTo>
                    <a:close/>
                  </a:path>
                  <a:path w="285115" h="473075">
                    <a:moveTo>
                      <a:pt x="38100" y="323850"/>
                    </a:moveTo>
                    <a:lnTo>
                      <a:pt x="26670" y="328930"/>
                    </a:lnTo>
                    <a:lnTo>
                      <a:pt x="22859" y="339725"/>
                    </a:lnTo>
                    <a:lnTo>
                      <a:pt x="26670" y="350520"/>
                    </a:lnTo>
                    <a:lnTo>
                      <a:pt x="38100" y="355600"/>
                    </a:lnTo>
                    <a:lnTo>
                      <a:pt x="49529" y="350520"/>
                    </a:lnTo>
                    <a:lnTo>
                      <a:pt x="53339" y="339725"/>
                    </a:lnTo>
                    <a:lnTo>
                      <a:pt x="49529" y="328930"/>
                    </a:lnTo>
                    <a:lnTo>
                      <a:pt x="38100" y="323850"/>
                    </a:lnTo>
                    <a:close/>
                  </a:path>
                  <a:path w="285115" h="473075">
                    <a:moveTo>
                      <a:pt x="38100" y="205739"/>
                    </a:moveTo>
                    <a:lnTo>
                      <a:pt x="26670" y="210820"/>
                    </a:lnTo>
                    <a:lnTo>
                      <a:pt x="22859" y="221614"/>
                    </a:lnTo>
                    <a:lnTo>
                      <a:pt x="26670" y="232410"/>
                    </a:lnTo>
                    <a:lnTo>
                      <a:pt x="38100" y="237489"/>
                    </a:lnTo>
                    <a:lnTo>
                      <a:pt x="49529" y="232410"/>
                    </a:lnTo>
                    <a:lnTo>
                      <a:pt x="53339" y="221614"/>
                    </a:lnTo>
                    <a:lnTo>
                      <a:pt x="49529" y="210820"/>
                    </a:lnTo>
                    <a:lnTo>
                      <a:pt x="38100" y="205739"/>
                    </a:lnTo>
                    <a:close/>
                  </a:path>
                  <a:path w="285115" h="473075">
                    <a:moveTo>
                      <a:pt x="247014" y="441325"/>
                    </a:moveTo>
                    <a:lnTo>
                      <a:pt x="95250" y="441325"/>
                    </a:lnTo>
                    <a:lnTo>
                      <a:pt x="83820" y="446405"/>
                    </a:lnTo>
                    <a:lnTo>
                      <a:pt x="80009" y="457200"/>
                    </a:lnTo>
                    <a:lnTo>
                      <a:pt x="83820" y="467995"/>
                    </a:lnTo>
                    <a:lnTo>
                      <a:pt x="95250" y="473075"/>
                    </a:lnTo>
                    <a:lnTo>
                      <a:pt x="247014" y="473075"/>
                    </a:lnTo>
                    <a:lnTo>
                      <a:pt x="258445" y="467995"/>
                    </a:lnTo>
                    <a:lnTo>
                      <a:pt x="262254" y="457200"/>
                    </a:lnTo>
                    <a:lnTo>
                      <a:pt x="258445" y="446405"/>
                    </a:lnTo>
                    <a:lnTo>
                      <a:pt x="247014" y="441325"/>
                    </a:lnTo>
                    <a:close/>
                  </a:path>
                  <a:path w="285115" h="473075">
                    <a:moveTo>
                      <a:pt x="247014" y="323850"/>
                    </a:moveTo>
                    <a:lnTo>
                      <a:pt x="95250" y="323850"/>
                    </a:lnTo>
                    <a:lnTo>
                      <a:pt x="83820" y="328930"/>
                    </a:lnTo>
                    <a:lnTo>
                      <a:pt x="80009" y="339725"/>
                    </a:lnTo>
                    <a:lnTo>
                      <a:pt x="83820" y="350520"/>
                    </a:lnTo>
                    <a:lnTo>
                      <a:pt x="95250" y="355600"/>
                    </a:lnTo>
                    <a:lnTo>
                      <a:pt x="247014" y="355600"/>
                    </a:lnTo>
                    <a:lnTo>
                      <a:pt x="258445" y="350520"/>
                    </a:lnTo>
                    <a:lnTo>
                      <a:pt x="262254" y="339725"/>
                    </a:lnTo>
                    <a:lnTo>
                      <a:pt x="258445" y="328930"/>
                    </a:lnTo>
                    <a:lnTo>
                      <a:pt x="247014" y="323850"/>
                    </a:lnTo>
                    <a:close/>
                  </a:path>
                  <a:path w="285115" h="473075">
                    <a:moveTo>
                      <a:pt x="247014" y="205739"/>
                    </a:moveTo>
                    <a:lnTo>
                      <a:pt x="95250" y="205739"/>
                    </a:lnTo>
                    <a:lnTo>
                      <a:pt x="83820" y="210820"/>
                    </a:lnTo>
                    <a:lnTo>
                      <a:pt x="80009" y="221614"/>
                    </a:lnTo>
                    <a:lnTo>
                      <a:pt x="83820" y="232410"/>
                    </a:lnTo>
                    <a:lnTo>
                      <a:pt x="95250" y="237489"/>
                    </a:lnTo>
                    <a:lnTo>
                      <a:pt x="247014" y="237489"/>
                    </a:lnTo>
                    <a:lnTo>
                      <a:pt x="258445" y="232410"/>
                    </a:lnTo>
                    <a:lnTo>
                      <a:pt x="262254" y="221614"/>
                    </a:lnTo>
                    <a:lnTo>
                      <a:pt x="258445" y="210820"/>
                    </a:lnTo>
                    <a:lnTo>
                      <a:pt x="247014" y="205739"/>
                    </a:lnTo>
                    <a:close/>
                  </a:path>
                  <a:path w="285115" h="473075">
                    <a:moveTo>
                      <a:pt x="247014" y="0"/>
                    </a:moveTo>
                    <a:lnTo>
                      <a:pt x="19050" y="0"/>
                    </a:lnTo>
                    <a:lnTo>
                      <a:pt x="12064" y="1270"/>
                    </a:lnTo>
                    <a:lnTo>
                      <a:pt x="5714" y="5714"/>
                    </a:lnTo>
                    <a:lnTo>
                      <a:pt x="1904" y="11430"/>
                    </a:lnTo>
                    <a:lnTo>
                      <a:pt x="0" y="19050"/>
                    </a:lnTo>
                    <a:lnTo>
                      <a:pt x="0" y="131445"/>
                    </a:lnTo>
                    <a:lnTo>
                      <a:pt x="1904" y="139064"/>
                    </a:lnTo>
                    <a:lnTo>
                      <a:pt x="5714" y="145414"/>
                    </a:lnTo>
                    <a:lnTo>
                      <a:pt x="12064" y="149225"/>
                    </a:lnTo>
                    <a:lnTo>
                      <a:pt x="19050" y="150495"/>
                    </a:lnTo>
                    <a:lnTo>
                      <a:pt x="266064" y="150495"/>
                    </a:lnTo>
                    <a:lnTo>
                      <a:pt x="273050" y="149225"/>
                    </a:lnTo>
                    <a:lnTo>
                      <a:pt x="279400" y="145414"/>
                    </a:lnTo>
                    <a:lnTo>
                      <a:pt x="283209" y="139064"/>
                    </a:lnTo>
                    <a:lnTo>
                      <a:pt x="285114" y="131445"/>
                    </a:lnTo>
                    <a:lnTo>
                      <a:pt x="285114" y="112395"/>
                    </a:lnTo>
                    <a:lnTo>
                      <a:pt x="38734" y="112395"/>
                    </a:lnTo>
                    <a:lnTo>
                      <a:pt x="38734" y="38100"/>
                    </a:lnTo>
                    <a:lnTo>
                      <a:pt x="247014" y="38100"/>
                    </a:lnTo>
                    <a:lnTo>
                      <a:pt x="247014" y="0"/>
                    </a:lnTo>
                    <a:close/>
                  </a:path>
                  <a:path w="285115" h="473075">
                    <a:moveTo>
                      <a:pt x="266064" y="0"/>
                    </a:moveTo>
                    <a:lnTo>
                      <a:pt x="247014" y="0"/>
                    </a:lnTo>
                    <a:lnTo>
                      <a:pt x="247014" y="112395"/>
                    </a:lnTo>
                    <a:lnTo>
                      <a:pt x="285114" y="112395"/>
                    </a:lnTo>
                    <a:lnTo>
                      <a:pt x="285114" y="19050"/>
                    </a:lnTo>
                    <a:lnTo>
                      <a:pt x="283209" y="11430"/>
                    </a:lnTo>
                    <a:lnTo>
                      <a:pt x="279400" y="5714"/>
                    </a:lnTo>
                    <a:lnTo>
                      <a:pt x="273050" y="1270"/>
                    </a:lnTo>
                    <a:lnTo>
                      <a:pt x="266064" y="0"/>
                    </a:lnTo>
                    <a:close/>
                  </a:path>
                </a:pathLst>
              </a:custGeom>
              <a:solidFill>
                <a:srgbClr val="1D005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1823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63E9FF8-726C-C90D-F2BB-C32B8EBE4472}"/>
              </a:ext>
            </a:extLst>
          </p:cNvPr>
          <p:cNvSpPr txBox="1"/>
          <p:nvPr/>
        </p:nvSpPr>
        <p:spPr>
          <a:xfrm>
            <a:off x="5206978" y="6639446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www.mininterior.gov.co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CD5256DC-0836-44DE-A185-30B9186219B3}"/>
              </a:ext>
            </a:extLst>
          </p:cNvPr>
          <p:cNvGrpSpPr/>
          <p:nvPr/>
        </p:nvGrpSpPr>
        <p:grpSpPr>
          <a:xfrm>
            <a:off x="1685057" y="303653"/>
            <a:ext cx="9393381" cy="1160255"/>
            <a:chOff x="1685057" y="798466"/>
            <a:chExt cx="9393381" cy="1160255"/>
          </a:xfrm>
        </p:grpSpPr>
        <p:sp>
          <p:nvSpPr>
            <p:cNvPr id="7" name="Google Shape;141;p22">
              <a:extLst>
                <a:ext uri="{FF2B5EF4-FFF2-40B4-BE49-F238E27FC236}">
                  <a16:creationId xmlns:a16="http://schemas.microsoft.com/office/drawing/2014/main" id="{9B2B2F97-46D8-DB82-2913-0DBB57565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403" y="1312390"/>
              <a:ext cx="850669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5" tIns="34275" rIns="68575" bIns="3427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ts val="14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s-MX" altLang="es-CO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elvetica"/>
                  <a:ea typeface="Work Sans Medium" panose="00000600000000000000" pitchFamily="50" charset="0"/>
                  <a:cs typeface="Work Sans Medium" panose="00000600000000000000" pitchFamily="50" charset="0"/>
                  <a:sym typeface="Work Sans Light" pitchFamily="34" charset="0"/>
                </a:rPr>
                <a:t>Nuevas herramientas normativas </a:t>
              </a:r>
              <a:endParaRPr kumimoji="0" lang="es-CO" altLang="es-CO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elvetica"/>
                <a:ea typeface="Work Sans Medium" panose="00000600000000000000" pitchFamily="50" charset="0"/>
                <a:cs typeface="Work Sans Medium" panose="00000600000000000000" pitchFamily="50" charset="0"/>
                <a:sym typeface="Work Sans Light" pitchFamily="34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488C1850-5C89-B84E-F9D0-541582D52391}"/>
                </a:ext>
              </a:extLst>
            </p:cNvPr>
            <p:cNvSpPr txBox="1"/>
            <p:nvPr/>
          </p:nvSpPr>
          <p:spPr>
            <a:xfrm>
              <a:off x="1685057" y="798466"/>
              <a:ext cx="939338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23C46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Nuevas Dimensiones del Campesinado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809C03C8-5620-45F2-9308-038958C7B03B}"/>
              </a:ext>
            </a:extLst>
          </p:cNvPr>
          <p:cNvGrpSpPr/>
          <p:nvPr/>
        </p:nvGrpSpPr>
        <p:grpSpPr>
          <a:xfrm>
            <a:off x="646524" y="1771650"/>
            <a:ext cx="11164476" cy="4038600"/>
            <a:chOff x="546431" y="2455946"/>
            <a:chExt cx="10871238" cy="307387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EFE755D3-D875-016F-47DA-9E11516D6DE5}"/>
                </a:ext>
              </a:extLst>
            </p:cNvPr>
            <p:cNvSpPr/>
            <p:nvPr/>
          </p:nvSpPr>
          <p:spPr>
            <a:xfrm>
              <a:off x="546431" y="2455946"/>
              <a:ext cx="2574521" cy="16004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D23C46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“Declaración de los Derechos del Campesinado y de otras personas que trabajan en las zonas rurales”, Naciones Unidas.  </a:t>
              </a:r>
              <a:endPara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D57A4E85-4F12-4EE4-8174-C9BD89C8E0E1}"/>
                </a:ext>
              </a:extLst>
            </p:cNvPr>
            <p:cNvGrpSpPr/>
            <p:nvPr/>
          </p:nvGrpSpPr>
          <p:grpSpPr>
            <a:xfrm>
              <a:off x="3810943" y="2455946"/>
              <a:ext cx="3568369" cy="1722399"/>
              <a:chOff x="3625872" y="3251619"/>
              <a:chExt cx="3568369" cy="1722399"/>
            </a:xfrm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8F04B788-0A4F-E023-D49B-75912BFD3658}"/>
                  </a:ext>
                </a:extLst>
              </p:cNvPr>
              <p:cNvSpPr/>
              <p:nvPr/>
            </p:nvSpPr>
            <p:spPr>
              <a:xfrm>
                <a:off x="3625872" y="3251619"/>
                <a:ext cx="3568369" cy="160043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D23C46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68A3BA0-F5FE-19CB-0F91-B80E58765C84}"/>
                  </a:ext>
                </a:extLst>
              </p:cNvPr>
              <p:cNvSpPr txBox="1"/>
              <p:nvPr/>
            </p:nvSpPr>
            <p:spPr>
              <a:xfrm>
                <a:off x="3625872" y="3373580"/>
                <a:ext cx="3482065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Artículo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64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con</a:t>
                </a:r>
                <a:r>
                  <a:rPr kumimoji="0" lang="es-ES" sz="1600" b="0" i="0" u="none" strike="noStrike" kern="1200" cap="none" spc="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el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cual</a:t>
                </a:r>
                <a:r>
                  <a:rPr kumimoji="0" lang="es-ES" sz="1600" b="0" i="0" u="none" strike="noStrike" kern="1200" cap="none" spc="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se </a:t>
                </a:r>
                <a:r>
                  <a:rPr kumimoji="0" lang="es-ES" sz="1600" b="0" i="0" u="none" strike="noStrike" kern="1200" cap="none" spc="-484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reconoce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al</a:t>
                </a:r>
                <a:r>
                  <a:rPr kumimoji="0" lang="es-ES" sz="1600" b="0" i="0" u="none" strike="noStrike" kern="1200" cap="none" spc="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campesinado</a:t>
                </a:r>
                <a:r>
                  <a:rPr kumimoji="0" lang="es-ES" sz="1600" b="0" i="0" u="none" strike="noStrike" kern="1200" cap="none" spc="1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como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sujeto 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político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de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derechos</a:t>
                </a:r>
                <a:r>
                  <a:rPr kumimoji="0" lang="es-ES" sz="1600" b="0" i="0" u="none" strike="noStrike" kern="1200" cap="none" spc="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y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de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especial 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protección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constitucional.</a:t>
                </a:r>
                <a:r>
                  <a:rPr kumimoji="0" lang="es-ES" sz="1600" b="0" i="0" u="none" strike="noStrike" kern="1200" cap="none" spc="3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Establece</a:t>
                </a:r>
                <a:r>
                  <a:rPr kumimoji="0" lang="es-ES" sz="1600" b="0" i="0" u="none" strike="noStrike" kern="1200" cap="none" spc="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el 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catálogo</a:t>
                </a:r>
                <a:r>
                  <a:rPr kumimoji="0" lang="es-E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de</a:t>
                </a:r>
                <a:r>
                  <a:rPr kumimoji="0" lang="es-ES" sz="1600" b="0" i="0" u="none" strike="noStrike" kern="1200" cap="none" spc="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 </a:t>
                </a:r>
                <a:r>
                  <a:rPr kumimoji="0" lang="es-ES" sz="1600" b="0" i="0" u="none" strike="noStrike" kern="1200" cap="none" spc="-10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Arial MT"/>
                  </a:rPr>
                  <a:t>derechos</a:t>
                </a:r>
                <a:endPara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Arial MT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D0D1C6C4-9387-457C-B246-1BDDB96EB654}"/>
                </a:ext>
              </a:extLst>
            </p:cNvPr>
            <p:cNvGrpSpPr/>
            <p:nvPr/>
          </p:nvGrpSpPr>
          <p:grpSpPr>
            <a:xfrm>
              <a:off x="7849300" y="4562361"/>
              <a:ext cx="3568369" cy="967455"/>
              <a:chOff x="7785971" y="3216618"/>
              <a:chExt cx="3568369" cy="967455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924968D5-B1A8-3E3D-22EE-D9FD33A089AB}"/>
                  </a:ext>
                </a:extLst>
              </p:cNvPr>
              <p:cNvSpPr/>
              <p:nvPr/>
            </p:nvSpPr>
            <p:spPr>
              <a:xfrm>
                <a:off x="7785971" y="3216618"/>
                <a:ext cx="3568369" cy="96745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D23C46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8E6CFCB-6767-4C6E-A8C2-0DC7905291E9}"/>
                  </a:ext>
                </a:extLst>
              </p:cNvPr>
              <p:cNvSpPr txBox="1"/>
              <p:nvPr/>
            </p:nvSpPr>
            <p:spPr>
              <a:xfrm>
                <a:off x="7872275" y="3362089"/>
                <a:ext cx="34820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Política Pública para el campesinado </a:t>
                </a: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B079D941-7DD8-4956-9344-29424A7E07DF}"/>
                </a:ext>
              </a:extLst>
            </p:cNvPr>
            <p:cNvGrpSpPr/>
            <p:nvPr/>
          </p:nvGrpSpPr>
          <p:grpSpPr>
            <a:xfrm>
              <a:off x="2974978" y="4748711"/>
              <a:ext cx="3568369" cy="607619"/>
              <a:chOff x="7785971" y="4446739"/>
              <a:chExt cx="3568369" cy="607619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B8793920-E659-F5B2-C3CE-5F80336A70BA}"/>
                  </a:ext>
                </a:extLst>
              </p:cNvPr>
              <p:cNvSpPr/>
              <p:nvPr/>
            </p:nvSpPr>
            <p:spPr>
              <a:xfrm>
                <a:off x="7785971" y="4446739"/>
                <a:ext cx="3568369" cy="60761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D23C46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D6F5F84-4283-90BB-5076-55C08ED83376}"/>
                  </a:ext>
                </a:extLst>
              </p:cNvPr>
              <p:cNvSpPr txBox="1"/>
              <p:nvPr/>
            </p:nvSpPr>
            <p:spPr>
              <a:xfrm>
                <a:off x="7872275" y="4592210"/>
                <a:ext cx="34820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Planes de Desarrollo Territorial </a:t>
                </a: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</p:grpSp>
        <p:sp>
          <p:nvSpPr>
            <p:cNvPr id="15" name="Flecha: hacia abajo 14">
              <a:extLst>
                <a:ext uri="{FF2B5EF4-FFF2-40B4-BE49-F238E27FC236}">
                  <a16:creationId xmlns:a16="http://schemas.microsoft.com/office/drawing/2014/main" id="{100FCF1D-1760-4717-B492-EAA36129388C}"/>
                </a:ext>
              </a:extLst>
            </p:cNvPr>
            <p:cNvSpPr/>
            <p:nvPr/>
          </p:nvSpPr>
          <p:spPr>
            <a:xfrm rot="5400000">
              <a:off x="6989159" y="4750982"/>
              <a:ext cx="260580" cy="6709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32A2CB79-00EF-4729-A6D5-4A6D9E895F6C}"/>
                </a:ext>
              </a:extLst>
            </p:cNvPr>
            <p:cNvGrpSpPr/>
            <p:nvPr/>
          </p:nvGrpSpPr>
          <p:grpSpPr>
            <a:xfrm>
              <a:off x="8026992" y="2633301"/>
              <a:ext cx="3248189" cy="967455"/>
              <a:chOff x="7785971" y="3216618"/>
              <a:chExt cx="3568369" cy="967455"/>
            </a:xfrm>
          </p:grpSpPr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CA6EF1F0-C588-4E54-8214-7C00D48E4337}"/>
                  </a:ext>
                </a:extLst>
              </p:cNvPr>
              <p:cNvSpPr/>
              <p:nvPr/>
            </p:nvSpPr>
            <p:spPr>
              <a:xfrm>
                <a:off x="7785971" y="3216618"/>
                <a:ext cx="3568369" cy="96745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D23C46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A184671-AAE0-41AC-BF52-CFBE12893940}"/>
                  </a:ext>
                </a:extLst>
              </p:cNvPr>
              <p:cNvSpPr txBox="1"/>
              <p:nvPr/>
            </p:nvSpPr>
            <p:spPr>
              <a:xfrm>
                <a:off x="7872275" y="3362089"/>
                <a:ext cx="34820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E7E7E"/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Plan Nacional de Desarrollo 2022 - 2026</a:t>
                </a: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</p:grpSp>
        <p:sp>
          <p:nvSpPr>
            <p:cNvPr id="26" name="Flecha: hacia abajo 25">
              <a:extLst>
                <a:ext uri="{FF2B5EF4-FFF2-40B4-BE49-F238E27FC236}">
                  <a16:creationId xmlns:a16="http://schemas.microsoft.com/office/drawing/2014/main" id="{29E3C70F-DEB4-40E7-86DB-7728D5B87D35}"/>
                </a:ext>
              </a:extLst>
            </p:cNvPr>
            <p:cNvSpPr/>
            <p:nvPr/>
          </p:nvSpPr>
          <p:spPr>
            <a:xfrm rot="16200000">
              <a:off x="3369769" y="3030749"/>
              <a:ext cx="183808" cy="49205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27" name="Flecha: hacia abajo 26">
              <a:extLst>
                <a:ext uri="{FF2B5EF4-FFF2-40B4-BE49-F238E27FC236}">
                  <a16:creationId xmlns:a16="http://schemas.microsoft.com/office/drawing/2014/main" id="{85A90861-7F42-4926-9BB5-032664011938}"/>
                </a:ext>
              </a:extLst>
            </p:cNvPr>
            <p:cNvSpPr/>
            <p:nvPr/>
          </p:nvSpPr>
          <p:spPr>
            <a:xfrm>
              <a:off x="9588616" y="3757003"/>
              <a:ext cx="223325" cy="59876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28" name="Flecha: hacia abajo 27">
              <a:extLst>
                <a:ext uri="{FF2B5EF4-FFF2-40B4-BE49-F238E27FC236}">
                  <a16:creationId xmlns:a16="http://schemas.microsoft.com/office/drawing/2014/main" id="{A546F325-ABAF-473B-9B31-A2B8F6790D8E}"/>
                </a:ext>
              </a:extLst>
            </p:cNvPr>
            <p:cNvSpPr/>
            <p:nvPr/>
          </p:nvSpPr>
          <p:spPr>
            <a:xfrm rot="16200000">
              <a:off x="7609024" y="2911283"/>
              <a:ext cx="183808" cy="49205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377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5228-0410-BBCD-1E1F-F1081BE3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00DA4D-E088-8D01-32AA-0704766600C8}"/>
              </a:ext>
            </a:extLst>
          </p:cNvPr>
          <p:cNvSpPr/>
          <p:nvPr/>
        </p:nvSpPr>
        <p:spPr>
          <a:xfrm>
            <a:off x="4036440" y="4115942"/>
            <a:ext cx="5393690" cy="0"/>
          </a:xfrm>
          <a:custGeom>
            <a:avLst/>
            <a:gdLst/>
            <a:ahLst/>
            <a:cxnLst/>
            <a:rect l="l" t="t" r="r" b="b"/>
            <a:pathLst>
              <a:path w="5393690">
                <a:moveTo>
                  <a:pt x="0" y="0"/>
                </a:moveTo>
                <a:lnTo>
                  <a:pt x="539330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16CFEBB-CDC7-82E2-F442-12BE10490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8989" y="2438400"/>
            <a:ext cx="5581141" cy="152349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10820" algn="ctr">
              <a:lnSpc>
                <a:spcPct val="100000"/>
              </a:lnSpc>
              <a:spcBef>
                <a:spcPts val="360"/>
              </a:spcBef>
            </a:pPr>
            <a:r>
              <a:rPr lang="en-US" spc="-80" dirty="0"/>
              <a:t>¿QUÉ ES LA DECLARACION DE DERECHOS DEL CAMPESINADO?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336161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63E9FF8-726C-C90D-F2BB-C32B8EBE4472}"/>
              </a:ext>
            </a:extLst>
          </p:cNvPr>
          <p:cNvSpPr txBox="1"/>
          <p:nvPr/>
        </p:nvSpPr>
        <p:spPr>
          <a:xfrm>
            <a:off x="5206978" y="6639446"/>
            <a:ext cx="1778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www.mininterior.gov.co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FD0971-DEDC-6C67-90C6-9D466A69AE7C}"/>
              </a:ext>
            </a:extLst>
          </p:cNvPr>
          <p:cNvSpPr/>
          <p:nvPr/>
        </p:nvSpPr>
        <p:spPr>
          <a:xfrm>
            <a:off x="2138613" y="341459"/>
            <a:ext cx="8048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¿Qué es la Declaración de los derechos campesinos?</a:t>
            </a: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6180613C-7D8D-2656-4AF9-5F5AE3B1458D}"/>
              </a:ext>
            </a:extLst>
          </p:cNvPr>
          <p:cNvSpPr txBox="1"/>
          <p:nvPr/>
        </p:nvSpPr>
        <p:spPr>
          <a:xfrm>
            <a:off x="1029964" y="2440840"/>
            <a:ext cx="3023235" cy="38536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654050" marR="547370" lvl="0" indent="-99060" algn="l" defTabSz="914400" rtl="0" eaLnBrk="1" fontAlgn="auto" latinLnBrk="0" hangingPunct="1">
              <a:lnSpc>
                <a:spcPts val="262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Trebuchet MS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0B5D533-87AC-46C1-B819-775F9AF0C0DE}"/>
              </a:ext>
            </a:extLst>
          </p:cNvPr>
          <p:cNvGrpSpPr/>
          <p:nvPr/>
        </p:nvGrpSpPr>
        <p:grpSpPr>
          <a:xfrm>
            <a:off x="838954" y="1025878"/>
            <a:ext cx="10679130" cy="1239024"/>
            <a:chOff x="530499" y="1637717"/>
            <a:chExt cx="10631537" cy="1296352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BE4E08CC-3C4E-B35A-E6F9-E57564021284}"/>
                </a:ext>
              </a:extLst>
            </p:cNvPr>
            <p:cNvSpPr/>
            <p:nvPr/>
          </p:nvSpPr>
          <p:spPr>
            <a:xfrm>
              <a:off x="530499" y="1637717"/>
              <a:ext cx="10631537" cy="129635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D23C46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2CF4EDB-BE40-6CFE-6217-044C4434A85F}"/>
                </a:ext>
              </a:extLst>
            </p:cNvPr>
            <p:cNvSpPr txBox="1"/>
            <p:nvPr/>
          </p:nvSpPr>
          <p:spPr>
            <a:xfrm>
              <a:off x="530499" y="1767367"/>
              <a:ext cx="1022062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Esta Declaración es una herramienta del marco normativo internacional que brinda ciertos lineamientos y que permitirá a los países desarrollar y fortalecer políticas específicas que atiendan las particularidades de campesinas y campesinos. </a:t>
              </a: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7" name="object 6">
            <a:extLst>
              <a:ext uri="{FF2B5EF4-FFF2-40B4-BE49-F238E27FC236}">
                <a16:creationId xmlns:a16="http://schemas.microsoft.com/office/drawing/2014/main" id="{D7D6EAF3-4787-4101-91DB-19350751EC5B}"/>
              </a:ext>
            </a:extLst>
          </p:cNvPr>
          <p:cNvSpPr txBox="1"/>
          <p:nvPr/>
        </p:nvSpPr>
        <p:spPr>
          <a:xfrm>
            <a:off x="8175863" y="1807763"/>
            <a:ext cx="3023235" cy="42126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Open Sans" panose="020B0604020202020204" pitchFamily="34" charset="0"/>
                <a:ea typeface="+mn-ea"/>
                <a:cs typeface="+mn-cs"/>
              </a:rPr>
              <a:t> </a:t>
            </a: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Trebuchet MS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6451497-4314-432A-A15A-235D91213AAC}"/>
              </a:ext>
            </a:extLst>
          </p:cNvPr>
          <p:cNvGrpSpPr/>
          <p:nvPr/>
        </p:nvGrpSpPr>
        <p:grpSpPr>
          <a:xfrm>
            <a:off x="495005" y="2642176"/>
            <a:ext cx="10309145" cy="3779387"/>
            <a:chOff x="780231" y="2575064"/>
            <a:chExt cx="10309145" cy="3779387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0377E7B2-5AE2-45B2-994D-B37E988624CC}"/>
                </a:ext>
              </a:extLst>
            </p:cNvPr>
            <p:cNvGrpSpPr/>
            <p:nvPr/>
          </p:nvGrpSpPr>
          <p:grpSpPr>
            <a:xfrm>
              <a:off x="780231" y="2575064"/>
              <a:ext cx="10309145" cy="3779387"/>
              <a:chOff x="-1667922" y="1801401"/>
              <a:chExt cx="12578580" cy="4512505"/>
            </a:xfrm>
          </p:grpSpPr>
          <p:sp>
            <p:nvSpPr>
              <p:cNvPr id="18" name="Forma libre: forma 17">
                <a:extLst>
                  <a:ext uri="{FF2B5EF4-FFF2-40B4-BE49-F238E27FC236}">
                    <a16:creationId xmlns:a16="http://schemas.microsoft.com/office/drawing/2014/main" id="{21853587-C598-4B62-B3CC-0C4CFF4815A8}"/>
                  </a:ext>
                </a:extLst>
              </p:cNvPr>
              <p:cNvSpPr/>
              <p:nvPr/>
            </p:nvSpPr>
            <p:spPr>
              <a:xfrm>
                <a:off x="1105751" y="1945772"/>
                <a:ext cx="2940954" cy="964480"/>
              </a:xfrm>
              <a:custGeom>
                <a:avLst/>
                <a:gdLst>
                  <a:gd name="connsiteX0" fmla="*/ 0 w 3072670"/>
                  <a:gd name="connsiteY0" fmla="*/ 87205 h 523220"/>
                  <a:gd name="connsiteX1" fmla="*/ 87205 w 3072670"/>
                  <a:gd name="connsiteY1" fmla="*/ 0 h 523220"/>
                  <a:gd name="connsiteX2" fmla="*/ 2985465 w 3072670"/>
                  <a:gd name="connsiteY2" fmla="*/ 0 h 523220"/>
                  <a:gd name="connsiteX3" fmla="*/ 3072670 w 3072670"/>
                  <a:gd name="connsiteY3" fmla="*/ 87205 h 523220"/>
                  <a:gd name="connsiteX4" fmla="*/ 3072670 w 3072670"/>
                  <a:gd name="connsiteY4" fmla="*/ 436015 h 523220"/>
                  <a:gd name="connsiteX5" fmla="*/ 2985465 w 3072670"/>
                  <a:gd name="connsiteY5" fmla="*/ 523220 h 523220"/>
                  <a:gd name="connsiteX6" fmla="*/ 87205 w 3072670"/>
                  <a:gd name="connsiteY6" fmla="*/ 523220 h 523220"/>
                  <a:gd name="connsiteX7" fmla="*/ 0 w 3072670"/>
                  <a:gd name="connsiteY7" fmla="*/ 436015 h 523220"/>
                  <a:gd name="connsiteX8" fmla="*/ 0 w 3072670"/>
                  <a:gd name="connsiteY8" fmla="*/ 87205 h 523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2670" h="523220">
                    <a:moveTo>
                      <a:pt x="0" y="87205"/>
                    </a:moveTo>
                    <a:cubicBezTo>
                      <a:pt x="0" y="39043"/>
                      <a:pt x="39043" y="0"/>
                      <a:pt x="87205" y="0"/>
                    </a:cubicBezTo>
                    <a:lnTo>
                      <a:pt x="2985465" y="0"/>
                    </a:lnTo>
                    <a:cubicBezTo>
                      <a:pt x="3033627" y="0"/>
                      <a:pt x="3072670" y="39043"/>
                      <a:pt x="3072670" y="87205"/>
                    </a:cubicBezTo>
                    <a:lnTo>
                      <a:pt x="3072670" y="436015"/>
                    </a:lnTo>
                    <a:cubicBezTo>
                      <a:pt x="3072670" y="484177"/>
                      <a:pt x="3033627" y="523220"/>
                      <a:pt x="2985465" y="523220"/>
                    </a:cubicBezTo>
                    <a:lnTo>
                      <a:pt x="87205" y="523220"/>
                    </a:lnTo>
                    <a:cubicBezTo>
                      <a:pt x="39043" y="523220"/>
                      <a:pt x="0" y="484177"/>
                      <a:pt x="0" y="436015"/>
                    </a:cubicBezTo>
                    <a:lnTo>
                      <a:pt x="0" y="87205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D23C46"/>
                </a:solidFill>
                <a:prstDash val="lgDashDot"/>
              </a:ln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78881" tIns="52211" rIns="78881" bIns="52211" numCol="1" spcCol="1270" anchor="ctr" anchorCtr="0">
                <a:noAutofit/>
              </a:bodyPr>
              <a:lstStyle/>
              <a:p>
                <a:pPr marL="0" marR="0" lvl="0" indent="0" algn="ctr" defTabSz="6223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rPr>
                  <a:t>Reconoce las distintas dimensiones del campesinado </a:t>
                </a:r>
                <a:endParaRPr kumimoji="0" lang="es-CO" sz="1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0CDE174D-AAEE-47CA-A555-46BC7D02BD95}"/>
                  </a:ext>
                </a:extLst>
              </p:cNvPr>
              <p:cNvGrpSpPr/>
              <p:nvPr/>
            </p:nvGrpSpPr>
            <p:grpSpPr>
              <a:xfrm>
                <a:off x="5483079" y="1801401"/>
                <a:ext cx="4419598" cy="1296782"/>
                <a:chOff x="6224955" y="1701244"/>
                <a:chExt cx="4419598" cy="1296782"/>
              </a:xfrm>
            </p:grpSpPr>
            <p:sp>
              <p:nvSpPr>
                <p:cNvPr id="30" name="Rectángulo: esquinas redondeadas 29">
                  <a:extLst>
                    <a:ext uri="{FF2B5EF4-FFF2-40B4-BE49-F238E27FC236}">
                      <a16:creationId xmlns:a16="http://schemas.microsoft.com/office/drawing/2014/main" id="{F16DC214-C0A3-4FD4-A494-079C8DE447EF}"/>
                    </a:ext>
                  </a:extLst>
                </p:cNvPr>
                <p:cNvSpPr/>
                <p:nvPr/>
              </p:nvSpPr>
              <p:spPr>
                <a:xfrm>
                  <a:off x="6224955" y="1701244"/>
                  <a:ext cx="4245415" cy="1272707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D23C46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O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0BB494B8-3681-438D-A025-5A651F426A74}"/>
                    </a:ext>
                  </a:extLst>
                </p:cNvPr>
                <p:cNvSpPr txBox="1"/>
                <p:nvPr/>
              </p:nvSpPr>
              <p:spPr>
                <a:xfrm>
                  <a:off x="6450018" y="1785347"/>
                  <a:ext cx="4194535" cy="12126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Dimensión territorial.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Dimensión cultural.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Dimensión político /organizativa.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Dimensión productiva.</a:t>
                  </a:r>
                  <a:endParaRPr kumimoji="0" lang="es-CO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" name="Flecha: a la derecha 20">
                <a:extLst>
                  <a:ext uri="{FF2B5EF4-FFF2-40B4-BE49-F238E27FC236}">
                    <a16:creationId xmlns:a16="http://schemas.microsoft.com/office/drawing/2014/main" id="{D0EDEBAD-F77B-4354-B5F4-BB4FB3917996}"/>
                  </a:ext>
                </a:extLst>
              </p:cNvPr>
              <p:cNvSpPr/>
              <p:nvPr/>
            </p:nvSpPr>
            <p:spPr>
              <a:xfrm>
                <a:off x="4216101" y="2281678"/>
                <a:ext cx="1153066" cy="317922"/>
              </a:xfrm>
              <a:prstGeom prst="rightArrow">
                <a:avLst/>
              </a:prstGeom>
              <a:solidFill>
                <a:srgbClr val="D23C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endParaRPr>
              </a:p>
            </p:txBody>
          </p:sp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FE347025-B27A-4A6B-A67C-D6E032285D16}"/>
                  </a:ext>
                </a:extLst>
              </p:cNvPr>
              <p:cNvGrpSpPr/>
              <p:nvPr/>
            </p:nvGrpSpPr>
            <p:grpSpPr>
              <a:xfrm>
                <a:off x="5506524" y="3376497"/>
                <a:ext cx="4396151" cy="1077218"/>
                <a:chOff x="6213230" y="1808792"/>
                <a:chExt cx="4396151" cy="1077218"/>
              </a:xfrm>
            </p:grpSpPr>
            <p:sp>
              <p:nvSpPr>
                <p:cNvPr id="28" name="Rectángulo: esquinas redondeadas 27">
                  <a:extLst>
                    <a:ext uri="{FF2B5EF4-FFF2-40B4-BE49-F238E27FC236}">
                      <a16:creationId xmlns:a16="http://schemas.microsoft.com/office/drawing/2014/main" id="{3D0F9456-114F-4600-A1AA-DD48BB4AE5F6}"/>
                    </a:ext>
                  </a:extLst>
                </p:cNvPr>
                <p:cNvSpPr/>
                <p:nvPr/>
              </p:nvSpPr>
              <p:spPr>
                <a:xfrm>
                  <a:off x="6213230" y="1808792"/>
                  <a:ext cx="4396151" cy="1077218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D23C46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O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12DE008F-3AF1-4C37-B4ED-A8C1039E0917}"/>
                    </a:ext>
                  </a:extLst>
                </p:cNvPr>
                <p:cNvSpPr txBox="1"/>
                <p:nvPr/>
              </p:nvSpPr>
              <p:spPr>
                <a:xfrm>
                  <a:off x="6473464" y="1876881"/>
                  <a:ext cx="3961735" cy="93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Derecho a la tierra: Artículo 17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Derecho a las semillas: Artículo 19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Derecho al agua: Artículo 21</a:t>
                  </a:r>
                  <a:endParaRPr kumimoji="0" lang="es-CO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BC69D18D-07E0-4EAE-8979-ABFA2F36703A}"/>
                  </a:ext>
                </a:extLst>
              </p:cNvPr>
              <p:cNvGrpSpPr/>
              <p:nvPr/>
            </p:nvGrpSpPr>
            <p:grpSpPr>
              <a:xfrm>
                <a:off x="5533296" y="4767283"/>
                <a:ext cx="5377362" cy="1546623"/>
                <a:chOff x="6218079" y="1785345"/>
                <a:chExt cx="5121478" cy="1204034"/>
              </a:xfrm>
            </p:grpSpPr>
            <p:sp>
              <p:nvSpPr>
                <p:cNvPr id="26" name="Rectángulo: esquinas redondeadas 25">
                  <a:extLst>
                    <a:ext uri="{FF2B5EF4-FFF2-40B4-BE49-F238E27FC236}">
                      <a16:creationId xmlns:a16="http://schemas.microsoft.com/office/drawing/2014/main" id="{128EA004-F5FA-44D8-866E-B2A1AA66EB46}"/>
                    </a:ext>
                  </a:extLst>
                </p:cNvPr>
                <p:cNvSpPr/>
                <p:nvPr/>
              </p:nvSpPr>
              <p:spPr>
                <a:xfrm>
                  <a:off x="6218079" y="1785345"/>
                  <a:ext cx="5121478" cy="1200329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rgbClr val="D23C46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O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FE99284D-52A1-46F3-8C83-BB8A8AE3C895}"/>
                    </a:ext>
                  </a:extLst>
                </p:cNvPr>
                <p:cNvSpPr txBox="1"/>
                <p:nvPr/>
              </p:nvSpPr>
              <p:spPr>
                <a:xfrm>
                  <a:off x="6440432" y="1816455"/>
                  <a:ext cx="4874587" cy="1172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Soberanía alimentaria: derecho a participar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en la toma de decisiones sobre la </a:t>
                  </a:r>
                  <a:r>
                    <a:rPr kumimoji="0" lang="es-MX" sz="15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política agroalimentaria</a:t>
                  </a: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.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Participación reforzada: reconoce al campesino como </a:t>
                  </a:r>
                  <a:r>
                    <a:rPr kumimoji="0" lang="es-MX" sz="15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sujeto político.</a:t>
                  </a:r>
                  <a:r>
                    <a:rPr kumimoji="0" lang="es-MX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 </a:t>
                  </a:r>
                  <a:r>
                    <a:rPr kumimoji="0" lang="es-MX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Helvetica"/>
                      <a:ea typeface="+mn-ea"/>
                      <a:cs typeface="+mn-cs"/>
                    </a:rPr>
                    <a:t>	</a:t>
                  </a:r>
                  <a:endParaRPr kumimoji="0" lang="es-CO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Helvetica"/>
                    <a:ea typeface="+mn-ea"/>
                    <a:cs typeface="+mn-cs"/>
                  </a:endParaRPr>
                </a:p>
              </p:txBody>
            </p:sp>
          </p:grpSp>
          <p:graphicFrame>
            <p:nvGraphicFramePr>
              <p:cNvPr id="24" name="Diagrama 23">
                <a:extLst>
                  <a:ext uri="{FF2B5EF4-FFF2-40B4-BE49-F238E27FC236}">
                    <a16:creationId xmlns:a16="http://schemas.microsoft.com/office/drawing/2014/main" id="{E2D7EFF4-EF88-4AC7-BBD1-4EF1A3EB42F0}"/>
                  </a:ext>
                </a:extLst>
              </p:cNvPr>
              <p:cNvGraphicFramePr/>
              <p:nvPr/>
            </p:nvGraphicFramePr>
            <p:xfrm>
              <a:off x="-1667922" y="3565145"/>
              <a:ext cx="8535196" cy="71183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graphicFrame>
            <p:nvGraphicFramePr>
              <p:cNvPr id="25" name="Diagrama 24">
                <a:extLst>
                  <a:ext uri="{FF2B5EF4-FFF2-40B4-BE49-F238E27FC236}">
                    <a16:creationId xmlns:a16="http://schemas.microsoft.com/office/drawing/2014/main" id="{49EFFDF9-2C6E-46A1-AFF0-13C57EF54A9F}"/>
                  </a:ext>
                </a:extLst>
              </p:cNvPr>
              <p:cNvGraphicFramePr/>
              <p:nvPr/>
            </p:nvGraphicFramePr>
            <p:xfrm>
              <a:off x="-1506669" y="5168225"/>
              <a:ext cx="8535196" cy="71183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p:grpSp>
        <p:sp>
          <p:nvSpPr>
            <p:cNvPr id="32" name="Flecha: a la derecha 31">
              <a:extLst>
                <a:ext uri="{FF2B5EF4-FFF2-40B4-BE49-F238E27FC236}">
                  <a16:creationId xmlns:a16="http://schemas.microsoft.com/office/drawing/2014/main" id="{919E2A9F-CC85-4818-8285-F25580FB9BF4}"/>
                </a:ext>
              </a:extLst>
            </p:cNvPr>
            <p:cNvSpPr/>
            <p:nvPr/>
          </p:nvSpPr>
          <p:spPr>
            <a:xfrm>
              <a:off x="5602654" y="4233999"/>
              <a:ext cx="945029" cy="266271"/>
            </a:xfrm>
            <a:prstGeom prst="rightArrow">
              <a:avLst/>
            </a:prstGeom>
            <a:solidFill>
              <a:srgbClr val="D23C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33" name="Flecha: a la derecha 32">
              <a:extLst>
                <a:ext uri="{FF2B5EF4-FFF2-40B4-BE49-F238E27FC236}">
                  <a16:creationId xmlns:a16="http://schemas.microsoft.com/office/drawing/2014/main" id="{602A1D68-CBB1-4561-B10B-D448A6355E7B}"/>
                </a:ext>
              </a:extLst>
            </p:cNvPr>
            <p:cNvSpPr/>
            <p:nvPr/>
          </p:nvSpPr>
          <p:spPr>
            <a:xfrm>
              <a:off x="5602654" y="5581985"/>
              <a:ext cx="945029" cy="266271"/>
            </a:xfrm>
            <a:prstGeom prst="rightArrow">
              <a:avLst/>
            </a:prstGeom>
            <a:solidFill>
              <a:srgbClr val="D23C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917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A17E9-7177-4B06-8A2D-1E041191F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0046"/>
            <a:ext cx="9144000" cy="677593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rgbClr val="D13C47"/>
                </a:solidFill>
              </a:rPr>
              <a:t>Derechos reconocidos en la Declaración </a:t>
            </a:r>
            <a:endParaRPr lang="es-CO" sz="3200" b="1" dirty="0">
              <a:solidFill>
                <a:srgbClr val="D13C47"/>
              </a:solidFill>
            </a:endParaRP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05A4856-00D3-E89B-8B99-604E729610AA}"/>
              </a:ext>
            </a:extLst>
          </p:cNvPr>
          <p:cNvGraphicFramePr/>
          <p:nvPr/>
        </p:nvGraphicFramePr>
        <p:xfrm>
          <a:off x="849746" y="1052175"/>
          <a:ext cx="10566400" cy="5390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332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865D-FC10-DB90-9C8D-7F561016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603B71-94DA-F3C1-6E9F-83EEEECE6AAE}"/>
              </a:ext>
            </a:extLst>
          </p:cNvPr>
          <p:cNvSpPr/>
          <p:nvPr/>
        </p:nvSpPr>
        <p:spPr>
          <a:xfrm>
            <a:off x="4036440" y="4115942"/>
            <a:ext cx="5393690" cy="0"/>
          </a:xfrm>
          <a:custGeom>
            <a:avLst/>
            <a:gdLst/>
            <a:ahLst/>
            <a:cxnLst/>
            <a:rect l="l" t="t" r="r" b="b"/>
            <a:pathLst>
              <a:path w="5393690">
                <a:moveTo>
                  <a:pt x="0" y="0"/>
                </a:moveTo>
                <a:lnTo>
                  <a:pt x="539330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23AC230-D471-7FB4-65EC-005E03B4A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61871" y="2438400"/>
            <a:ext cx="7829930" cy="103105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10820" algn="ctr">
              <a:lnSpc>
                <a:spcPct val="100000"/>
              </a:lnSpc>
              <a:spcBef>
                <a:spcPts val="360"/>
              </a:spcBef>
            </a:pPr>
            <a:r>
              <a:rPr lang="en-US" spc="-80" dirty="0"/>
              <a:t>¿ A QUE SUJETO NOS ESTAMOS REFIRIENDO?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24684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CA09F9-3A7A-74F5-3146-D607094B1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2FCEC51-6ECD-37EE-9EC6-FB497489D690}"/>
              </a:ext>
            </a:extLst>
          </p:cNvPr>
          <p:cNvGrpSpPr/>
          <p:nvPr/>
        </p:nvGrpSpPr>
        <p:grpSpPr>
          <a:xfrm>
            <a:off x="10741152" y="734875"/>
            <a:ext cx="942340" cy="197485"/>
            <a:chOff x="10741152" y="734875"/>
            <a:chExt cx="942340" cy="1974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1768F5B-4263-D682-1C1A-1AB62F18BAC2}"/>
                </a:ext>
              </a:extLst>
            </p:cNvPr>
            <p:cNvSpPr/>
            <p:nvPr/>
          </p:nvSpPr>
          <p:spPr>
            <a:xfrm>
              <a:off x="10741152" y="740034"/>
              <a:ext cx="35560" cy="189230"/>
            </a:xfrm>
            <a:custGeom>
              <a:avLst/>
              <a:gdLst/>
              <a:ahLst/>
              <a:cxnLst/>
              <a:rect l="l" t="t" r="r" b="b"/>
              <a:pathLst>
                <a:path w="35559" h="189230">
                  <a:moveTo>
                    <a:pt x="35371" y="0"/>
                  </a:moveTo>
                  <a:lnTo>
                    <a:pt x="0" y="0"/>
                  </a:lnTo>
                  <a:lnTo>
                    <a:pt x="0" y="189107"/>
                  </a:lnTo>
                  <a:lnTo>
                    <a:pt x="35371" y="189107"/>
                  </a:lnTo>
                  <a:lnTo>
                    <a:pt x="35371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C32B236-EE0C-CC5A-7275-39FA9A3FE9D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8110" y="793884"/>
              <a:ext cx="127128" cy="13525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5EA421F-C325-2E84-95BF-BF44F0FEBD1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5640" y="758253"/>
              <a:ext cx="250048" cy="17351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F8E54DE-4915-B202-E99E-8E8720B6AAA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5976" y="793359"/>
              <a:ext cx="90441" cy="135781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21B1304-11F9-D1E0-819B-4F2A00C1A360}"/>
                </a:ext>
              </a:extLst>
            </p:cNvPr>
            <p:cNvSpPr/>
            <p:nvPr/>
          </p:nvSpPr>
          <p:spPr>
            <a:xfrm>
              <a:off x="11356200" y="734885"/>
              <a:ext cx="40005" cy="194310"/>
            </a:xfrm>
            <a:custGeom>
              <a:avLst/>
              <a:gdLst/>
              <a:ahLst/>
              <a:cxnLst/>
              <a:rect l="l" t="t" r="r" b="b"/>
              <a:pathLst>
                <a:path w="40004" h="194309">
                  <a:moveTo>
                    <a:pt x="37299" y="61709"/>
                  </a:moveTo>
                  <a:lnTo>
                    <a:pt x="2451" y="61709"/>
                  </a:lnTo>
                  <a:lnTo>
                    <a:pt x="2451" y="194259"/>
                  </a:lnTo>
                  <a:lnTo>
                    <a:pt x="37299" y="194259"/>
                  </a:lnTo>
                  <a:lnTo>
                    <a:pt x="37299" y="61709"/>
                  </a:lnTo>
                  <a:close/>
                </a:path>
                <a:path w="40004" h="194309">
                  <a:moveTo>
                    <a:pt x="39484" y="0"/>
                  </a:moveTo>
                  <a:lnTo>
                    <a:pt x="0" y="0"/>
                  </a:lnTo>
                  <a:lnTo>
                    <a:pt x="0" y="34404"/>
                  </a:lnTo>
                  <a:lnTo>
                    <a:pt x="39484" y="34404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4D868DD-1A30-6AF8-892B-BA43D43FCDF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24316" y="793884"/>
              <a:ext cx="137372" cy="13788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01E2CBF-27DB-A53C-0AAD-F3FB3BADAB4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2594" y="793359"/>
              <a:ext cx="90348" cy="135781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AB1CCFC6-0499-B095-07AA-0F617D36651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grpSp>
        <p:nvGrpSpPr>
          <p:cNvPr id="11" name="object 11">
            <a:extLst>
              <a:ext uri="{FF2B5EF4-FFF2-40B4-BE49-F238E27FC236}">
                <a16:creationId xmlns:a16="http://schemas.microsoft.com/office/drawing/2014/main" id="{4D1EA14B-0169-B6FB-609C-1329C6BFC2AD}"/>
              </a:ext>
            </a:extLst>
          </p:cNvPr>
          <p:cNvGrpSpPr/>
          <p:nvPr/>
        </p:nvGrpSpPr>
        <p:grpSpPr>
          <a:xfrm>
            <a:off x="11009151" y="1052329"/>
            <a:ext cx="386715" cy="33655"/>
            <a:chOff x="11009151" y="1052329"/>
            <a:chExt cx="386715" cy="3365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A205FC9-8372-BEA2-72CC-7940A2779921}"/>
                </a:ext>
              </a:extLst>
            </p:cNvPr>
            <p:cNvSpPr/>
            <p:nvPr/>
          </p:nvSpPr>
          <p:spPr>
            <a:xfrm>
              <a:off x="11009151" y="1052329"/>
              <a:ext cx="193675" cy="33655"/>
            </a:xfrm>
            <a:custGeom>
              <a:avLst/>
              <a:gdLst/>
              <a:ahLst/>
              <a:cxnLst/>
              <a:rect l="l" t="t" r="r" b="b"/>
              <a:pathLst>
                <a:path w="193675" h="33655">
                  <a:moveTo>
                    <a:pt x="193138" y="0"/>
                  </a:moveTo>
                  <a:lnTo>
                    <a:pt x="0" y="0"/>
                  </a:lnTo>
                  <a:lnTo>
                    <a:pt x="0" y="33532"/>
                  </a:lnTo>
                  <a:lnTo>
                    <a:pt x="193138" y="33532"/>
                  </a:lnTo>
                  <a:lnTo>
                    <a:pt x="193138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6A68A01-033F-E28A-51D1-0B0427C8E4E5}"/>
                </a:ext>
              </a:extLst>
            </p:cNvPr>
            <p:cNvSpPr/>
            <p:nvPr/>
          </p:nvSpPr>
          <p:spPr>
            <a:xfrm>
              <a:off x="11202290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76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76" y="33444"/>
                  </a:lnTo>
                  <a:lnTo>
                    <a:pt x="96476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0EFDCB2-C6CB-F11D-B3AA-135F6449D3BF}"/>
                </a:ext>
              </a:extLst>
            </p:cNvPr>
            <p:cNvSpPr/>
            <p:nvPr/>
          </p:nvSpPr>
          <p:spPr>
            <a:xfrm>
              <a:off x="11298766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87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87" y="33444"/>
                  </a:lnTo>
                  <a:lnTo>
                    <a:pt x="96487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45A7A8F2-EF98-AA91-7BA6-BFBCA208246F}"/>
              </a:ext>
            </a:extLst>
          </p:cNvPr>
          <p:cNvGrpSpPr/>
          <p:nvPr/>
        </p:nvGrpSpPr>
        <p:grpSpPr>
          <a:xfrm>
            <a:off x="0" y="6684757"/>
            <a:ext cx="12192000" cy="173355"/>
            <a:chOff x="0" y="6684757"/>
            <a:chExt cx="12192000" cy="17335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BCDD7A1-822E-4315-0986-F7E26DEFA6F8}"/>
                </a:ext>
              </a:extLst>
            </p:cNvPr>
            <p:cNvSpPr/>
            <p:nvPr/>
          </p:nvSpPr>
          <p:spPr>
            <a:xfrm>
              <a:off x="0" y="6684757"/>
              <a:ext cx="6098540" cy="173355"/>
            </a:xfrm>
            <a:custGeom>
              <a:avLst/>
              <a:gdLst/>
              <a:ahLst/>
              <a:cxnLst/>
              <a:rect l="l" t="t" r="r" b="b"/>
              <a:pathLst>
                <a:path w="6098540" h="173354">
                  <a:moveTo>
                    <a:pt x="6098428" y="173240"/>
                  </a:moveTo>
                  <a:lnTo>
                    <a:pt x="6098428" y="0"/>
                  </a:lnTo>
                  <a:lnTo>
                    <a:pt x="0" y="0"/>
                  </a:lnTo>
                  <a:lnTo>
                    <a:pt x="0" y="173240"/>
                  </a:lnTo>
                  <a:lnTo>
                    <a:pt x="6098428" y="17324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07A0CC2-EEE2-80EB-DBDB-75CE78AF8BC8}"/>
                </a:ext>
              </a:extLst>
            </p:cNvPr>
            <p:cNvSpPr/>
            <p:nvPr/>
          </p:nvSpPr>
          <p:spPr>
            <a:xfrm>
              <a:off x="6098428" y="6684757"/>
              <a:ext cx="3048635" cy="173355"/>
            </a:xfrm>
            <a:custGeom>
              <a:avLst/>
              <a:gdLst/>
              <a:ahLst/>
              <a:cxnLst/>
              <a:rect l="l" t="t" r="r" b="b"/>
              <a:pathLst>
                <a:path w="3048634" h="173354">
                  <a:moveTo>
                    <a:pt x="3048099" y="0"/>
                  </a:moveTo>
                  <a:lnTo>
                    <a:pt x="0" y="0"/>
                  </a:lnTo>
                  <a:lnTo>
                    <a:pt x="0" y="173240"/>
                  </a:lnTo>
                  <a:lnTo>
                    <a:pt x="3048099" y="173240"/>
                  </a:lnTo>
                  <a:lnTo>
                    <a:pt x="3048099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E260379-CB61-80B9-A861-4F2E99A1F866}"/>
                </a:ext>
              </a:extLst>
            </p:cNvPr>
            <p:cNvSpPr/>
            <p:nvPr/>
          </p:nvSpPr>
          <p:spPr>
            <a:xfrm>
              <a:off x="9147036" y="6684757"/>
              <a:ext cx="3045460" cy="173355"/>
            </a:xfrm>
            <a:custGeom>
              <a:avLst/>
              <a:gdLst/>
              <a:ahLst/>
              <a:cxnLst/>
              <a:rect l="l" t="t" r="r" b="b"/>
              <a:pathLst>
                <a:path w="3045459" h="173354">
                  <a:moveTo>
                    <a:pt x="0" y="0"/>
                  </a:moveTo>
                  <a:lnTo>
                    <a:pt x="0" y="173240"/>
                  </a:lnTo>
                  <a:lnTo>
                    <a:pt x="3044962" y="173240"/>
                  </a:lnTo>
                  <a:lnTo>
                    <a:pt x="3044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A40165D5-9CD9-F7FC-0BFA-E1B6587DB1D6}"/>
              </a:ext>
            </a:extLst>
          </p:cNvPr>
          <p:cNvGrpSpPr/>
          <p:nvPr/>
        </p:nvGrpSpPr>
        <p:grpSpPr>
          <a:xfrm>
            <a:off x="0" y="741552"/>
            <a:ext cx="3538854" cy="157480"/>
            <a:chOff x="0" y="741552"/>
            <a:chExt cx="3538854" cy="157480"/>
          </a:xfrm>
        </p:grpSpPr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48B09B75-45EE-A3F5-D467-B2EA6F0BC4D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3DD66B20-B41C-9D2C-7BA6-BF94871AB68D}"/>
                </a:ext>
              </a:extLst>
            </p:cNvPr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CA629876-F441-7A5C-06CD-F1B8EEB3BCC0}"/>
              </a:ext>
            </a:extLst>
          </p:cNvPr>
          <p:cNvSpPr txBox="1"/>
          <p:nvPr/>
        </p:nvSpPr>
        <p:spPr>
          <a:xfrm>
            <a:off x="533400" y="1052329"/>
            <a:ext cx="11059194" cy="139717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+mn-lt"/>
              </a:rPr>
              <a:t>Sujeto intercultural que se identifica como tal, involucrado vitalmente en el trabajo directo con la tierra, las aguas y la naturaleza, inmerso en formas de organización social basadas en el trabajo familiar y comunitario no remunerado o en la venta de su fuerza de trabajo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+mn-lt"/>
                <a:cs typeface="Arial" panose="020B0604020202020204" pitchFamily="34" charset="0"/>
              </a:rPr>
              <a:t>.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object 4">
            <a:extLst>
              <a:ext uri="{FF2B5EF4-FFF2-40B4-BE49-F238E27FC236}">
                <a16:creationId xmlns:a16="http://schemas.microsoft.com/office/drawing/2014/main" id="{DD3A324C-6124-CAF1-F7C0-C2DC9A4D22A4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2090" y="2901758"/>
            <a:ext cx="4648199" cy="2198878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054F5106-97C3-8A75-A219-4A38D4AD762B}"/>
              </a:ext>
            </a:extLst>
          </p:cNvPr>
          <p:cNvSpPr txBox="1"/>
          <p:nvPr/>
        </p:nvSpPr>
        <p:spPr>
          <a:xfrm>
            <a:off x="5399278" y="2655958"/>
            <a:ext cx="6093724" cy="32024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marR="43180" algn="just">
              <a:lnSpc>
                <a:spcPct val="90000"/>
              </a:lnSpc>
              <a:spcBef>
                <a:spcPts val="345"/>
              </a:spcBef>
            </a:pPr>
            <a:r>
              <a:rPr lang="es-ES" dirty="0">
                <a:latin typeface="+mn-lt"/>
              </a:rPr>
              <a:t>El</a:t>
            </a:r>
            <a:r>
              <a:rPr lang="es-ES" spc="20" dirty="0">
                <a:latin typeface="+mn-lt"/>
              </a:rPr>
              <a:t> </a:t>
            </a:r>
            <a:r>
              <a:rPr lang="es-ES" dirty="0">
                <a:latin typeface="+mn-lt"/>
              </a:rPr>
              <a:t>sujeto</a:t>
            </a:r>
            <a:r>
              <a:rPr lang="es-ES" spc="10" dirty="0">
                <a:latin typeface="+mn-lt"/>
              </a:rPr>
              <a:t> </a:t>
            </a:r>
            <a:r>
              <a:rPr lang="es-ES" dirty="0">
                <a:latin typeface="+mn-lt"/>
              </a:rPr>
              <a:t>campesino ha</a:t>
            </a:r>
            <a:r>
              <a:rPr lang="es-ES" spc="20" dirty="0">
                <a:latin typeface="+mn-lt"/>
              </a:rPr>
              <a:t> </a:t>
            </a:r>
            <a:r>
              <a:rPr lang="es-ES" spc="55" dirty="0">
                <a:latin typeface="+mn-lt"/>
              </a:rPr>
              <a:t>sido</a:t>
            </a:r>
            <a:r>
              <a:rPr lang="es-ES" spc="15" dirty="0">
                <a:latin typeface="+mn-lt"/>
              </a:rPr>
              <a:t> </a:t>
            </a:r>
            <a:r>
              <a:rPr lang="es-ES" dirty="0">
                <a:latin typeface="+mn-lt"/>
              </a:rPr>
              <a:t>definido</a:t>
            </a:r>
            <a:r>
              <a:rPr lang="es-ES" spc="25" dirty="0">
                <a:latin typeface="+mn-lt"/>
              </a:rPr>
              <a:t> </a:t>
            </a:r>
            <a:r>
              <a:rPr lang="es-ES" dirty="0">
                <a:latin typeface="+mn-lt"/>
              </a:rPr>
              <a:t>por</a:t>
            </a:r>
            <a:r>
              <a:rPr lang="es-ES" spc="20" dirty="0">
                <a:latin typeface="+mn-lt"/>
              </a:rPr>
              <a:t> </a:t>
            </a:r>
            <a:r>
              <a:rPr lang="es-ES" spc="-25" dirty="0">
                <a:latin typeface="+mn-lt"/>
              </a:rPr>
              <a:t>la </a:t>
            </a:r>
            <a:r>
              <a:rPr lang="es-ES" spc="50" dirty="0">
                <a:latin typeface="+mn-lt"/>
              </a:rPr>
              <a:t>Comisión</a:t>
            </a:r>
            <a:r>
              <a:rPr lang="es-ES" spc="-15" dirty="0">
                <a:latin typeface="+mn-lt"/>
              </a:rPr>
              <a:t> </a:t>
            </a:r>
            <a:r>
              <a:rPr lang="es-ES" spc="50" dirty="0">
                <a:latin typeface="+mn-lt"/>
              </a:rPr>
              <a:t>de</a:t>
            </a:r>
            <a:r>
              <a:rPr lang="es-ES" spc="-10" dirty="0">
                <a:latin typeface="+mn-lt"/>
              </a:rPr>
              <a:t> </a:t>
            </a:r>
            <a:r>
              <a:rPr lang="es-ES" dirty="0">
                <a:latin typeface="+mn-lt"/>
              </a:rPr>
              <a:t>Expertos</a:t>
            </a:r>
            <a:r>
              <a:rPr lang="es-ES" spc="-35" dirty="0">
                <a:latin typeface="+mn-lt"/>
              </a:rPr>
              <a:t> </a:t>
            </a:r>
            <a:r>
              <a:rPr lang="es-ES" dirty="0">
                <a:latin typeface="+mn-lt"/>
              </a:rPr>
              <a:t>para</a:t>
            </a:r>
            <a:r>
              <a:rPr lang="es-ES" spc="-25" dirty="0">
                <a:latin typeface="+mn-lt"/>
              </a:rPr>
              <a:t> </a:t>
            </a:r>
            <a:r>
              <a:rPr lang="es-ES" dirty="0">
                <a:latin typeface="+mn-lt"/>
              </a:rPr>
              <a:t>la</a:t>
            </a:r>
            <a:r>
              <a:rPr lang="es-ES" spc="5" dirty="0">
                <a:latin typeface="+mn-lt"/>
              </a:rPr>
              <a:t> </a:t>
            </a:r>
            <a:r>
              <a:rPr lang="es-ES" spc="-10" dirty="0">
                <a:latin typeface="+mn-lt"/>
              </a:rPr>
              <a:t>caracterización </a:t>
            </a:r>
            <a:r>
              <a:rPr lang="es-ES" spc="10" dirty="0">
                <a:latin typeface="+mn-lt"/>
              </a:rPr>
              <a:t>del</a:t>
            </a:r>
            <a:r>
              <a:rPr lang="es-ES" spc="95" dirty="0">
                <a:latin typeface="+mn-lt"/>
              </a:rPr>
              <a:t> </a:t>
            </a:r>
            <a:r>
              <a:rPr lang="es-ES" spc="10" dirty="0">
                <a:latin typeface="+mn-lt"/>
              </a:rPr>
              <a:t>campesinado</a:t>
            </a:r>
            <a:r>
              <a:rPr lang="es-ES" spc="40" dirty="0">
                <a:latin typeface="+mn-lt"/>
              </a:rPr>
              <a:t> </a:t>
            </a:r>
            <a:r>
              <a:rPr lang="es-ES" spc="10" dirty="0">
                <a:latin typeface="+mn-lt"/>
              </a:rPr>
              <a:t>en</a:t>
            </a:r>
            <a:r>
              <a:rPr lang="es-ES" spc="80" dirty="0">
                <a:latin typeface="+mn-lt"/>
              </a:rPr>
              <a:t> </a:t>
            </a:r>
            <a:r>
              <a:rPr lang="es-ES" spc="10" dirty="0">
                <a:latin typeface="+mn-lt"/>
              </a:rPr>
              <a:t>Colombia,</a:t>
            </a:r>
            <a:r>
              <a:rPr lang="es-ES" spc="80" dirty="0">
                <a:latin typeface="+mn-lt"/>
              </a:rPr>
              <a:t> </a:t>
            </a:r>
            <a:r>
              <a:rPr lang="es-ES" spc="65" dirty="0">
                <a:latin typeface="+mn-lt"/>
              </a:rPr>
              <a:t>como</a:t>
            </a:r>
            <a:r>
              <a:rPr lang="es-ES" spc="50" dirty="0">
                <a:latin typeface="+mn-lt"/>
              </a:rPr>
              <a:t> </a:t>
            </a:r>
            <a:r>
              <a:rPr lang="es-ES" spc="-10" dirty="0">
                <a:latin typeface="+mn-lt"/>
              </a:rPr>
              <a:t>sujeto </a:t>
            </a:r>
            <a:r>
              <a:rPr lang="es-ES" dirty="0">
                <a:latin typeface="+mn-lt"/>
              </a:rPr>
              <a:t>colectivo</a:t>
            </a:r>
            <a:r>
              <a:rPr lang="es-ES" spc="-5" dirty="0">
                <a:latin typeface="+mn-lt"/>
              </a:rPr>
              <a:t> </a:t>
            </a:r>
            <a:r>
              <a:rPr lang="es-ES" spc="50" dirty="0">
                <a:latin typeface="+mn-lt"/>
              </a:rPr>
              <a:t>de</a:t>
            </a:r>
            <a:r>
              <a:rPr lang="es-ES" spc="5" dirty="0">
                <a:latin typeface="+mn-lt"/>
              </a:rPr>
              <a:t> </a:t>
            </a:r>
            <a:r>
              <a:rPr lang="es-ES" dirty="0">
                <a:latin typeface="+mn-lt"/>
              </a:rPr>
              <a:t>manera</a:t>
            </a:r>
            <a:r>
              <a:rPr lang="es-ES" spc="-5" dirty="0">
                <a:latin typeface="+mn-lt"/>
              </a:rPr>
              <a:t> </a:t>
            </a:r>
            <a:r>
              <a:rPr lang="es-ES" b="1" spc="-125" dirty="0">
                <a:latin typeface="+mn-lt"/>
                <a:cs typeface="Tahoma"/>
              </a:rPr>
              <a:t>INTEGRAL</a:t>
            </a:r>
            <a:r>
              <a:rPr lang="es-ES" b="1" spc="-10" dirty="0">
                <a:latin typeface="+mn-lt"/>
                <a:cs typeface="Tahoma"/>
              </a:rPr>
              <a:t> </a:t>
            </a:r>
            <a:r>
              <a:rPr lang="es-ES" spc="-50" dirty="0">
                <a:latin typeface="+mn-lt"/>
              </a:rPr>
              <a:t>y </a:t>
            </a:r>
            <a:r>
              <a:rPr lang="es-ES" b="1" spc="-85" dirty="0">
                <a:latin typeface="+mn-lt"/>
                <a:cs typeface="Tahoma"/>
              </a:rPr>
              <a:t>MULTIDIMENSIONAL.</a:t>
            </a:r>
          </a:p>
          <a:p>
            <a:pPr marL="12700" algn="just">
              <a:lnSpc>
                <a:spcPts val="2280"/>
              </a:lnSpc>
              <a:spcBef>
                <a:spcPts val="1925"/>
              </a:spcBef>
            </a:pPr>
            <a:r>
              <a:rPr lang="es-ES" spc="90" dirty="0">
                <a:latin typeface="+mn-lt"/>
              </a:rPr>
              <a:t>Como</a:t>
            </a:r>
            <a:r>
              <a:rPr lang="es-ES" spc="-85" dirty="0">
                <a:latin typeface="+mn-lt"/>
              </a:rPr>
              <a:t> </a:t>
            </a:r>
            <a:r>
              <a:rPr lang="es-ES" spc="114" dirty="0">
                <a:latin typeface="+mn-lt"/>
              </a:rPr>
              <a:t>SUJETO</a:t>
            </a:r>
            <a:r>
              <a:rPr lang="es-ES" spc="-75" dirty="0">
                <a:latin typeface="+mn-lt"/>
              </a:rPr>
              <a:t> </a:t>
            </a:r>
            <a:r>
              <a:rPr lang="es-ES" spc="60" dirty="0">
                <a:latin typeface="+mn-lt"/>
              </a:rPr>
              <a:t>PRODUCTIVO,</a:t>
            </a:r>
            <a:r>
              <a:rPr lang="es-ES" spc="-60" dirty="0">
                <a:latin typeface="+mn-lt"/>
              </a:rPr>
              <a:t> </a:t>
            </a:r>
            <a:r>
              <a:rPr lang="es-ES" spc="-10" dirty="0">
                <a:latin typeface="+mn-lt"/>
              </a:rPr>
              <a:t>TERRITORIAL</a:t>
            </a:r>
            <a:r>
              <a:rPr lang="es-ES" spc="50" dirty="0">
                <a:latin typeface="+mn-lt"/>
              </a:rPr>
              <a:t>-</a:t>
            </a:r>
            <a:r>
              <a:rPr lang="es-ES" spc="-30" dirty="0">
                <a:latin typeface="+mn-lt"/>
              </a:rPr>
              <a:t> </a:t>
            </a:r>
            <a:r>
              <a:rPr lang="es-ES" spc="55" dirty="0">
                <a:latin typeface="+mn-lt"/>
              </a:rPr>
              <a:t>AMBIENTAL,</a:t>
            </a:r>
            <a:r>
              <a:rPr lang="es-ES" spc="-20" dirty="0">
                <a:latin typeface="+mn-lt"/>
              </a:rPr>
              <a:t> </a:t>
            </a:r>
            <a:r>
              <a:rPr lang="es-ES" spc="110" dirty="0">
                <a:latin typeface="+mn-lt"/>
              </a:rPr>
              <a:t>CULTURAL</a:t>
            </a:r>
            <a:r>
              <a:rPr lang="es-ES" spc="-10" dirty="0">
                <a:latin typeface="+mn-lt"/>
              </a:rPr>
              <a:t> </a:t>
            </a:r>
            <a:r>
              <a:rPr lang="es-ES" dirty="0">
                <a:latin typeface="+mn-lt"/>
              </a:rPr>
              <a:t>y</a:t>
            </a:r>
            <a:r>
              <a:rPr lang="es-ES" spc="-25" dirty="0">
                <a:latin typeface="+mn-lt"/>
              </a:rPr>
              <a:t> </a:t>
            </a:r>
            <a:r>
              <a:rPr lang="es-ES" dirty="0">
                <a:latin typeface="+mn-lt"/>
              </a:rPr>
              <a:t>POLITICO</a:t>
            </a:r>
            <a:r>
              <a:rPr lang="es-ES" spc="-25" dirty="0">
                <a:latin typeface="+mn-lt"/>
              </a:rPr>
              <a:t> </a:t>
            </a:r>
            <a:r>
              <a:rPr lang="es-ES" dirty="0">
                <a:latin typeface="+mn-lt"/>
              </a:rPr>
              <a:t>- </a:t>
            </a:r>
            <a:r>
              <a:rPr lang="es-ES" spc="-10" dirty="0">
                <a:latin typeface="+mn-lt"/>
              </a:rPr>
              <a:t>ORGANIZATIVO.</a:t>
            </a:r>
          </a:p>
          <a:p>
            <a:pPr marL="12700" marR="64135" algn="just">
              <a:lnSpc>
                <a:spcPct val="90000"/>
              </a:lnSpc>
              <a:spcBef>
                <a:spcPts val="2130"/>
              </a:spcBef>
            </a:pPr>
            <a:r>
              <a:rPr lang="es-ES" spc="95" dirty="0">
                <a:latin typeface="+mn-lt"/>
              </a:rPr>
              <a:t>Como</a:t>
            </a:r>
            <a:r>
              <a:rPr lang="es-ES" spc="-55" dirty="0">
                <a:latin typeface="+mn-lt"/>
              </a:rPr>
              <a:t> </a:t>
            </a:r>
            <a:r>
              <a:rPr lang="es-ES" dirty="0">
                <a:latin typeface="+mn-lt"/>
              </a:rPr>
              <a:t>sujeto</a:t>
            </a:r>
            <a:r>
              <a:rPr lang="es-ES" spc="-55" dirty="0">
                <a:latin typeface="+mn-lt"/>
              </a:rPr>
              <a:t> </a:t>
            </a:r>
            <a:r>
              <a:rPr lang="es-ES" dirty="0">
                <a:latin typeface="+mn-lt"/>
              </a:rPr>
              <a:t>situado</a:t>
            </a:r>
            <a:r>
              <a:rPr lang="es-ES" spc="-60" dirty="0">
                <a:latin typeface="+mn-lt"/>
              </a:rPr>
              <a:t> </a:t>
            </a:r>
            <a:r>
              <a:rPr lang="es-ES" dirty="0">
                <a:latin typeface="+mn-lt"/>
              </a:rPr>
              <a:t>en</a:t>
            </a:r>
            <a:r>
              <a:rPr lang="es-ES" spc="-50" dirty="0">
                <a:latin typeface="+mn-lt"/>
              </a:rPr>
              <a:t> </a:t>
            </a:r>
            <a:r>
              <a:rPr lang="es-ES" dirty="0">
                <a:latin typeface="+mn-lt"/>
              </a:rPr>
              <a:t>la</a:t>
            </a:r>
            <a:r>
              <a:rPr lang="es-ES" spc="-30" dirty="0">
                <a:latin typeface="+mn-lt"/>
              </a:rPr>
              <a:t> </a:t>
            </a:r>
            <a:r>
              <a:rPr lang="es-ES" dirty="0">
                <a:latin typeface="+mn-lt"/>
              </a:rPr>
              <a:t>historia</a:t>
            </a:r>
            <a:r>
              <a:rPr lang="es-ES" spc="-70" dirty="0">
                <a:latin typeface="+mn-lt"/>
              </a:rPr>
              <a:t> </a:t>
            </a:r>
            <a:r>
              <a:rPr lang="es-ES" dirty="0">
                <a:latin typeface="+mn-lt"/>
              </a:rPr>
              <a:t>y</a:t>
            </a:r>
            <a:r>
              <a:rPr lang="es-ES" spc="-30" dirty="0">
                <a:latin typeface="+mn-lt"/>
              </a:rPr>
              <a:t> </a:t>
            </a:r>
            <a:r>
              <a:rPr lang="es-ES" spc="-10" dirty="0">
                <a:latin typeface="+mn-lt"/>
              </a:rPr>
              <a:t>presente </a:t>
            </a:r>
            <a:r>
              <a:rPr lang="es-ES" dirty="0">
                <a:latin typeface="+mn-lt"/>
              </a:rPr>
              <a:t>nacional,</a:t>
            </a:r>
            <a:r>
              <a:rPr lang="es-ES" spc="65" dirty="0">
                <a:latin typeface="+mn-lt"/>
              </a:rPr>
              <a:t> </a:t>
            </a:r>
            <a:r>
              <a:rPr lang="es-ES" dirty="0">
                <a:latin typeface="+mn-lt"/>
              </a:rPr>
              <a:t>que</a:t>
            </a:r>
            <a:r>
              <a:rPr lang="es-ES" spc="85" dirty="0">
                <a:latin typeface="+mn-lt"/>
              </a:rPr>
              <a:t> </a:t>
            </a:r>
            <a:r>
              <a:rPr lang="es-ES" dirty="0">
                <a:latin typeface="+mn-lt"/>
              </a:rPr>
              <a:t>ha</a:t>
            </a:r>
            <a:r>
              <a:rPr lang="es-ES" spc="80" dirty="0">
                <a:latin typeface="+mn-lt"/>
              </a:rPr>
              <a:t> </a:t>
            </a:r>
            <a:r>
              <a:rPr lang="es-ES" dirty="0">
                <a:latin typeface="+mn-lt"/>
              </a:rPr>
              <a:t>sufrido</a:t>
            </a:r>
            <a:r>
              <a:rPr lang="es-ES" spc="65" dirty="0">
                <a:latin typeface="+mn-lt"/>
              </a:rPr>
              <a:t> </a:t>
            </a:r>
            <a:r>
              <a:rPr lang="es-ES" dirty="0">
                <a:latin typeface="+mn-lt"/>
              </a:rPr>
              <a:t>discriminaciones</a:t>
            </a:r>
            <a:r>
              <a:rPr lang="es-ES" spc="55" dirty="0">
                <a:latin typeface="+mn-lt"/>
              </a:rPr>
              <a:t> </a:t>
            </a:r>
            <a:r>
              <a:rPr lang="es-ES" spc="-50" dirty="0">
                <a:latin typeface="+mn-lt"/>
              </a:rPr>
              <a:t>y </a:t>
            </a:r>
            <a:r>
              <a:rPr lang="es-ES" dirty="0">
                <a:latin typeface="+mn-lt"/>
              </a:rPr>
              <a:t>exclusiones</a:t>
            </a:r>
            <a:r>
              <a:rPr lang="es-ES" spc="-10" dirty="0">
                <a:latin typeface="+mn-lt"/>
              </a:rPr>
              <a:t> </a:t>
            </a:r>
            <a:r>
              <a:rPr lang="es-ES" spc="50" dirty="0">
                <a:latin typeface="+mn-lt"/>
              </a:rPr>
              <a:t>de</a:t>
            </a:r>
            <a:r>
              <a:rPr lang="es-ES" spc="15" dirty="0">
                <a:latin typeface="+mn-lt"/>
              </a:rPr>
              <a:t> </a:t>
            </a:r>
            <a:r>
              <a:rPr lang="es-ES" dirty="0">
                <a:latin typeface="+mn-lt"/>
              </a:rPr>
              <a:t>larga</a:t>
            </a:r>
            <a:r>
              <a:rPr lang="es-ES" spc="15" dirty="0">
                <a:latin typeface="+mn-lt"/>
              </a:rPr>
              <a:t> </a:t>
            </a:r>
            <a:r>
              <a:rPr lang="es-ES" dirty="0">
                <a:latin typeface="+mn-lt"/>
              </a:rPr>
              <a:t>data,</a:t>
            </a:r>
            <a:r>
              <a:rPr lang="es-ES" spc="-5" dirty="0">
                <a:latin typeface="+mn-lt"/>
              </a:rPr>
              <a:t> </a:t>
            </a:r>
            <a:r>
              <a:rPr lang="es-ES" dirty="0">
                <a:latin typeface="+mn-lt"/>
              </a:rPr>
              <a:t>por</a:t>
            </a:r>
            <a:r>
              <a:rPr lang="es-ES" spc="25" dirty="0">
                <a:latin typeface="+mn-lt"/>
              </a:rPr>
              <a:t> </a:t>
            </a:r>
            <a:r>
              <a:rPr lang="es-ES" dirty="0">
                <a:latin typeface="+mn-lt"/>
              </a:rPr>
              <a:t>lo</a:t>
            </a:r>
            <a:r>
              <a:rPr lang="es-ES" spc="30" dirty="0">
                <a:latin typeface="+mn-lt"/>
              </a:rPr>
              <a:t> </a:t>
            </a:r>
            <a:r>
              <a:rPr lang="es-ES" dirty="0">
                <a:latin typeface="+mn-lt"/>
              </a:rPr>
              <a:t>que</a:t>
            </a:r>
            <a:r>
              <a:rPr lang="es-ES" spc="15" dirty="0">
                <a:latin typeface="+mn-lt"/>
              </a:rPr>
              <a:t> </a:t>
            </a:r>
            <a:r>
              <a:rPr lang="es-ES" spc="-10" dirty="0">
                <a:latin typeface="+mn-lt"/>
              </a:rPr>
              <a:t>amerita </a:t>
            </a:r>
            <a:r>
              <a:rPr lang="es-ES" dirty="0">
                <a:latin typeface="+mn-lt"/>
              </a:rPr>
              <a:t>una</a:t>
            </a:r>
            <a:r>
              <a:rPr lang="es-ES" spc="65" dirty="0">
                <a:latin typeface="+mn-lt"/>
              </a:rPr>
              <a:t> </a:t>
            </a:r>
            <a:r>
              <a:rPr lang="es-ES" dirty="0">
                <a:latin typeface="+mn-lt"/>
              </a:rPr>
              <a:t>especial</a:t>
            </a:r>
            <a:r>
              <a:rPr lang="es-ES" spc="55" dirty="0">
                <a:latin typeface="+mn-lt"/>
              </a:rPr>
              <a:t> </a:t>
            </a:r>
            <a:r>
              <a:rPr lang="es-ES" dirty="0">
                <a:latin typeface="+mn-lt"/>
              </a:rPr>
              <a:t>protección,</a:t>
            </a:r>
            <a:r>
              <a:rPr lang="es-ES" spc="30" dirty="0">
                <a:latin typeface="+mn-lt"/>
              </a:rPr>
              <a:t> </a:t>
            </a:r>
            <a:r>
              <a:rPr lang="es-ES" dirty="0">
                <a:latin typeface="+mn-lt"/>
              </a:rPr>
              <a:t>en</a:t>
            </a:r>
            <a:r>
              <a:rPr lang="es-ES" spc="70" dirty="0">
                <a:latin typeface="+mn-lt"/>
              </a:rPr>
              <a:t> </a:t>
            </a:r>
            <a:r>
              <a:rPr lang="es-ES" dirty="0">
                <a:latin typeface="+mn-lt"/>
              </a:rPr>
              <a:t>un</a:t>
            </a:r>
            <a:r>
              <a:rPr lang="es-ES" spc="70" dirty="0">
                <a:latin typeface="+mn-lt"/>
              </a:rPr>
              <a:t> </a:t>
            </a:r>
            <a:r>
              <a:rPr lang="es-ES" dirty="0">
                <a:latin typeface="+mn-lt"/>
              </a:rPr>
              <a:t>estado</a:t>
            </a:r>
            <a:r>
              <a:rPr lang="es-ES" spc="35" dirty="0">
                <a:latin typeface="+mn-lt"/>
              </a:rPr>
              <a:t> </a:t>
            </a:r>
            <a:r>
              <a:rPr lang="es-ES" spc="-10" dirty="0">
                <a:latin typeface="+mn-lt"/>
              </a:rPr>
              <a:t>social </a:t>
            </a:r>
            <a:r>
              <a:rPr lang="es-ES" spc="50" dirty="0">
                <a:latin typeface="+mn-lt"/>
              </a:rPr>
              <a:t>de</a:t>
            </a:r>
            <a:r>
              <a:rPr lang="es-ES" spc="-85" dirty="0">
                <a:latin typeface="+mn-lt"/>
              </a:rPr>
              <a:t> </a:t>
            </a:r>
            <a:r>
              <a:rPr lang="es-ES" spc="-10" dirty="0">
                <a:latin typeface="+mn-lt"/>
              </a:rPr>
              <a:t>derecho.</a:t>
            </a:r>
          </a:p>
        </p:txBody>
      </p:sp>
    </p:spTree>
    <p:extLst>
      <p:ext uri="{BB962C8B-B14F-4D97-AF65-F5344CB8AC3E}">
        <p14:creationId xmlns:p14="http://schemas.microsoft.com/office/powerpoint/2010/main" val="239325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474865" y="1219200"/>
            <a:ext cx="10726535" cy="5281878"/>
            <a:chOff x="474865" y="120599"/>
            <a:chExt cx="11387455" cy="6380480"/>
          </a:xfrm>
        </p:grpSpPr>
        <p:sp>
          <p:nvSpPr>
            <p:cNvPr id="5" name="object 5"/>
            <p:cNvSpPr/>
            <p:nvPr/>
          </p:nvSpPr>
          <p:spPr>
            <a:xfrm>
              <a:off x="474865" y="1687449"/>
              <a:ext cx="11242675" cy="4813300"/>
            </a:xfrm>
            <a:custGeom>
              <a:avLst/>
              <a:gdLst/>
              <a:ahLst/>
              <a:cxnLst/>
              <a:rect l="l" t="t" r="r" b="b"/>
              <a:pathLst>
                <a:path w="11242675" h="4813300">
                  <a:moveTo>
                    <a:pt x="5621134" y="0"/>
                  </a:moveTo>
                  <a:lnTo>
                    <a:pt x="5621134" y="4813109"/>
                  </a:lnTo>
                </a:path>
                <a:path w="11242675" h="4813300">
                  <a:moveTo>
                    <a:pt x="0" y="2423795"/>
                  </a:moveTo>
                  <a:lnTo>
                    <a:pt x="11242281" y="2423795"/>
                  </a:lnTo>
                </a:path>
              </a:pathLst>
            </a:custGeom>
            <a:ln w="19050">
              <a:solidFill>
                <a:srgbClr val="4A3B8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9668" y="1852548"/>
              <a:ext cx="3768471" cy="21173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3988" y="1852548"/>
              <a:ext cx="3763771" cy="21115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9668" y="4252595"/>
              <a:ext cx="3757929" cy="21101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4401" y="4248530"/>
              <a:ext cx="3747388" cy="20951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427969" y="133299"/>
              <a:ext cx="1421130" cy="626110"/>
            </a:xfrm>
            <a:custGeom>
              <a:avLst/>
              <a:gdLst/>
              <a:ahLst/>
              <a:cxnLst/>
              <a:rect l="l" t="t" r="r" b="b"/>
              <a:pathLst>
                <a:path w="1421129" h="626110">
                  <a:moveTo>
                    <a:pt x="1421129" y="0"/>
                  </a:moveTo>
                  <a:lnTo>
                    <a:pt x="0" y="0"/>
                  </a:lnTo>
                  <a:lnTo>
                    <a:pt x="0" y="625652"/>
                  </a:lnTo>
                  <a:lnTo>
                    <a:pt x="1421129" y="625652"/>
                  </a:lnTo>
                  <a:lnTo>
                    <a:pt x="1421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27969" y="133299"/>
              <a:ext cx="1421130" cy="626110"/>
            </a:xfrm>
            <a:custGeom>
              <a:avLst/>
              <a:gdLst/>
              <a:ahLst/>
              <a:cxnLst/>
              <a:rect l="l" t="t" r="r" b="b"/>
              <a:pathLst>
                <a:path w="1421129" h="626110">
                  <a:moveTo>
                    <a:pt x="0" y="625652"/>
                  </a:moveTo>
                  <a:lnTo>
                    <a:pt x="1421129" y="625652"/>
                  </a:lnTo>
                  <a:lnTo>
                    <a:pt x="1421129" y="0"/>
                  </a:lnTo>
                  <a:lnTo>
                    <a:pt x="0" y="0"/>
                  </a:lnTo>
                  <a:lnTo>
                    <a:pt x="0" y="62565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11718163" y="637834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Tahoma"/>
                <a:cs typeface="Tahoma"/>
              </a:rPr>
              <a:t>8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3231" y="747812"/>
            <a:ext cx="9507335" cy="1117293"/>
          </a:xfrm>
          <a:prstGeom prst="rect">
            <a:avLst/>
          </a:prstGeom>
        </p:spPr>
        <p:txBody>
          <a:bodyPr vert="horz" wrap="square" lIns="0" tIns="413892" rIns="0" bIns="0" rtlCol="0">
            <a:spAutoFit/>
          </a:bodyPr>
          <a:lstStyle/>
          <a:p>
            <a:pPr marL="2414270" marR="5080" indent="-1681480" algn="just">
              <a:lnSpc>
                <a:spcPts val="2700"/>
              </a:lnSpc>
              <a:spcBef>
                <a:spcPts val="434"/>
              </a:spcBef>
            </a:pPr>
            <a:r>
              <a:rPr spc="-210" dirty="0">
                <a:solidFill>
                  <a:srgbClr val="C00000"/>
                </a:solidFill>
              </a:rPr>
              <a:t>MULTIDIMENSIONALIDAD</a:t>
            </a:r>
            <a:r>
              <a:rPr spc="-6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E</a:t>
            </a:r>
            <a:r>
              <a:rPr spc="-15" dirty="0">
                <a:solidFill>
                  <a:srgbClr val="C00000"/>
                </a:solidFill>
              </a:rPr>
              <a:t> </a:t>
            </a:r>
            <a:r>
              <a:rPr spc="-175" dirty="0">
                <a:solidFill>
                  <a:srgbClr val="C00000"/>
                </a:solidFill>
              </a:rPr>
              <a:t>INTEGRALIDAD </a:t>
            </a:r>
            <a:r>
              <a:rPr spc="-215" dirty="0">
                <a:solidFill>
                  <a:srgbClr val="C00000"/>
                </a:solidFill>
              </a:rPr>
              <a:t>VIDAS</a:t>
            </a:r>
            <a:r>
              <a:rPr spc="-8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CAMPESINAS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3333" y="2753614"/>
            <a:ext cx="1143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solidFill>
                  <a:srgbClr val="C00000"/>
                </a:solidFill>
                <a:latin typeface="Tahoma"/>
                <a:cs typeface="Tahoma"/>
              </a:rPr>
              <a:t>Territorial</a:t>
            </a:r>
            <a:r>
              <a:rPr sz="1800" b="1" spc="-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305" dirty="0">
                <a:solidFill>
                  <a:srgbClr val="C00000"/>
                </a:solidFill>
                <a:latin typeface="Tahoma"/>
                <a:cs typeface="Tahoma"/>
              </a:rPr>
              <a:t>–</a:t>
            </a:r>
            <a:endParaRPr sz="1800" dirty="0">
              <a:solidFill>
                <a:srgbClr val="C00000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b="1" spc="-50" dirty="0">
                <a:solidFill>
                  <a:srgbClr val="C00000"/>
                </a:solidFill>
                <a:latin typeface="Tahoma"/>
                <a:cs typeface="Tahoma"/>
              </a:rPr>
              <a:t>Ambiental</a:t>
            </a:r>
            <a:endParaRPr sz="18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2279" y="6659316"/>
            <a:ext cx="1111250" cy="1949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50" b="1" spc="-80" dirty="0">
                <a:solidFill>
                  <a:srgbClr val="FFFFFF"/>
                </a:solidFill>
                <a:latin typeface="Tahoma"/>
                <a:cs typeface="Tahoma"/>
                <a:hlinkClick r:id="rId6"/>
              </a:rPr>
              <a:t>www.icanh.gov.co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60330" y="2753614"/>
            <a:ext cx="1115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C00000"/>
                </a:solidFill>
                <a:latin typeface="Tahoma"/>
                <a:cs typeface="Tahoma"/>
              </a:rPr>
              <a:t>Productiva</a:t>
            </a:r>
            <a:endParaRPr sz="18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900" y="5159451"/>
            <a:ext cx="12839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C00000"/>
                </a:solidFill>
                <a:latin typeface="Tahoma"/>
                <a:cs typeface="Tahoma"/>
              </a:rPr>
              <a:t>Político</a:t>
            </a:r>
            <a:r>
              <a:rPr sz="1800" b="1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C00000"/>
                </a:solidFill>
                <a:latin typeface="Tahoma"/>
                <a:cs typeface="Tahoma"/>
              </a:rPr>
              <a:t>-</a:t>
            </a:r>
            <a:endParaRPr sz="1800" dirty="0">
              <a:solidFill>
                <a:srgbClr val="C00000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35" dirty="0">
                <a:solidFill>
                  <a:srgbClr val="C00000"/>
                </a:solidFill>
                <a:latin typeface="Tahoma"/>
                <a:cs typeface="Tahoma"/>
              </a:rPr>
              <a:t>Organizativa</a:t>
            </a:r>
            <a:endParaRPr sz="18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60330" y="5159451"/>
            <a:ext cx="8096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5" dirty="0">
                <a:solidFill>
                  <a:srgbClr val="C00000"/>
                </a:solidFill>
                <a:latin typeface="Tahoma"/>
                <a:cs typeface="Tahoma"/>
              </a:rPr>
              <a:t>Cultural</a:t>
            </a:r>
            <a:endParaRPr sz="18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BB428-E42B-42BF-4DE2-602C662F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6598B1-2F64-A116-527D-B2F29DDB0DAE}"/>
              </a:ext>
            </a:extLst>
          </p:cNvPr>
          <p:cNvSpPr/>
          <p:nvPr/>
        </p:nvSpPr>
        <p:spPr>
          <a:xfrm>
            <a:off x="4036440" y="4115942"/>
            <a:ext cx="5393690" cy="0"/>
          </a:xfrm>
          <a:custGeom>
            <a:avLst/>
            <a:gdLst/>
            <a:ahLst/>
            <a:cxnLst/>
            <a:rect l="l" t="t" r="r" b="b"/>
            <a:pathLst>
              <a:path w="5393690">
                <a:moveTo>
                  <a:pt x="0" y="0"/>
                </a:moveTo>
                <a:lnTo>
                  <a:pt x="539330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D9F9B9F-7804-4E64-C4BC-838262A914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61871" y="2438400"/>
            <a:ext cx="7829930" cy="103105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10820" algn="ctr">
              <a:lnSpc>
                <a:spcPct val="100000"/>
              </a:lnSpc>
              <a:spcBef>
                <a:spcPts val="360"/>
              </a:spcBef>
            </a:pPr>
            <a:r>
              <a:rPr lang="en-US" spc="-80" dirty="0"/>
              <a:t>¿PORQUE ERA NECESARIO MODIFICAR EL ARTICULO 64?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95470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E417F5-F3E0-0C08-4459-D6E9B951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4DAC661-E93D-648A-3AAE-12C950B377D7}"/>
              </a:ext>
            </a:extLst>
          </p:cNvPr>
          <p:cNvGrpSpPr/>
          <p:nvPr/>
        </p:nvGrpSpPr>
        <p:grpSpPr>
          <a:xfrm>
            <a:off x="10741152" y="734875"/>
            <a:ext cx="942340" cy="197485"/>
            <a:chOff x="10741152" y="734875"/>
            <a:chExt cx="942340" cy="1974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50C2949-5F95-9E40-2C76-0C745BC74A9D}"/>
                </a:ext>
              </a:extLst>
            </p:cNvPr>
            <p:cNvSpPr/>
            <p:nvPr/>
          </p:nvSpPr>
          <p:spPr>
            <a:xfrm>
              <a:off x="10741152" y="740034"/>
              <a:ext cx="35560" cy="189230"/>
            </a:xfrm>
            <a:custGeom>
              <a:avLst/>
              <a:gdLst/>
              <a:ahLst/>
              <a:cxnLst/>
              <a:rect l="l" t="t" r="r" b="b"/>
              <a:pathLst>
                <a:path w="35559" h="189230">
                  <a:moveTo>
                    <a:pt x="35371" y="0"/>
                  </a:moveTo>
                  <a:lnTo>
                    <a:pt x="0" y="0"/>
                  </a:lnTo>
                  <a:lnTo>
                    <a:pt x="0" y="189107"/>
                  </a:lnTo>
                  <a:lnTo>
                    <a:pt x="35371" y="189107"/>
                  </a:lnTo>
                  <a:lnTo>
                    <a:pt x="35371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613B4B6-0728-665D-D9E2-320BAF04A1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8110" y="793884"/>
              <a:ext cx="127128" cy="13525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E059C40-4CF7-7956-2FA0-88D56E61878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5640" y="758253"/>
              <a:ext cx="250048" cy="17351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B8D7605-3402-BA96-D0B3-95FC1883469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5976" y="793359"/>
              <a:ext cx="90441" cy="135781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B1C47C5-763D-806C-5939-53F0CD9C96C0}"/>
                </a:ext>
              </a:extLst>
            </p:cNvPr>
            <p:cNvSpPr/>
            <p:nvPr/>
          </p:nvSpPr>
          <p:spPr>
            <a:xfrm>
              <a:off x="11356200" y="734885"/>
              <a:ext cx="40005" cy="194310"/>
            </a:xfrm>
            <a:custGeom>
              <a:avLst/>
              <a:gdLst/>
              <a:ahLst/>
              <a:cxnLst/>
              <a:rect l="l" t="t" r="r" b="b"/>
              <a:pathLst>
                <a:path w="40004" h="194309">
                  <a:moveTo>
                    <a:pt x="37299" y="61709"/>
                  </a:moveTo>
                  <a:lnTo>
                    <a:pt x="2451" y="61709"/>
                  </a:lnTo>
                  <a:lnTo>
                    <a:pt x="2451" y="194259"/>
                  </a:lnTo>
                  <a:lnTo>
                    <a:pt x="37299" y="194259"/>
                  </a:lnTo>
                  <a:lnTo>
                    <a:pt x="37299" y="61709"/>
                  </a:lnTo>
                  <a:close/>
                </a:path>
                <a:path w="40004" h="194309">
                  <a:moveTo>
                    <a:pt x="39484" y="0"/>
                  </a:moveTo>
                  <a:lnTo>
                    <a:pt x="0" y="0"/>
                  </a:lnTo>
                  <a:lnTo>
                    <a:pt x="0" y="34404"/>
                  </a:lnTo>
                  <a:lnTo>
                    <a:pt x="39484" y="34404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68CF35EE-362F-2F35-3D8C-8A79F9F7FE4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24316" y="793884"/>
              <a:ext cx="137372" cy="13788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1BDE22D7-7786-F814-1285-B238228E4A3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2594" y="793359"/>
              <a:ext cx="90348" cy="135781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01917751-AA72-1048-9ABE-C078D7A09F1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grpSp>
        <p:nvGrpSpPr>
          <p:cNvPr id="11" name="object 11">
            <a:extLst>
              <a:ext uri="{FF2B5EF4-FFF2-40B4-BE49-F238E27FC236}">
                <a16:creationId xmlns:a16="http://schemas.microsoft.com/office/drawing/2014/main" id="{98DC752E-D1D6-B6B9-31C4-8C7DB6B58088}"/>
              </a:ext>
            </a:extLst>
          </p:cNvPr>
          <p:cNvGrpSpPr/>
          <p:nvPr/>
        </p:nvGrpSpPr>
        <p:grpSpPr>
          <a:xfrm>
            <a:off x="11009151" y="1052329"/>
            <a:ext cx="386715" cy="33655"/>
            <a:chOff x="11009151" y="1052329"/>
            <a:chExt cx="386715" cy="3365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EAF739F-B25E-621F-4611-14F8B0AD8AB3}"/>
                </a:ext>
              </a:extLst>
            </p:cNvPr>
            <p:cNvSpPr/>
            <p:nvPr/>
          </p:nvSpPr>
          <p:spPr>
            <a:xfrm>
              <a:off x="11009151" y="1052329"/>
              <a:ext cx="193675" cy="33655"/>
            </a:xfrm>
            <a:custGeom>
              <a:avLst/>
              <a:gdLst/>
              <a:ahLst/>
              <a:cxnLst/>
              <a:rect l="l" t="t" r="r" b="b"/>
              <a:pathLst>
                <a:path w="193675" h="33655">
                  <a:moveTo>
                    <a:pt x="193138" y="0"/>
                  </a:moveTo>
                  <a:lnTo>
                    <a:pt x="0" y="0"/>
                  </a:lnTo>
                  <a:lnTo>
                    <a:pt x="0" y="33532"/>
                  </a:lnTo>
                  <a:lnTo>
                    <a:pt x="193138" y="33532"/>
                  </a:lnTo>
                  <a:lnTo>
                    <a:pt x="193138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C9CEB35-FBB9-4951-E639-84CAA0CFE0FC}"/>
                </a:ext>
              </a:extLst>
            </p:cNvPr>
            <p:cNvSpPr/>
            <p:nvPr/>
          </p:nvSpPr>
          <p:spPr>
            <a:xfrm>
              <a:off x="11202290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76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76" y="33444"/>
                  </a:lnTo>
                  <a:lnTo>
                    <a:pt x="96476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F69D023-6F6A-9465-A45F-6F0469F86FE9}"/>
                </a:ext>
              </a:extLst>
            </p:cNvPr>
            <p:cNvSpPr/>
            <p:nvPr/>
          </p:nvSpPr>
          <p:spPr>
            <a:xfrm>
              <a:off x="11298766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87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87" y="33444"/>
                  </a:lnTo>
                  <a:lnTo>
                    <a:pt x="96487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A6094B6F-D76D-60D8-40F4-FB7A0A5CDC74}"/>
              </a:ext>
            </a:extLst>
          </p:cNvPr>
          <p:cNvGrpSpPr/>
          <p:nvPr/>
        </p:nvGrpSpPr>
        <p:grpSpPr>
          <a:xfrm>
            <a:off x="0" y="6684757"/>
            <a:ext cx="12192000" cy="173355"/>
            <a:chOff x="0" y="6684757"/>
            <a:chExt cx="12192000" cy="17335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A93328F-B266-6F5A-73A5-E953D3A74A95}"/>
                </a:ext>
              </a:extLst>
            </p:cNvPr>
            <p:cNvSpPr/>
            <p:nvPr/>
          </p:nvSpPr>
          <p:spPr>
            <a:xfrm>
              <a:off x="0" y="6684757"/>
              <a:ext cx="6098540" cy="173355"/>
            </a:xfrm>
            <a:custGeom>
              <a:avLst/>
              <a:gdLst/>
              <a:ahLst/>
              <a:cxnLst/>
              <a:rect l="l" t="t" r="r" b="b"/>
              <a:pathLst>
                <a:path w="6098540" h="173354">
                  <a:moveTo>
                    <a:pt x="6098428" y="173240"/>
                  </a:moveTo>
                  <a:lnTo>
                    <a:pt x="6098428" y="0"/>
                  </a:lnTo>
                  <a:lnTo>
                    <a:pt x="0" y="0"/>
                  </a:lnTo>
                  <a:lnTo>
                    <a:pt x="0" y="173240"/>
                  </a:lnTo>
                  <a:lnTo>
                    <a:pt x="6098428" y="17324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6535C75-24EE-E202-6C50-A76CF6834871}"/>
                </a:ext>
              </a:extLst>
            </p:cNvPr>
            <p:cNvSpPr/>
            <p:nvPr/>
          </p:nvSpPr>
          <p:spPr>
            <a:xfrm>
              <a:off x="6098428" y="6684757"/>
              <a:ext cx="3048635" cy="173355"/>
            </a:xfrm>
            <a:custGeom>
              <a:avLst/>
              <a:gdLst/>
              <a:ahLst/>
              <a:cxnLst/>
              <a:rect l="l" t="t" r="r" b="b"/>
              <a:pathLst>
                <a:path w="3048634" h="173354">
                  <a:moveTo>
                    <a:pt x="3048099" y="0"/>
                  </a:moveTo>
                  <a:lnTo>
                    <a:pt x="0" y="0"/>
                  </a:lnTo>
                  <a:lnTo>
                    <a:pt x="0" y="173240"/>
                  </a:lnTo>
                  <a:lnTo>
                    <a:pt x="3048099" y="173240"/>
                  </a:lnTo>
                  <a:lnTo>
                    <a:pt x="3048099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444D01F-E3FA-5B75-A19D-C75341169B22}"/>
                </a:ext>
              </a:extLst>
            </p:cNvPr>
            <p:cNvSpPr/>
            <p:nvPr/>
          </p:nvSpPr>
          <p:spPr>
            <a:xfrm>
              <a:off x="9147036" y="6684757"/>
              <a:ext cx="3045460" cy="173355"/>
            </a:xfrm>
            <a:custGeom>
              <a:avLst/>
              <a:gdLst/>
              <a:ahLst/>
              <a:cxnLst/>
              <a:rect l="l" t="t" r="r" b="b"/>
              <a:pathLst>
                <a:path w="3045459" h="173354">
                  <a:moveTo>
                    <a:pt x="0" y="0"/>
                  </a:moveTo>
                  <a:lnTo>
                    <a:pt x="0" y="173240"/>
                  </a:lnTo>
                  <a:lnTo>
                    <a:pt x="3044962" y="173240"/>
                  </a:lnTo>
                  <a:lnTo>
                    <a:pt x="3044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503702DC-56AE-A2B1-A202-DF420C3ADE4E}"/>
              </a:ext>
            </a:extLst>
          </p:cNvPr>
          <p:cNvGrpSpPr/>
          <p:nvPr/>
        </p:nvGrpSpPr>
        <p:grpSpPr>
          <a:xfrm>
            <a:off x="0" y="741552"/>
            <a:ext cx="3538854" cy="157480"/>
            <a:chOff x="0" y="741552"/>
            <a:chExt cx="3538854" cy="157480"/>
          </a:xfrm>
        </p:grpSpPr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C1A7393B-C82D-FFB9-EAEE-3D56C6583E1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2190F29-1288-2CF4-F488-AF9039F68A34}"/>
                </a:ext>
              </a:extLst>
            </p:cNvPr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7" name="Diagrama 26">
            <a:extLst>
              <a:ext uri="{FF2B5EF4-FFF2-40B4-BE49-F238E27FC236}">
                <a16:creationId xmlns:a16="http://schemas.microsoft.com/office/drawing/2014/main" id="{A0F1D47E-BC16-8A7B-EED4-CB0B95E516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49845"/>
              </p:ext>
            </p:extLst>
          </p:nvPr>
        </p:nvGraphicFramePr>
        <p:xfrm>
          <a:off x="1524000" y="1447800"/>
          <a:ext cx="9067799" cy="4419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59030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36440" y="4115942"/>
            <a:ext cx="5393690" cy="0"/>
          </a:xfrm>
          <a:custGeom>
            <a:avLst/>
            <a:gdLst/>
            <a:ahLst/>
            <a:cxnLst/>
            <a:rect l="l" t="t" r="r" b="b"/>
            <a:pathLst>
              <a:path w="5393690">
                <a:moveTo>
                  <a:pt x="0" y="0"/>
                </a:moveTo>
                <a:lnTo>
                  <a:pt x="539330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8989" y="2438400"/>
            <a:ext cx="5581141" cy="103105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10820" algn="ctr">
              <a:lnSpc>
                <a:spcPct val="100000"/>
              </a:lnSpc>
              <a:spcBef>
                <a:spcPts val="360"/>
              </a:spcBef>
            </a:pPr>
            <a:r>
              <a:rPr lang="en-US" spc="-80" dirty="0"/>
              <a:t>¿QUÉ NOS DICE EL ARTICULO 64?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41152" y="734875"/>
            <a:ext cx="942340" cy="197485"/>
            <a:chOff x="10741152" y="734875"/>
            <a:chExt cx="942340" cy="197485"/>
          </a:xfrm>
        </p:grpSpPr>
        <p:sp>
          <p:nvSpPr>
            <p:cNvPr id="3" name="object 3"/>
            <p:cNvSpPr/>
            <p:nvPr/>
          </p:nvSpPr>
          <p:spPr>
            <a:xfrm>
              <a:off x="10741152" y="740034"/>
              <a:ext cx="35560" cy="189230"/>
            </a:xfrm>
            <a:custGeom>
              <a:avLst/>
              <a:gdLst/>
              <a:ahLst/>
              <a:cxnLst/>
              <a:rect l="l" t="t" r="r" b="b"/>
              <a:pathLst>
                <a:path w="35559" h="189230">
                  <a:moveTo>
                    <a:pt x="35371" y="0"/>
                  </a:moveTo>
                  <a:lnTo>
                    <a:pt x="0" y="0"/>
                  </a:lnTo>
                  <a:lnTo>
                    <a:pt x="0" y="189107"/>
                  </a:lnTo>
                  <a:lnTo>
                    <a:pt x="35371" y="189107"/>
                  </a:lnTo>
                  <a:lnTo>
                    <a:pt x="35371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8110" y="793884"/>
              <a:ext cx="127128" cy="13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5640" y="758253"/>
              <a:ext cx="250048" cy="1735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5976" y="793359"/>
              <a:ext cx="90441" cy="1357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356200" y="734885"/>
              <a:ext cx="40005" cy="194310"/>
            </a:xfrm>
            <a:custGeom>
              <a:avLst/>
              <a:gdLst/>
              <a:ahLst/>
              <a:cxnLst/>
              <a:rect l="l" t="t" r="r" b="b"/>
              <a:pathLst>
                <a:path w="40004" h="194309">
                  <a:moveTo>
                    <a:pt x="37299" y="61709"/>
                  </a:moveTo>
                  <a:lnTo>
                    <a:pt x="2451" y="61709"/>
                  </a:lnTo>
                  <a:lnTo>
                    <a:pt x="2451" y="194259"/>
                  </a:lnTo>
                  <a:lnTo>
                    <a:pt x="37299" y="194259"/>
                  </a:lnTo>
                  <a:lnTo>
                    <a:pt x="37299" y="61709"/>
                  </a:lnTo>
                  <a:close/>
                </a:path>
                <a:path w="40004" h="194309">
                  <a:moveTo>
                    <a:pt x="39484" y="0"/>
                  </a:moveTo>
                  <a:lnTo>
                    <a:pt x="0" y="0"/>
                  </a:lnTo>
                  <a:lnTo>
                    <a:pt x="0" y="34404"/>
                  </a:lnTo>
                  <a:lnTo>
                    <a:pt x="39484" y="34404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24316" y="793884"/>
              <a:ext cx="137372" cy="13788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2594" y="793359"/>
              <a:ext cx="90348" cy="135781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1009151" y="1052329"/>
            <a:ext cx="386715" cy="33655"/>
            <a:chOff x="11009151" y="1052329"/>
            <a:chExt cx="386715" cy="33655"/>
          </a:xfrm>
        </p:grpSpPr>
        <p:sp>
          <p:nvSpPr>
            <p:cNvPr id="12" name="object 12"/>
            <p:cNvSpPr/>
            <p:nvPr/>
          </p:nvSpPr>
          <p:spPr>
            <a:xfrm>
              <a:off x="11009151" y="1052329"/>
              <a:ext cx="193675" cy="33655"/>
            </a:xfrm>
            <a:custGeom>
              <a:avLst/>
              <a:gdLst/>
              <a:ahLst/>
              <a:cxnLst/>
              <a:rect l="l" t="t" r="r" b="b"/>
              <a:pathLst>
                <a:path w="193675" h="33655">
                  <a:moveTo>
                    <a:pt x="193138" y="0"/>
                  </a:moveTo>
                  <a:lnTo>
                    <a:pt x="0" y="0"/>
                  </a:lnTo>
                  <a:lnTo>
                    <a:pt x="0" y="33532"/>
                  </a:lnTo>
                  <a:lnTo>
                    <a:pt x="193138" y="33532"/>
                  </a:lnTo>
                  <a:lnTo>
                    <a:pt x="193138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02290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76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76" y="33444"/>
                  </a:lnTo>
                  <a:lnTo>
                    <a:pt x="96476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98766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87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87" y="33444"/>
                  </a:lnTo>
                  <a:lnTo>
                    <a:pt x="96487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0" y="6684757"/>
            <a:ext cx="12192000" cy="173355"/>
            <a:chOff x="0" y="6684757"/>
            <a:chExt cx="12192000" cy="173355"/>
          </a:xfrm>
        </p:grpSpPr>
        <p:sp>
          <p:nvSpPr>
            <p:cNvPr id="16" name="object 16"/>
            <p:cNvSpPr/>
            <p:nvPr/>
          </p:nvSpPr>
          <p:spPr>
            <a:xfrm>
              <a:off x="0" y="6684757"/>
              <a:ext cx="6098540" cy="173355"/>
            </a:xfrm>
            <a:custGeom>
              <a:avLst/>
              <a:gdLst/>
              <a:ahLst/>
              <a:cxnLst/>
              <a:rect l="l" t="t" r="r" b="b"/>
              <a:pathLst>
                <a:path w="6098540" h="173354">
                  <a:moveTo>
                    <a:pt x="6098428" y="173240"/>
                  </a:moveTo>
                  <a:lnTo>
                    <a:pt x="6098428" y="0"/>
                  </a:lnTo>
                  <a:lnTo>
                    <a:pt x="0" y="0"/>
                  </a:lnTo>
                  <a:lnTo>
                    <a:pt x="0" y="173240"/>
                  </a:lnTo>
                  <a:lnTo>
                    <a:pt x="6098428" y="17324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8428" y="6684757"/>
              <a:ext cx="3048635" cy="173355"/>
            </a:xfrm>
            <a:custGeom>
              <a:avLst/>
              <a:gdLst/>
              <a:ahLst/>
              <a:cxnLst/>
              <a:rect l="l" t="t" r="r" b="b"/>
              <a:pathLst>
                <a:path w="3048634" h="173354">
                  <a:moveTo>
                    <a:pt x="3048099" y="0"/>
                  </a:moveTo>
                  <a:lnTo>
                    <a:pt x="0" y="0"/>
                  </a:lnTo>
                  <a:lnTo>
                    <a:pt x="0" y="173240"/>
                  </a:lnTo>
                  <a:lnTo>
                    <a:pt x="3048099" y="173240"/>
                  </a:lnTo>
                  <a:lnTo>
                    <a:pt x="3048099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47036" y="6684757"/>
              <a:ext cx="3045460" cy="173355"/>
            </a:xfrm>
            <a:custGeom>
              <a:avLst/>
              <a:gdLst/>
              <a:ahLst/>
              <a:cxnLst/>
              <a:rect l="l" t="t" r="r" b="b"/>
              <a:pathLst>
                <a:path w="3045459" h="173354">
                  <a:moveTo>
                    <a:pt x="0" y="0"/>
                  </a:moveTo>
                  <a:lnTo>
                    <a:pt x="0" y="173240"/>
                  </a:lnTo>
                  <a:lnTo>
                    <a:pt x="3044962" y="173240"/>
                  </a:lnTo>
                  <a:lnTo>
                    <a:pt x="3044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0" y="741552"/>
            <a:ext cx="3538854" cy="157480"/>
            <a:chOff x="0" y="741552"/>
            <a:chExt cx="3538854" cy="15748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5">
            <a:extLst>
              <a:ext uri="{FF2B5EF4-FFF2-40B4-BE49-F238E27FC236}">
                <a16:creationId xmlns:a16="http://schemas.microsoft.com/office/drawing/2014/main" id="{15C8346A-C9AA-58E8-D2B5-C28337251789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6408" y="80642"/>
            <a:ext cx="5783072" cy="6310539"/>
          </a:xfrm>
          <a:prstGeom prst="rect">
            <a:avLst/>
          </a:prstGeom>
        </p:spPr>
      </p:pic>
      <p:pic>
        <p:nvPicPr>
          <p:cNvPr id="24" name="object 4">
            <a:extLst>
              <a:ext uri="{FF2B5EF4-FFF2-40B4-BE49-F238E27FC236}">
                <a16:creationId xmlns:a16="http://schemas.microsoft.com/office/drawing/2014/main" id="{4A785A94-7EAE-E242-DE36-2110BF5032E4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91783" y="1061787"/>
            <a:ext cx="5583809" cy="58724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3BAE45-D32D-AB17-01A9-5D044BFB7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2A94386-8508-3EF0-882D-99F0E01719AA}"/>
              </a:ext>
            </a:extLst>
          </p:cNvPr>
          <p:cNvGrpSpPr/>
          <p:nvPr/>
        </p:nvGrpSpPr>
        <p:grpSpPr>
          <a:xfrm>
            <a:off x="10741152" y="734875"/>
            <a:ext cx="942340" cy="197485"/>
            <a:chOff x="10741152" y="734875"/>
            <a:chExt cx="942340" cy="1974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E644C43-BE6C-246B-A2D5-0EF44FE47AFD}"/>
                </a:ext>
              </a:extLst>
            </p:cNvPr>
            <p:cNvSpPr/>
            <p:nvPr/>
          </p:nvSpPr>
          <p:spPr>
            <a:xfrm>
              <a:off x="10741152" y="740034"/>
              <a:ext cx="35560" cy="189230"/>
            </a:xfrm>
            <a:custGeom>
              <a:avLst/>
              <a:gdLst/>
              <a:ahLst/>
              <a:cxnLst/>
              <a:rect l="l" t="t" r="r" b="b"/>
              <a:pathLst>
                <a:path w="35559" h="189230">
                  <a:moveTo>
                    <a:pt x="35371" y="0"/>
                  </a:moveTo>
                  <a:lnTo>
                    <a:pt x="0" y="0"/>
                  </a:lnTo>
                  <a:lnTo>
                    <a:pt x="0" y="189107"/>
                  </a:lnTo>
                  <a:lnTo>
                    <a:pt x="35371" y="189107"/>
                  </a:lnTo>
                  <a:lnTo>
                    <a:pt x="35371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F5D8C89-6CAE-D8E3-0E76-F03AEC030D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8110" y="793884"/>
              <a:ext cx="127128" cy="13525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F66BDE0-BD7D-9A9D-8659-BF096C0E6B3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5640" y="758253"/>
              <a:ext cx="250048" cy="17351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A957FB9-8006-34E5-AF2F-891B78A42C6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5976" y="793359"/>
              <a:ext cx="90441" cy="135781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006180A-7103-0AAC-010E-EB1ABE2A4596}"/>
                </a:ext>
              </a:extLst>
            </p:cNvPr>
            <p:cNvSpPr/>
            <p:nvPr/>
          </p:nvSpPr>
          <p:spPr>
            <a:xfrm>
              <a:off x="11356200" y="734885"/>
              <a:ext cx="40005" cy="194310"/>
            </a:xfrm>
            <a:custGeom>
              <a:avLst/>
              <a:gdLst/>
              <a:ahLst/>
              <a:cxnLst/>
              <a:rect l="l" t="t" r="r" b="b"/>
              <a:pathLst>
                <a:path w="40004" h="194309">
                  <a:moveTo>
                    <a:pt x="37299" y="61709"/>
                  </a:moveTo>
                  <a:lnTo>
                    <a:pt x="2451" y="61709"/>
                  </a:lnTo>
                  <a:lnTo>
                    <a:pt x="2451" y="194259"/>
                  </a:lnTo>
                  <a:lnTo>
                    <a:pt x="37299" y="194259"/>
                  </a:lnTo>
                  <a:lnTo>
                    <a:pt x="37299" y="61709"/>
                  </a:lnTo>
                  <a:close/>
                </a:path>
                <a:path w="40004" h="194309">
                  <a:moveTo>
                    <a:pt x="39484" y="0"/>
                  </a:moveTo>
                  <a:lnTo>
                    <a:pt x="0" y="0"/>
                  </a:lnTo>
                  <a:lnTo>
                    <a:pt x="0" y="34404"/>
                  </a:lnTo>
                  <a:lnTo>
                    <a:pt x="39484" y="34404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8CFA97A-DAE8-F52B-662E-77A1A83D38A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24316" y="793884"/>
              <a:ext cx="137372" cy="13788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B7FB24F-B74E-A436-B018-50DE266DAF9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2594" y="793359"/>
              <a:ext cx="90348" cy="135781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B0105ABE-F89C-9FC6-6A7B-4FBCA8AA853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grpSp>
        <p:nvGrpSpPr>
          <p:cNvPr id="11" name="object 11">
            <a:extLst>
              <a:ext uri="{FF2B5EF4-FFF2-40B4-BE49-F238E27FC236}">
                <a16:creationId xmlns:a16="http://schemas.microsoft.com/office/drawing/2014/main" id="{AFCCB25A-7667-0F2D-8203-9A7BE65E2667}"/>
              </a:ext>
            </a:extLst>
          </p:cNvPr>
          <p:cNvGrpSpPr/>
          <p:nvPr/>
        </p:nvGrpSpPr>
        <p:grpSpPr>
          <a:xfrm>
            <a:off x="11009151" y="1052329"/>
            <a:ext cx="386715" cy="33655"/>
            <a:chOff x="11009151" y="1052329"/>
            <a:chExt cx="386715" cy="3365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BFD77A5-D452-A3DC-9108-B2515265CD1D}"/>
                </a:ext>
              </a:extLst>
            </p:cNvPr>
            <p:cNvSpPr/>
            <p:nvPr/>
          </p:nvSpPr>
          <p:spPr>
            <a:xfrm>
              <a:off x="11009151" y="1052329"/>
              <a:ext cx="193675" cy="33655"/>
            </a:xfrm>
            <a:custGeom>
              <a:avLst/>
              <a:gdLst/>
              <a:ahLst/>
              <a:cxnLst/>
              <a:rect l="l" t="t" r="r" b="b"/>
              <a:pathLst>
                <a:path w="193675" h="33655">
                  <a:moveTo>
                    <a:pt x="193138" y="0"/>
                  </a:moveTo>
                  <a:lnTo>
                    <a:pt x="0" y="0"/>
                  </a:lnTo>
                  <a:lnTo>
                    <a:pt x="0" y="33532"/>
                  </a:lnTo>
                  <a:lnTo>
                    <a:pt x="193138" y="33532"/>
                  </a:lnTo>
                  <a:lnTo>
                    <a:pt x="193138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E38A37D-6CD4-4138-311D-C5C14EF310F5}"/>
                </a:ext>
              </a:extLst>
            </p:cNvPr>
            <p:cNvSpPr/>
            <p:nvPr/>
          </p:nvSpPr>
          <p:spPr>
            <a:xfrm>
              <a:off x="11202290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76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76" y="33444"/>
                  </a:lnTo>
                  <a:lnTo>
                    <a:pt x="96476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FF7978D-DE45-579A-F2DD-CA4A8A8A3D15}"/>
                </a:ext>
              </a:extLst>
            </p:cNvPr>
            <p:cNvSpPr/>
            <p:nvPr/>
          </p:nvSpPr>
          <p:spPr>
            <a:xfrm>
              <a:off x="11298766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87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87" y="33444"/>
                  </a:lnTo>
                  <a:lnTo>
                    <a:pt x="96487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01C34AB7-3293-75D2-40F8-D3B71346C1F4}"/>
              </a:ext>
            </a:extLst>
          </p:cNvPr>
          <p:cNvGrpSpPr/>
          <p:nvPr/>
        </p:nvGrpSpPr>
        <p:grpSpPr>
          <a:xfrm>
            <a:off x="0" y="6684757"/>
            <a:ext cx="12192000" cy="173355"/>
            <a:chOff x="0" y="6684757"/>
            <a:chExt cx="12192000" cy="17335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8FBE73AC-2B34-65C4-29A3-0C84D6C27DDC}"/>
                </a:ext>
              </a:extLst>
            </p:cNvPr>
            <p:cNvSpPr/>
            <p:nvPr/>
          </p:nvSpPr>
          <p:spPr>
            <a:xfrm>
              <a:off x="0" y="6684757"/>
              <a:ext cx="6098540" cy="173355"/>
            </a:xfrm>
            <a:custGeom>
              <a:avLst/>
              <a:gdLst/>
              <a:ahLst/>
              <a:cxnLst/>
              <a:rect l="l" t="t" r="r" b="b"/>
              <a:pathLst>
                <a:path w="6098540" h="173354">
                  <a:moveTo>
                    <a:pt x="6098428" y="173240"/>
                  </a:moveTo>
                  <a:lnTo>
                    <a:pt x="6098428" y="0"/>
                  </a:lnTo>
                  <a:lnTo>
                    <a:pt x="0" y="0"/>
                  </a:lnTo>
                  <a:lnTo>
                    <a:pt x="0" y="173240"/>
                  </a:lnTo>
                  <a:lnTo>
                    <a:pt x="6098428" y="17324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61273EE-9143-A750-3262-AC5933C3E468}"/>
                </a:ext>
              </a:extLst>
            </p:cNvPr>
            <p:cNvSpPr/>
            <p:nvPr/>
          </p:nvSpPr>
          <p:spPr>
            <a:xfrm>
              <a:off x="6098428" y="6684757"/>
              <a:ext cx="3048635" cy="173355"/>
            </a:xfrm>
            <a:custGeom>
              <a:avLst/>
              <a:gdLst/>
              <a:ahLst/>
              <a:cxnLst/>
              <a:rect l="l" t="t" r="r" b="b"/>
              <a:pathLst>
                <a:path w="3048634" h="173354">
                  <a:moveTo>
                    <a:pt x="3048099" y="0"/>
                  </a:moveTo>
                  <a:lnTo>
                    <a:pt x="0" y="0"/>
                  </a:lnTo>
                  <a:lnTo>
                    <a:pt x="0" y="173240"/>
                  </a:lnTo>
                  <a:lnTo>
                    <a:pt x="3048099" y="173240"/>
                  </a:lnTo>
                  <a:lnTo>
                    <a:pt x="3048099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4B15F70-99E4-321C-34CF-E82732BF2BD3}"/>
                </a:ext>
              </a:extLst>
            </p:cNvPr>
            <p:cNvSpPr/>
            <p:nvPr/>
          </p:nvSpPr>
          <p:spPr>
            <a:xfrm>
              <a:off x="9147036" y="6684757"/>
              <a:ext cx="3045460" cy="173355"/>
            </a:xfrm>
            <a:custGeom>
              <a:avLst/>
              <a:gdLst/>
              <a:ahLst/>
              <a:cxnLst/>
              <a:rect l="l" t="t" r="r" b="b"/>
              <a:pathLst>
                <a:path w="3045459" h="173354">
                  <a:moveTo>
                    <a:pt x="0" y="0"/>
                  </a:moveTo>
                  <a:lnTo>
                    <a:pt x="0" y="173240"/>
                  </a:lnTo>
                  <a:lnTo>
                    <a:pt x="3044962" y="173240"/>
                  </a:lnTo>
                  <a:lnTo>
                    <a:pt x="3044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FB3EE9CB-3CD6-D777-6099-693D1BD38C81}"/>
              </a:ext>
            </a:extLst>
          </p:cNvPr>
          <p:cNvGrpSpPr/>
          <p:nvPr/>
        </p:nvGrpSpPr>
        <p:grpSpPr>
          <a:xfrm>
            <a:off x="0" y="741552"/>
            <a:ext cx="3538854" cy="157480"/>
            <a:chOff x="0" y="741552"/>
            <a:chExt cx="3538854" cy="157480"/>
          </a:xfrm>
        </p:grpSpPr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A268A200-255F-C8B6-AB36-531B55BB55F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3C3C8AA-C49A-1165-C158-4F281F0637CD}"/>
                </a:ext>
              </a:extLst>
            </p:cNvPr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76A84D9-2245-69E7-9425-E7E10D9623B5}"/>
              </a:ext>
            </a:extLst>
          </p:cNvPr>
          <p:cNvSpPr txBox="1"/>
          <p:nvPr/>
        </p:nvSpPr>
        <p:spPr>
          <a:xfrm>
            <a:off x="476983" y="1547381"/>
            <a:ext cx="1094559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Artículo 64: 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Es deber del Estado promover el acceso progresivo a la propiedad de la tierra del campesinado y de los trabajadores agrarios, en forma individual o asociativa.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El campesinado es sujeto de derechos y de especial protección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, tiene un particular relacionamiento con la tierra basado en la producción de alimentos en garantía de la soberanía alimentaria, sus formas de territorialidad campesina, condiciones geográficas, demográficas, organizativas y culturales que lo distingue de otros grupos sociales.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El Estado reconoce </a:t>
            </a: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la dimensión económica, social, cultural, política y ambiental del campesinado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, así como aquellas que le sean reconocidas y velará por la protección, respeto y garantía de sus derechos individuales y colectivos, con el objetivo de </a:t>
            </a: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lograr la igualdad material 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desde un enfoque de género, etario y territorial, el acceso a bienes y derechos como </a:t>
            </a: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a la educación de calidad con pertinencia, la vivienda, la salud, los servicios públicos domiciliarios, vías terciarias, la tierra, el territorio, un ambiente sano, el acceso e intercambio de semillas, los recursos naturales y la diversidad biológica, el agua, la participación reforzada, la conectividad digital, la mejora de la infraestructura rural, la extensión agropecuaria y empresarial, asistencia técnica y tecnológica para generar valor agregado y medios de comercialización para sus productos.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Los campesinos y las campesinas son libres e iguales a todas las demás poblaciones y tienen derecho a no ser objeto de ningún tipo de discriminación en el ejercicio de sus derechos, en particular las fundadas en su situación económica, social, cultural y política.</a:t>
            </a:r>
          </a:p>
        </p:txBody>
      </p:sp>
      <p:sp>
        <p:nvSpPr>
          <p:cNvPr id="29" name="Google Shape;141;p22">
            <a:extLst>
              <a:ext uri="{FF2B5EF4-FFF2-40B4-BE49-F238E27FC236}">
                <a16:creationId xmlns:a16="http://schemas.microsoft.com/office/drawing/2014/main" id="{FEFB7FB0-AD60-F56A-5A44-E30FFB0A5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2232" y="336624"/>
            <a:ext cx="8728363" cy="36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5" tIns="34275" rIns="68575" bIns="34275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kumimoji="0" lang="es-MX" altLang="es-CO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elvetica"/>
                <a:ea typeface="Work Sans Medium" panose="00000600000000000000" pitchFamily="50" charset="0"/>
                <a:cs typeface="Work Sans Medium" panose="00000600000000000000" pitchFamily="50" charset="0"/>
                <a:sym typeface="Work Sans Light" pitchFamily="34" charset="0"/>
              </a:rPr>
              <a:t>Comprensión del Sujeto Campesino </a:t>
            </a:r>
            <a:endParaRPr kumimoji="0" lang="es-CO" altLang="es-CO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elvetica"/>
              <a:ea typeface="Work Sans Medium" panose="00000600000000000000" pitchFamily="50" charset="0"/>
              <a:cs typeface="Work Sans Medium" panose="00000600000000000000" pitchFamily="50" charset="0"/>
              <a:sym typeface="Work Sans Light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2ED2CB1-EA29-453A-1234-A32EED89FEEF}"/>
              </a:ext>
            </a:extLst>
          </p:cNvPr>
          <p:cNvSpPr txBox="1"/>
          <p:nvPr/>
        </p:nvSpPr>
        <p:spPr>
          <a:xfrm>
            <a:off x="2590800" y="898525"/>
            <a:ext cx="9324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800" b="1" i="0" u="none" strike="noStrike" kern="1200" cap="none" spc="0" normalizeH="0" baseline="0" noProof="0" dirty="0">
                <a:ln>
                  <a:noFill/>
                </a:ln>
                <a:solidFill>
                  <a:srgbClr val="D23C46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Sujeto de Derechos y de Especial Protección </a:t>
            </a:r>
          </a:p>
        </p:txBody>
      </p:sp>
    </p:spTree>
    <p:extLst>
      <p:ext uri="{BB962C8B-B14F-4D97-AF65-F5344CB8AC3E}">
        <p14:creationId xmlns:p14="http://schemas.microsoft.com/office/powerpoint/2010/main" val="3029831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B41AD8-2C7C-23EB-3414-1D015A93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E9D314C-4640-19C7-C710-D839B222A80D}"/>
              </a:ext>
            </a:extLst>
          </p:cNvPr>
          <p:cNvGrpSpPr/>
          <p:nvPr/>
        </p:nvGrpSpPr>
        <p:grpSpPr>
          <a:xfrm>
            <a:off x="10741152" y="734875"/>
            <a:ext cx="942340" cy="197485"/>
            <a:chOff x="10741152" y="734875"/>
            <a:chExt cx="942340" cy="1974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6F25A89-BB41-E055-8BEE-CCD8E61E4F54}"/>
                </a:ext>
              </a:extLst>
            </p:cNvPr>
            <p:cNvSpPr/>
            <p:nvPr/>
          </p:nvSpPr>
          <p:spPr>
            <a:xfrm>
              <a:off x="10741152" y="740034"/>
              <a:ext cx="35560" cy="189230"/>
            </a:xfrm>
            <a:custGeom>
              <a:avLst/>
              <a:gdLst/>
              <a:ahLst/>
              <a:cxnLst/>
              <a:rect l="l" t="t" r="r" b="b"/>
              <a:pathLst>
                <a:path w="35559" h="189230">
                  <a:moveTo>
                    <a:pt x="35371" y="0"/>
                  </a:moveTo>
                  <a:lnTo>
                    <a:pt x="0" y="0"/>
                  </a:lnTo>
                  <a:lnTo>
                    <a:pt x="0" y="189107"/>
                  </a:lnTo>
                  <a:lnTo>
                    <a:pt x="35371" y="189107"/>
                  </a:lnTo>
                  <a:lnTo>
                    <a:pt x="35371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A185D6B-E3B2-1E9A-2278-91CFB25B87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8110" y="793884"/>
              <a:ext cx="127128" cy="13525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EB2AFCF-B9D6-C79E-2A1E-7D78DE7983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5640" y="758253"/>
              <a:ext cx="250048" cy="17351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C1464BF-DC1D-B61A-1B65-5711EC3A52D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5976" y="793359"/>
              <a:ext cx="90441" cy="135781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4733906-7E23-8F25-FF6B-21B78CA933A6}"/>
                </a:ext>
              </a:extLst>
            </p:cNvPr>
            <p:cNvSpPr/>
            <p:nvPr/>
          </p:nvSpPr>
          <p:spPr>
            <a:xfrm>
              <a:off x="11356200" y="734885"/>
              <a:ext cx="40005" cy="194310"/>
            </a:xfrm>
            <a:custGeom>
              <a:avLst/>
              <a:gdLst/>
              <a:ahLst/>
              <a:cxnLst/>
              <a:rect l="l" t="t" r="r" b="b"/>
              <a:pathLst>
                <a:path w="40004" h="194309">
                  <a:moveTo>
                    <a:pt x="37299" y="61709"/>
                  </a:moveTo>
                  <a:lnTo>
                    <a:pt x="2451" y="61709"/>
                  </a:lnTo>
                  <a:lnTo>
                    <a:pt x="2451" y="194259"/>
                  </a:lnTo>
                  <a:lnTo>
                    <a:pt x="37299" y="194259"/>
                  </a:lnTo>
                  <a:lnTo>
                    <a:pt x="37299" y="61709"/>
                  </a:lnTo>
                  <a:close/>
                </a:path>
                <a:path w="40004" h="194309">
                  <a:moveTo>
                    <a:pt x="39484" y="0"/>
                  </a:moveTo>
                  <a:lnTo>
                    <a:pt x="0" y="0"/>
                  </a:lnTo>
                  <a:lnTo>
                    <a:pt x="0" y="34404"/>
                  </a:lnTo>
                  <a:lnTo>
                    <a:pt x="39484" y="34404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4477C6CA-8C2D-BFFB-8EAD-20306E8D5D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24316" y="793884"/>
              <a:ext cx="137372" cy="13788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48416CC4-4A30-A1D1-0838-0C44BC796F0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2594" y="793359"/>
              <a:ext cx="90348" cy="135781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929FFF14-A6E6-F154-8BE5-4C378DDF95B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grpSp>
        <p:nvGrpSpPr>
          <p:cNvPr id="11" name="object 11">
            <a:extLst>
              <a:ext uri="{FF2B5EF4-FFF2-40B4-BE49-F238E27FC236}">
                <a16:creationId xmlns:a16="http://schemas.microsoft.com/office/drawing/2014/main" id="{8BDE6365-6DB0-0530-4260-8F128332F8AF}"/>
              </a:ext>
            </a:extLst>
          </p:cNvPr>
          <p:cNvGrpSpPr/>
          <p:nvPr/>
        </p:nvGrpSpPr>
        <p:grpSpPr>
          <a:xfrm>
            <a:off x="11009151" y="1052329"/>
            <a:ext cx="386715" cy="33655"/>
            <a:chOff x="11009151" y="1052329"/>
            <a:chExt cx="386715" cy="3365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D66062F-D524-893D-1558-53C98E4AAEAE}"/>
                </a:ext>
              </a:extLst>
            </p:cNvPr>
            <p:cNvSpPr/>
            <p:nvPr/>
          </p:nvSpPr>
          <p:spPr>
            <a:xfrm>
              <a:off x="11009151" y="1052329"/>
              <a:ext cx="193675" cy="33655"/>
            </a:xfrm>
            <a:custGeom>
              <a:avLst/>
              <a:gdLst/>
              <a:ahLst/>
              <a:cxnLst/>
              <a:rect l="l" t="t" r="r" b="b"/>
              <a:pathLst>
                <a:path w="193675" h="33655">
                  <a:moveTo>
                    <a:pt x="193138" y="0"/>
                  </a:moveTo>
                  <a:lnTo>
                    <a:pt x="0" y="0"/>
                  </a:lnTo>
                  <a:lnTo>
                    <a:pt x="0" y="33532"/>
                  </a:lnTo>
                  <a:lnTo>
                    <a:pt x="193138" y="33532"/>
                  </a:lnTo>
                  <a:lnTo>
                    <a:pt x="193138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832FE4F-39DA-5DCD-AD5E-A9F31A63707F}"/>
                </a:ext>
              </a:extLst>
            </p:cNvPr>
            <p:cNvSpPr/>
            <p:nvPr/>
          </p:nvSpPr>
          <p:spPr>
            <a:xfrm>
              <a:off x="11202290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76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76" y="33444"/>
                  </a:lnTo>
                  <a:lnTo>
                    <a:pt x="96476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23484E4-2CC1-55A1-4DD4-8012ECF468D8}"/>
                </a:ext>
              </a:extLst>
            </p:cNvPr>
            <p:cNvSpPr/>
            <p:nvPr/>
          </p:nvSpPr>
          <p:spPr>
            <a:xfrm>
              <a:off x="11298766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87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87" y="33444"/>
                  </a:lnTo>
                  <a:lnTo>
                    <a:pt x="96487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2F97B5D4-C2FE-BC0E-124A-630238C5E7BC}"/>
              </a:ext>
            </a:extLst>
          </p:cNvPr>
          <p:cNvGrpSpPr/>
          <p:nvPr/>
        </p:nvGrpSpPr>
        <p:grpSpPr>
          <a:xfrm>
            <a:off x="0" y="6684757"/>
            <a:ext cx="12192000" cy="173355"/>
            <a:chOff x="0" y="6684757"/>
            <a:chExt cx="12192000" cy="17335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DC1614F-FC8C-3A3D-2F5E-5A7E059D29EA}"/>
                </a:ext>
              </a:extLst>
            </p:cNvPr>
            <p:cNvSpPr/>
            <p:nvPr/>
          </p:nvSpPr>
          <p:spPr>
            <a:xfrm>
              <a:off x="0" y="6684757"/>
              <a:ext cx="6098540" cy="173355"/>
            </a:xfrm>
            <a:custGeom>
              <a:avLst/>
              <a:gdLst/>
              <a:ahLst/>
              <a:cxnLst/>
              <a:rect l="l" t="t" r="r" b="b"/>
              <a:pathLst>
                <a:path w="6098540" h="173354">
                  <a:moveTo>
                    <a:pt x="6098428" y="173240"/>
                  </a:moveTo>
                  <a:lnTo>
                    <a:pt x="6098428" y="0"/>
                  </a:lnTo>
                  <a:lnTo>
                    <a:pt x="0" y="0"/>
                  </a:lnTo>
                  <a:lnTo>
                    <a:pt x="0" y="173240"/>
                  </a:lnTo>
                  <a:lnTo>
                    <a:pt x="6098428" y="17324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56EF1676-19B0-5786-0ED9-6939215C70AD}"/>
                </a:ext>
              </a:extLst>
            </p:cNvPr>
            <p:cNvSpPr/>
            <p:nvPr/>
          </p:nvSpPr>
          <p:spPr>
            <a:xfrm>
              <a:off x="6098428" y="6684757"/>
              <a:ext cx="3048635" cy="173355"/>
            </a:xfrm>
            <a:custGeom>
              <a:avLst/>
              <a:gdLst/>
              <a:ahLst/>
              <a:cxnLst/>
              <a:rect l="l" t="t" r="r" b="b"/>
              <a:pathLst>
                <a:path w="3048634" h="173354">
                  <a:moveTo>
                    <a:pt x="3048099" y="0"/>
                  </a:moveTo>
                  <a:lnTo>
                    <a:pt x="0" y="0"/>
                  </a:lnTo>
                  <a:lnTo>
                    <a:pt x="0" y="173240"/>
                  </a:lnTo>
                  <a:lnTo>
                    <a:pt x="3048099" y="173240"/>
                  </a:lnTo>
                  <a:lnTo>
                    <a:pt x="3048099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EBBEBFB7-4F07-AC9A-1989-E0D9921D24E0}"/>
                </a:ext>
              </a:extLst>
            </p:cNvPr>
            <p:cNvSpPr/>
            <p:nvPr/>
          </p:nvSpPr>
          <p:spPr>
            <a:xfrm>
              <a:off x="9147036" y="6684757"/>
              <a:ext cx="3045460" cy="173355"/>
            </a:xfrm>
            <a:custGeom>
              <a:avLst/>
              <a:gdLst/>
              <a:ahLst/>
              <a:cxnLst/>
              <a:rect l="l" t="t" r="r" b="b"/>
              <a:pathLst>
                <a:path w="3045459" h="173354">
                  <a:moveTo>
                    <a:pt x="0" y="0"/>
                  </a:moveTo>
                  <a:lnTo>
                    <a:pt x="0" y="173240"/>
                  </a:lnTo>
                  <a:lnTo>
                    <a:pt x="3044962" y="173240"/>
                  </a:lnTo>
                  <a:lnTo>
                    <a:pt x="3044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0DCBB08F-4BA4-045F-2AF8-CD60712C9312}"/>
              </a:ext>
            </a:extLst>
          </p:cNvPr>
          <p:cNvSpPr txBox="1"/>
          <p:nvPr/>
        </p:nvSpPr>
        <p:spPr>
          <a:xfrm>
            <a:off x="517423" y="1560250"/>
            <a:ext cx="5283200" cy="227076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D23A46"/>
                </a:solidFill>
                <a:latin typeface="Arial"/>
                <a:cs typeface="Arial"/>
              </a:rPr>
              <a:t>PARÁGRAFO</a:t>
            </a:r>
            <a:r>
              <a:rPr sz="2000" b="1" spc="60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000" b="1" spc="35" dirty="0">
                <a:solidFill>
                  <a:srgbClr val="D23A46"/>
                </a:solidFill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81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404040"/>
                </a:solidFill>
                <a:latin typeface="Arial MT"/>
                <a:cs typeface="Arial MT"/>
              </a:rPr>
              <a:t>ley 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reglamentará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 institucionalidad</a:t>
            </a:r>
            <a:r>
              <a:rPr sz="1600" spc="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necesaria</a:t>
            </a:r>
            <a:r>
              <a:rPr sz="1600" spc="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para </a:t>
            </a:r>
            <a:r>
              <a:rPr sz="1600" spc="70" dirty="0">
                <a:solidFill>
                  <a:srgbClr val="404040"/>
                </a:solidFill>
                <a:latin typeface="Arial MT"/>
                <a:cs typeface="Arial MT"/>
              </a:rPr>
              <a:t>lograr</a:t>
            </a:r>
            <a:r>
              <a:rPr sz="1600" spc="2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los</a:t>
            </a:r>
            <a:r>
              <a:rPr sz="1600" spc="2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Fines</a:t>
            </a:r>
            <a:r>
              <a:rPr sz="1600" spc="2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del</a:t>
            </a:r>
            <a:r>
              <a:rPr sz="1600" spc="1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presente</a:t>
            </a:r>
            <a:r>
              <a:rPr sz="1600" spc="19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artículo</a:t>
            </a:r>
            <a:r>
              <a:rPr sz="1600" spc="1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y</a:t>
            </a:r>
            <a:r>
              <a:rPr sz="1600" spc="1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establecerá</a:t>
            </a:r>
            <a:r>
              <a:rPr sz="1600" spc="20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30" dirty="0">
                <a:solidFill>
                  <a:srgbClr val="404040"/>
                </a:solidFill>
                <a:latin typeface="Arial MT"/>
                <a:cs typeface="Arial MT"/>
              </a:rPr>
              <a:t>los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mecanismos</a:t>
            </a:r>
            <a:r>
              <a:rPr sz="1600" spc="254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spc="45" dirty="0">
                <a:solidFill>
                  <a:srgbClr val="404040"/>
                </a:solidFill>
                <a:latin typeface="Arial MT"/>
                <a:cs typeface="Arial MT"/>
              </a:rPr>
              <a:t>presupuestales</a:t>
            </a:r>
            <a:r>
              <a:rPr sz="1600" spc="26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que</a:t>
            </a:r>
            <a:r>
              <a:rPr sz="1600" spc="254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</a:t>
            </a:r>
            <a:r>
              <a:rPr sz="1600" spc="254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requieran,</a:t>
            </a:r>
            <a:r>
              <a:rPr sz="1600" spc="26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así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como</a:t>
            </a:r>
            <a:r>
              <a:rPr sz="1600" spc="3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600" spc="3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derecho</a:t>
            </a:r>
            <a:r>
              <a:rPr sz="1600" spc="3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600" spc="3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los</a:t>
            </a:r>
            <a:r>
              <a:rPr sz="1600" spc="3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campesinos</a:t>
            </a:r>
            <a:r>
              <a:rPr sz="1600" spc="3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3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retirarse</a:t>
            </a:r>
            <a:r>
              <a:rPr sz="1600" spc="3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600" spc="3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la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colectividad,</a:t>
            </a:r>
            <a:r>
              <a:rPr sz="1600" spc="2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conservando</a:t>
            </a:r>
            <a:r>
              <a:rPr sz="1600" spc="4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600" spc="3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porcentaje</a:t>
            </a:r>
            <a:r>
              <a:rPr sz="1600" spc="3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600" spc="3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spc="65" dirty="0">
                <a:solidFill>
                  <a:srgbClr val="404040"/>
                </a:solidFill>
                <a:latin typeface="Arial MT"/>
                <a:cs typeface="Arial MT"/>
              </a:rPr>
              <a:t>tierra</a:t>
            </a:r>
            <a:r>
              <a:rPr sz="1600" spc="3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que 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le</a:t>
            </a:r>
            <a:r>
              <a:rPr sz="1600" spc="13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corresponda</a:t>
            </a:r>
            <a:r>
              <a:rPr sz="1600" spc="14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</a:t>
            </a:r>
            <a:r>
              <a:rPr sz="1600" spc="13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casos</a:t>
            </a:r>
            <a:r>
              <a:rPr sz="1600" spc="13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600" spc="12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spc="65" dirty="0">
                <a:solidFill>
                  <a:srgbClr val="404040"/>
                </a:solidFill>
                <a:latin typeface="Arial MT"/>
                <a:cs typeface="Arial MT"/>
              </a:rPr>
              <a:t>territorios</a:t>
            </a:r>
            <a:r>
              <a:rPr sz="1600" spc="13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campesinos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donde</a:t>
            </a:r>
            <a:r>
              <a:rPr sz="1600" spc="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600" spc="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propiedad</a:t>
            </a:r>
            <a:r>
              <a:rPr sz="1600" spc="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600" spc="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404040"/>
                </a:solidFill>
                <a:latin typeface="Arial MT"/>
                <a:cs typeface="Arial MT"/>
              </a:rPr>
              <a:t>tierra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sea</a:t>
            </a:r>
            <a:r>
              <a:rPr sz="1600" spc="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colectiva.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5F402560-E045-E405-A024-37390F7B4841}"/>
              </a:ext>
            </a:extLst>
          </p:cNvPr>
          <p:cNvGrpSpPr/>
          <p:nvPr/>
        </p:nvGrpSpPr>
        <p:grpSpPr>
          <a:xfrm>
            <a:off x="0" y="741552"/>
            <a:ext cx="3538854" cy="157480"/>
            <a:chOff x="0" y="741552"/>
            <a:chExt cx="3538854" cy="157480"/>
          </a:xfrm>
        </p:grpSpPr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6F5EC135-3E31-D632-CD70-2599229FC7F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7E3CC76-BD6F-B4AA-C9BA-AECCFC78D320}"/>
                </a:ext>
              </a:extLst>
            </p:cNvPr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>
            <a:extLst>
              <a:ext uri="{FF2B5EF4-FFF2-40B4-BE49-F238E27FC236}">
                <a16:creationId xmlns:a16="http://schemas.microsoft.com/office/drawing/2014/main" id="{BBB2BF49-F3F3-F673-6531-B5CEDA5251D9}"/>
              </a:ext>
            </a:extLst>
          </p:cNvPr>
          <p:cNvSpPr txBox="1"/>
          <p:nvPr/>
        </p:nvSpPr>
        <p:spPr>
          <a:xfrm>
            <a:off x="6505753" y="1560250"/>
            <a:ext cx="4569409" cy="200311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000" b="1" dirty="0">
                <a:solidFill>
                  <a:srgbClr val="D23A46"/>
                </a:solidFill>
                <a:latin typeface="Arial"/>
                <a:cs typeface="Arial"/>
              </a:rPr>
              <a:t>PARÁGRAFO</a:t>
            </a:r>
            <a:r>
              <a:rPr sz="2000" b="1" spc="6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000" b="1" spc="35" dirty="0">
                <a:solidFill>
                  <a:srgbClr val="D23A46"/>
                </a:solidFill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71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</a:t>
            </a:r>
            <a:r>
              <a:rPr sz="1600" spc="47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creará</a:t>
            </a:r>
            <a:r>
              <a:rPr sz="1600" spc="4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600" spc="48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trazador</a:t>
            </a:r>
            <a:r>
              <a:rPr sz="1600" spc="4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presupuestal</a:t>
            </a:r>
            <a:r>
              <a:rPr sz="1600" spc="4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600" spc="48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campesinado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como</a:t>
            </a:r>
            <a:r>
              <a:rPr sz="1600" spc="2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herramienta</a:t>
            </a:r>
            <a:r>
              <a:rPr sz="1600" spc="2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para</a:t>
            </a:r>
            <a:r>
              <a:rPr sz="1600" spc="2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600" spc="2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seguimiento</a:t>
            </a:r>
            <a:r>
              <a:rPr sz="1600" spc="2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del</a:t>
            </a:r>
            <a:r>
              <a:rPr sz="1600" spc="2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404040"/>
                </a:solidFill>
                <a:latin typeface="Arial MT"/>
                <a:cs typeface="Arial MT"/>
              </a:rPr>
              <a:t>gasto</a:t>
            </a:r>
            <a:r>
              <a:rPr sz="1600" spc="2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y</a:t>
            </a:r>
            <a:r>
              <a:rPr sz="1600" spc="25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404040"/>
                </a:solidFill>
                <a:latin typeface="Arial MT"/>
                <a:cs typeface="Arial MT"/>
              </a:rPr>
              <a:t>la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inversión</a:t>
            </a:r>
            <a:r>
              <a:rPr sz="1600" spc="2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realizada</a:t>
            </a:r>
            <a:r>
              <a:rPr sz="1600" spc="2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404040"/>
                </a:solidFill>
                <a:latin typeface="Arial MT"/>
                <a:cs typeface="Arial MT"/>
              </a:rPr>
              <a:t>por</a:t>
            </a:r>
            <a:r>
              <a:rPr sz="1600" spc="25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múltiples</a:t>
            </a:r>
            <a:r>
              <a:rPr sz="1600" spc="2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sectores</a:t>
            </a:r>
            <a:r>
              <a:rPr sz="1600" spc="25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y</a:t>
            </a:r>
            <a:r>
              <a:rPr sz="1600" spc="2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entidades, </a:t>
            </a:r>
            <a:r>
              <a:rPr sz="1600" spc="55" dirty="0">
                <a:solidFill>
                  <a:srgbClr val="404040"/>
                </a:solidFill>
                <a:latin typeface="Arial MT"/>
                <a:cs typeface="Arial MT"/>
              </a:rPr>
              <a:t>dirigida</a:t>
            </a:r>
            <a:r>
              <a:rPr sz="1600" spc="8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8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atender</a:t>
            </a:r>
            <a:r>
              <a:rPr sz="1600" spc="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8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600" spc="7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404040"/>
                </a:solidFill>
                <a:latin typeface="Arial MT"/>
                <a:cs typeface="Arial MT"/>
              </a:rPr>
              <a:t>población</a:t>
            </a:r>
            <a:r>
              <a:rPr sz="1600" spc="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campesina</a:t>
            </a:r>
            <a:r>
              <a:rPr sz="1600" spc="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ubicada</a:t>
            </a:r>
            <a:r>
              <a:rPr sz="1600" spc="8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en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zona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Arial MT"/>
                <a:cs typeface="Arial MT"/>
              </a:rPr>
              <a:t>rural</a:t>
            </a:r>
            <a:r>
              <a:rPr sz="1600" spc="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y</a:t>
            </a:r>
            <a:r>
              <a:rPr sz="16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404040"/>
                </a:solidFill>
                <a:latin typeface="Arial MT"/>
                <a:cs typeface="Arial MT"/>
              </a:rPr>
              <a:t>rural</a:t>
            </a:r>
            <a:r>
              <a:rPr sz="1600" spc="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dispersa</a:t>
            </a:r>
            <a:endParaRPr sz="16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56060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55F0-E619-7427-6766-522D2893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5379D0-A283-C9E6-85E6-0B8FD5E192B8}"/>
              </a:ext>
            </a:extLst>
          </p:cNvPr>
          <p:cNvSpPr/>
          <p:nvPr/>
        </p:nvSpPr>
        <p:spPr>
          <a:xfrm>
            <a:off x="3886200" y="3581400"/>
            <a:ext cx="5393690" cy="0"/>
          </a:xfrm>
          <a:custGeom>
            <a:avLst/>
            <a:gdLst/>
            <a:ahLst/>
            <a:cxnLst/>
            <a:rect l="l" t="t" r="r" b="b"/>
            <a:pathLst>
              <a:path w="5393690">
                <a:moveTo>
                  <a:pt x="0" y="0"/>
                </a:moveTo>
                <a:lnTo>
                  <a:pt x="539330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C177AE2-1A36-D58F-F3C4-2637DB28EF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2057400"/>
            <a:ext cx="8686800" cy="103105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10820" algn="ctr">
              <a:lnSpc>
                <a:spcPct val="100000"/>
              </a:lnSpc>
              <a:spcBef>
                <a:spcPts val="360"/>
              </a:spcBef>
            </a:pPr>
            <a:r>
              <a:rPr lang="es-CO" spc="-80" dirty="0"/>
              <a:t>DESARROLLOS NORMATIVOS Y DE POLÍTICA PÚBLICA </a:t>
            </a:r>
            <a:endParaRPr lang="es-CO" spc="-10" dirty="0"/>
          </a:p>
        </p:txBody>
      </p:sp>
    </p:spTree>
    <p:extLst>
      <p:ext uri="{BB962C8B-B14F-4D97-AF65-F5344CB8AC3E}">
        <p14:creationId xmlns:p14="http://schemas.microsoft.com/office/powerpoint/2010/main" val="605447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95" y="376259"/>
            <a:ext cx="3538854" cy="157480"/>
            <a:chOff x="0" y="741552"/>
            <a:chExt cx="3538854" cy="157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034068" y="4837904"/>
            <a:ext cx="2110182" cy="168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Ley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60" dirty="0">
                <a:latin typeface="Arial"/>
                <a:cs typeface="Arial"/>
              </a:rPr>
              <a:t>160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40" dirty="0">
                <a:latin typeface="Arial"/>
                <a:cs typeface="Arial"/>
              </a:rPr>
              <a:t>1994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Ley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60" dirty="0">
                <a:latin typeface="Arial"/>
                <a:cs typeface="Arial"/>
              </a:rPr>
              <a:t>2219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 </a:t>
            </a:r>
            <a:r>
              <a:rPr sz="1600" b="1" spc="40" dirty="0">
                <a:latin typeface="Arial"/>
                <a:cs typeface="Arial"/>
              </a:rPr>
              <a:t>2022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Ley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70" dirty="0">
                <a:latin typeface="Arial"/>
                <a:cs typeface="Arial"/>
              </a:rPr>
              <a:t>2223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 </a:t>
            </a:r>
            <a:r>
              <a:rPr sz="1600" b="1" spc="50" dirty="0">
                <a:latin typeface="Arial"/>
                <a:cs typeface="Arial"/>
              </a:rPr>
              <a:t>2022</a:t>
            </a:r>
            <a:endParaRPr lang="es-CO" sz="1600" b="1" spc="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s-CO" sz="1600" b="1" spc="50" dirty="0">
                <a:latin typeface="Arial"/>
                <a:cs typeface="Arial"/>
              </a:rPr>
              <a:t>Ley 2539 de 2025</a:t>
            </a:r>
          </a:p>
          <a:p>
            <a:pPr marL="12700">
              <a:lnSpc>
                <a:spcPct val="100000"/>
              </a:lnSpc>
            </a:pPr>
            <a:r>
              <a:rPr lang="es-CO" sz="1600" b="1" spc="50" dirty="0">
                <a:latin typeface="Arial"/>
                <a:cs typeface="Arial"/>
              </a:rPr>
              <a:t>Ley </a:t>
            </a:r>
            <a:r>
              <a:rPr lang="es-CO" sz="1600" b="1" dirty="0"/>
              <a:t>2462 de 2025</a:t>
            </a:r>
            <a:endParaRPr sz="1600" b="1" dirty="0">
              <a:latin typeface="Arial"/>
              <a:cs typeface="Arial"/>
            </a:endParaRPr>
          </a:p>
          <a:p>
            <a:pPr marL="455295">
              <a:lnSpc>
                <a:spcPct val="100000"/>
              </a:lnSpc>
              <a:spcBef>
                <a:spcPts val="1310"/>
              </a:spcBef>
            </a:pPr>
            <a:r>
              <a:rPr sz="1600" spc="-50" dirty="0">
                <a:solidFill>
                  <a:srgbClr val="663300"/>
                </a:solidFill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60589" y="4714239"/>
            <a:ext cx="2567940" cy="83121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278765" marR="266065" indent="-5080">
              <a:lnSpc>
                <a:spcPct val="100000"/>
              </a:lnSpc>
              <a:spcBef>
                <a:spcPts val="95"/>
              </a:spcBef>
            </a:pPr>
            <a:r>
              <a:rPr sz="2400" spc="-10" dirty="0">
                <a:solidFill>
                  <a:srgbClr val="D23A46"/>
                </a:solidFill>
              </a:rPr>
              <a:t>Normatividad Campesinado</a:t>
            </a:r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616795" y="4006689"/>
            <a:ext cx="2702560" cy="83121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347345" marR="273685" indent="-64769">
              <a:lnSpc>
                <a:spcPct val="100000"/>
              </a:lnSpc>
              <a:spcBef>
                <a:spcPts val="95"/>
              </a:spcBef>
            </a:pPr>
            <a:r>
              <a:rPr sz="2400" b="1" spc="-35" dirty="0">
                <a:solidFill>
                  <a:srgbClr val="D23A46"/>
                </a:solidFill>
                <a:latin typeface="Arial"/>
                <a:cs typeface="Arial"/>
              </a:rPr>
              <a:t>Jurisprudencia </a:t>
            </a:r>
            <a:r>
              <a:rPr sz="2400" b="1" spc="-10" dirty="0">
                <a:solidFill>
                  <a:srgbClr val="D23A46"/>
                </a:solidFill>
                <a:latin typeface="Arial"/>
                <a:cs typeface="Arial"/>
              </a:rPr>
              <a:t>Campesinado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369" y="5037878"/>
            <a:ext cx="23075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Sentencias</a:t>
            </a:r>
            <a:r>
              <a:rPr sz="1600" b="1" spc="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C-</a:t>
            </a:r>
            <a:r>
              <a:rPr sz="1600" b="1" spc="50" dirty="0">
                <a:solidFill>
                  <a:srgbClr val="404040"/>
                </a:solidFill>
                <a:latin typeface="Arial"/>
                <a:cs typeface="Arial"/>
              </a:rPr>
              <a:t>077/2017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Sentencia</a:t>
            </a:r>
            <a:r>
              <a:rPr sz="1600" b="1" spc="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C-</a:t>
            </a:r>
            <a:r>
              <a:rPr sz="1600" b="1" spc="50" dirty="0">
                <a:solidFill>
                  <a:srgbClr val="404040"/>
                </a:solidFill>
                <a:latin typeface="Arial"/>
                <a:cs typeface="Arial"/>
              </a:rPr>
              <a:t>028/2018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Sentencia</a:t>
            </a:r>
            <a:r>
              <a:rPr sz="1600" b="1" spc="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STP/2028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964" y="2621880"/>
            <a:ext cx="3701436" cy="941283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697230" marR="689610" algn="ctr">
              <a:lnSpc>
                <a:spcPct val="100000"/>
              </a:lnSpc>
              <a:spcBef>
                <a:spcPts val="140"/>
              </a:spcBef>
            </a:pPr>
            <a:r>
              <a:rPr sz="2000" b="1" spc="-10" dirty="0">
                <a:solidFill>
                  <a:srgbClr val="D23A46"/>
                </a:solidFill>
                <a:latin typeface="Arial"/>
                <a:cs typeface="Arial"/>
              </a:rPr>
              <a:t>Conceptualización Campesinado </a:t>
            </a:r>
            <a:r>
              <a:rPr sz="2000" b="1" spc="45" dirty="0">
                <a:solidFill>
                  <a:srgbClr val="2D75B6"/>
                </a:solidFill>
                <a:latin typeface="Arial"/>
                <a:cs typeface="Arial"/>
              </a:rPr>
              <a:t>ICANH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320" y="898525"/>
            <a:ext cx="3195955" cy="138493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5410" marR="95885" algn="ctr">
              <a:lnSpc>
                <a:spcPct val="99900"/>
              </a:lnSpc>
              <a:spcBef>
                <a:spcPts val="145"/>
              </a:spcBef>
            </a:pPr>
            <a:r>
              <a:rPr sz="2000" b="1" dirty="0">
                <a:solidFill>
                  <a:srgbClr val="D23A46"/>
                </a:solidFill>
                <a:latin typeface="Arial"/>
                <a:cs typeface="Arial"/>
              </a:rPr>
              <a:t>Declaración</a:t>
            </a:r>
            <a:r>
              <a:rPr sz="2000" b="1" spc="3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D23A46"/>
                </a:solidFill>
                <a:latin typeface="Arial"/>
                <a:cs typeface="Arial"/>
              </a:rPr>
              <a:t>de</a:t>
            </a:r>
            <a:r>
              <a:rPr sz="2000" b="1" spc="500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D23A46"/>
                </a:solidFill>
                <a:latin typeface="Arial"/>
                <a:cs typeface="Arial"/>
              </a:rPr>
              <a:t>Naciones</a:t>
            </a:r>
            <a:r>
              <a:rPr sz="2000" b="1" spc="-6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3A46"/>
                </a:solidFill>
                <a:latin typeface="Arial"/>
                <a:cs typeface="Arial"/>
              </a:rPr>
              <a:t>Unidas</a:t>
            </a:r>
            <a:r>
              <a:rPr sz="2400" b="1" spc="-13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D23A46"/>
                </a:solidFill>
                <a:latin typeface="Arial"/>
                <a:cs typeface="Arial"/>
              </a:rPr>
              <a:t>sobre </a:t>
            </a:r>
            <a:r>
              <a:rPr sz="2000" b="1" dirty="0">
                <a:solidFill>
                  <a:srgbClr val="2D75B6"/>
                </a:solidFill>
                <a:latin typeface="Arial"/>
                <a:cs typeface="Arial"/>
              </a:rPr>
              <a:t>Derechos</a:t>
            </a:r>
            <a:r>
              <a:rPr sz="2000" b="1" spc="-40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2000" b="1" spc="30" dirty="0">
                <a:solidFill>
                  <a:srgbClr val="2D75B6"/>
                </a:solidFill>
                <a:latin typeface="Arial"/>
                <a:cs typeface="Arial"/>
              </a:rPr>
              <a:t>del </a:t>
            </a:r>
            <a:r>
              <a:rPr sz="2000" b="1" spc="-10" dirty="0">
                <a:solidFill>
                  <a:srgbClr val="2D75B6"/>
                </a:solidFill>
                <a:latin typeface="Arial"/>
                <a:cs typeface="Arial"/>
              </a:rPr>
              <a:t>Campesinado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9859" y="2643493"/>
            <a:ext cx="2702560" cy="10464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228600" marR="219710" algn="ctr">
              <a:lnSpc>
                <a:spcPct val="100000"/>
              </a:lnSpc>
              <a:spcBef>
                <a:spcPts val="140"/>
              </a:spcBef>
            </a:pPr>
            <a:r>
              <a:rPr sz="2000" b="1" dirty="0">
                <a:solidFill>
                  <a:srgbClr val="D23A46"/>
                </a:solidFill>
                <a:latin typeface="Arial"/>
                <a:cs typeface="Arial"/>
              </a:rPr>
              <a:t>Estadísticas</a:t>
            </a:r>
            <a:r>
              <a:rPr sz="2000" b="1" spc="-9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D23A46"/>
                </a:solidFill>
                <a:latin typeface="Arial"/>
                <a:cs typeface="Arial"/>
              </a:rPr>
              <a:t>sobre </a:t>
            </a:r>
            <a:r>
              <a:rPr sz="2000" b="1" spc="70" dirty="0">
                <a:solidFill>
                  <a:srgbClr val="D23A46"/>
                </a:solidFill>
                <a:latin typeface="Arial"/>
                <a:cs typeface="Arial"/>
              </a:rPr>
              <a:t>el</a:t>
            </a:r>
            <a:r>
              <a:rPr sz="2000" b="1" spc="-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D23A46"/>
                </a:solidFill>
                <a:latin typeface="Arial"/>
                <a:cs typeface="Arial"/>
              </a:rPr>
              <a:t>campesinado </a:t>
            </a:r>
            <a:r>
              <a:rPr sz="2000" b="1" spc="-20" dirty="0">
                <a:solidFill>
                  <a:srgbClr val="2D75B6"/>
                </a:solidFill>
                <a:latin typeface="Arial"/>
                <a:cs typeface="Arial"/>
              </a:rPr>
              <a:t>DANE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64992" y="2031620"/>
            <a:ext cx="3358515" cy="64643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823594" marR="109220" indent="-706120">
              <a:lnSpc>
                <a:spcPct val="100000"/>
              </a:lnSpc>
              <a:spcBef>
                <a:spcPts val="160"/>
              </a:spcBef>
            </a:pPr>
            <a:r>
              <a:rPr sz="1800" b="1" dirty="0">
                <a:solidFill>
                  <a:srgbClr val="D23A46"/>
                </a:solidFill>
                <a:latin typeface="Arial"/>
                <a:cs typeface="Arial"/>
              </a:rPr>
              <a:t>Plan</a:t>
            </a:r>
            <a:r>
              <a:rPr sz="1800" b="1" spc="130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23A46"/>
                </a:solidFill>
                <a:latin typeface="Arial"/>
                <a:cs typeface="Arial"/>
              </a:rPr>
              <a:t>Nacional</a:t>
            </a:r>
            <a:r>
              <a:rPr sz="1800" b="1" spc="10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23A46"/>
                </a:solidFill>
                <a:latin typeface="Arial"/>
                <a:cs typeface="Arial"/>
              </a:rPr>
              <a:t>de</a:t>
            </a:r>
            <a:r>
              <a:rPr sz="1800" b="1" spc="114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D23A46"/>
                </a:solidFill>
                <a:latin typeface="Arial"/>
                <a:cs typeface="Arial"/>
              </a:rPr>
              <a:t>Desarrollo </a:t>
            </a:r>
            <a:r>
              <a:rPr sz="1800" b="1" dirty="0">
                <a:solidFill>
                  <a:srgbClr val="2D75B6"/>
                </a:solidFill>
                <a:latin typeface="Arial"/>
                <a:cs typeface="Arial"/>
              </a:rPr>
              <a:t>Ley</a:t>
            </a:r>
            <a:r>
              <a:rPr sz="1800" b="1" spc="-25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2D75B6"/>
                </a:solidFill>
                <a:latin typeface="Arial"/>
                <a:cs typeface="Arial"/>
              </a:rPr>
              <a:t>2294-</a:t>
            </a:r>
            <a:r>
              <a:rPr sz="1800" b="1" spc="-55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2D75B6"/>
                </a:solidFill>
                <a:latin typeface="Arial"/>
                <a:cs typeface="Arial"/>
              </a:rPr>
              <a:t>2023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72647" y="2818408"/>
            <a:ext cx="3164141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5344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Sistema</a:t>
            </a:r>
            <a:r>
              <a:rPr sz="1600" b="1" spc="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Nacional</a:t>
            </a:r>
            <a:r>
              <a:rPr sz="1600" b="1" spc="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1600" b="1" spc="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Reforma</a:t>
            </a:r>
            <a:r>
              <a:rPr sz="1600" b="1" spc="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Agraria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Territorialidades</a:t>
            </a:r>
            <a:r>
              <a:rPr sz="1600" b="1" spc="4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Campesinas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Comisión</a:t>
            </a:r>
            <a:r>
              <a:rPr sz="1600" b="1" spc="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Mixta</a:t>
            </a:r>
            <a:r>
              <a:rPr sz="1600" b="1" spc="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Nacional</a:t>
            </a:r>
            <a:r>
              <a:rPr sz="1600" b="1" spc="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Asuntos</a:t>
            </a:r>
            <a:r>
              <a:rPr sz="1600" b="1" spc="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Campesinos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94635" y="889018"/>
            <a:ext cx="2702560" cy="98488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2075" marR="84455" indent="-1270" algn="ctr">
              <a:lnSpc>
                <a:spcPct val="99600"/>
              </a:lnSpc>
              <a:spcBef>
                <a:spcPts val="175"/>
              </a:spcBef>
            </a:pPr>
            <a:r>
              <a:rPr sz="1800" b="1" dirty="0">
                <a:solidFill>
                  <a:srgbClr val="D23A46"/>
                </a:solidFill>
                <a:latin typeface="Arial"/>
                <a:cs typeface="Arial"/>
              </a:rPr>
              <a:t>Propuestas</a:t>
            </a:r>
            <a:r>
              <a:rPr sz="1800" b="1" spc="7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23A46"/>
                </a:solidFill>
                <a:latin typeface="Arial"/>
                <a:cs typeface="Arial"/>
              </a:rPr>
              <a:t>de</a:t>
            </a:r>
            <a:r>
              <a:rPr sz="1800" b="1" spc="75" dirty="0">
                <a:solidFill>
                  <a:srgbClr val="D23A46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D23A46"/>
                </a:solidFill>
                <a:latin typeface="Arial"/>
                <a:cs typeface="Arial"/>
              </a:rPr>
              <a:t>la </a:t>
            </a:r>
            <a:r>
              <a:rPr sz="2000" b="1" spc="-10" dirty="0">
                <a:solidFill>
                  <a:srgbClr val="2D75B6"/>
                </a:solidFill>
                <a:latin typeface="Arial"/>
                <a:cs typeface="Arial"/>
              </a:rPr>
              <a:t>Convención </a:t>
            </a:r>
            <a:r>
              <a:rPr sz="2000" b="1" dirty="0">
                <a:solidFill>
                  <a:srgbClr val="2D75B6"/>
                </a:solidFill>
                <a:latin typeface="Arial"/>
                <a:cs typeface="Arial"/>
              </a:rPr>
              <a:t>Nacional</a:t>
            </a:r>
            <a:r>
              <a:rPr sz="2000" b="1" spc="140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D75B6"/>
                </a:solidFill>
                <a:latin typeface="Arial"/>
                <a:cs typeface="Arial"/>
              </a:rPr>
              <a:t>Campesina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12698" y="868380"/>
            <a:ext cx="3642533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Propuestas</a:t>
            </a:r>
            <a:r>
              <a:rPr sz="1600" b="1" spc="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1600" b="1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04040"/>
                </a:solidFill>
                <a:latin typeface="Arial"/>
                <a:cs typeface="Arial"/>
              </a:rPr>
              <a:t>las</a:t>
            </a:r>
            <a:r>
              <a:rPr sz="1600" b="1" spc="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rgbClr val="404040"/>
                </a:solidFill>
                <a:latin typeface="Arial"/>
                <a:cs typeface="Arial"/>
              </a:rPr>
              <a:t>organizaciones</a:t>
            </a:r>
            <a:r>
              <a:rPr sz="1600" b="1" spc="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s-MX" sz="1600" b="1" spc="-10" dirty="0">
                <a:solidFill>
                  <a:srgbClr val="404040"/>
                </a:solidFill>
                <a:latin typeface="Arial"/>
                <a:cs typeface="Arial"/>
              </a:rPr>
              <a:t>para la incorporación del capitulo campesino en el PND</a:t>
            </a:r>
            <a:r>
              <a:rPr sz="1600" b="1" spc="-1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21DA-5B81-EF76-67AC-3EE953DB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22D04C-450E-99CE-09C8-A606B0B6400B}"/>
              </a:ext>
            </a:extLst>
          </p:cNvPr>
          <p:cNvSpPr/>
          <p:nvPr/>
        </p:nvSpPr>
        <p:spPr>
          <a:xfrm>
            <a:off x="4036440" y="4115942"/>
            <a:ext cx="5393690" cy="0"/>
          </a:xfrm>
          <a:custGeom>
            <a:avLst/>
            <a:gdLst/>
            <a:ahLst/>
            <a:cxnLst/>
            <a:rect l="l" t="t" r="r" b="b"/>
            <a:pathLst>
              <a:path w="5393690">
                <a:moveTo>
                  <a:pt x="0" y="0"/>
                </a:moveTo>
                <a:lnTo>
                  <a:pt x="539330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149942-8C98-CA23-2780-CFA14687A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1734090"/>
            <a:ext cx="7239000" cy="250837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10820" algn="ctr">
              <a:lnSpc>
                <a:spcPct val="100000"/>
              </a:lnSpc>
              <a:spcBef>
                <a:spcPts val="360"/>
              </a:spcBef>
            </a:pPr>
            <a:r>
              <a:rPr lang="es-MX" dirty="0"/>
              <a:t>COMPETENCIAS DEPARTAMENTALES Y MUNICIPALES EN MATERIA DE CAMPESINADO</a:t>
            </a:r>
            <a:br>
              <a:rPr lang="es-MX" dirty="0"/>
            </a:b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2387758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CC721-4686-BEF4-5323-A88D5F67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D1CAD61-C8B7-5844-A0E5-800A484EF215}"/>
              </a:ext>
            </a:extLst>
          </p:cNvPr>
          <p:cNvGrpSpPr/>
          <p:nvPr/>
        </p:nvGrpSpPr>
        <p:grpSpPr>
          <a:xfrm>
            <a:off x="0" y="672519"/>
            <a:ext cx="3538854" cy="157480"/>
            <a:chOff x="0" y="741552"/>
            <a:chExt cx="3538854" cy="15748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B8F3F20-1A7A-911D-E294-171B254D77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DEC4127-F261-C49C-A6B0-C15AB683F077}"/>
                </a:ext>
              </a:extLst>
            </p:cNvPr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BC15356-8ED7-5EBD-EBB7-63A0938BA302}"/>
              </a:ext>
            </a:extLst>
          </p:cNvPr>
          <p:cNvSpPr/>
          <p:nvPr/>
        </p:nvSpPr>
        <p:spPr>
          <a:xfrm>
            <a:off x="253176" y="1413477"/>
            <a:ext cx="11469132" cy="2244123"/>
          </a:xfrm>
          <a:prstGeom prst="rect">
            <a:avLst/>
          </a:prstGeom>
          <a:solidFill>
            <a:schemeClr val="bg1"/>
          </a:solidFill>
          <a:ln w="28575">
            <a:solidFill>
              <a:srgbClr val="D23C46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(Sentencia C-077/17) comprende tanto los derechos para implementar una estrategia global de desarrollo rural (Sentencia C-021/94) a favor de la población campesina como los derechos que protegen la realización del proyecto de vida campesina (Sentencia C-077/17). Igualmente, sentencias como la C-536 de 1997 y la C-644 de 2012 han reconocido las condiciones de vulnerabilidad y discriminación histórica en que han vivido los campesinos, por lo que la garantía de sus derechos debe ser reforzada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4261831-7C70-2B99-47F1-C969F8345970}"/>
              </a:ext>
            </a:extLst>
          </p:cNvPr>
          <p:cNvGrpSpPr/>
          <p:nvPr/>
        </p:nvGrpSpPr>
        <p:grpSpPr>
          <a:xfrm>
            <a:off x="6290152" y="3764088"/>
            <a:ext cx="5340175" cy="2484312"/>
            <a:chOff x="9127339" y="1422246"/>
            <a:chExt cx="3816925" cy="175620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95F1D51-8433-82E5-0726-35E6CE616AA6}"/>
                </a:ext>
              </a:extLst>
            </p:cNvPr>
            <p:cNvSpPr/>
            <p:nvPr/>
          </p:nvSpPr>
          <p:spPr>
            <a:xfrm>
              <a:off x="9127339" y="1422246"/>
              <a:ext cx="3816925" cy="17562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D23C46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A974B43-29DC-16ED-972E-21642258C7BC}"/>
                </a:ext>
              </a:extLst>
            </p:cNvPr>
            <p:cNvSpPr txBox="1"/>
            <p:nvPr/>
          </p:nvSpPr>
          <p:spPr>
            <a:xfrm>
              <a:off x="9259706" y="1850430"/>
              <a:ext cx="3684558" cy="826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Ley 1876 de 2017: creación, funcionamiento y operación de las Unidades Municipales de Asistencia Técnica Agropecuaria, UMATA, 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estará a cargo de los municipios la prestación del servicio de asistencia técnica y extensión agropecuaria directa rural </a:t>
              </a: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3264A1A-A527-F825-8F48-E6E7C44BD845}"/>
              </a:ext>
            </a:extLst>
          </p:cNvPr>
          <p:cNvSpPr txBox="1"/>
          <p:nvPr/>
        </p:nvSpPr>
        <p:spPr>
          <a:xfrm>
            <a:off x="253176" y="1456443"/>
            <a:ext cx="113771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Ley 1551 de 2012: Modernización de los municipios.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Procurar la solución de las necesidades básicas insatisfechas de los habitantes del municipio con especial énfasis sujetos de especial protección constitucional.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Elaborar los planes de desarrollo municipal (…) teniendo en cuenta el ordenamiento y el uso eficiente del suelo rural, de acuerdo a la información aportada por la UPRA. </a:t>
            </a:r>
            <a:endParaRPr lang="es-ES" sz="1400" kern="1200" dirty="0">
              <a:solidFill>
                <a:prstClr val="black"/>
              </a:solidFill>
              <a:latin typeface="Helvetica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400" dirty="0"/>
              <a:t>Crear el </a:t>
            </a:r>
            <a:r>
              <a:rPr lang="es-ES" sz="1400" b="1" dirty="0"/>
              <a:t>Consejo Municipal de Desarrollo Rural</a:t>
            </a:r>
            <a:r>
              <a:rPr lang="es-ES" sz="1400" dirty="0"/>
              <a:t>, el cual servirá como instancia superior de concertación entre las autoridades locales, las comunidades rurales, organismos de acción comunal y las entidades públicas en materia de desarrollo rural.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Diseñar estrategias y políticas dirigidas al respeto y garantía de los Derechos Humanos y del Derecho Internacional Humanitario, los cuales tienen alta afectación en lo rural. 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DC8B100-2E41-CCC4-0493-F3CC78DBD361}"/>
              </a:ext>
            </a:extLst>
          </p:cNvPr>
          <p:cNvGrpSpPr/>
          <p:nvPr/>
        </p:nvGrpSpPr>
        <p:grpSpPr>
          <a:xfrm>
            <a:off x="253173" y="3764161"/>
            <a:ext cx="5840610" cy="2574961"/>
            <a:chOff x="6476591" y="4630881"/>
            <a:chExt cx="4888899" cy="2839656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E0E289DC-BEDC-DFBD-9FF4-A701C4F8B9A5}"/>
                </a:ext>
              </a:extLst>
            </p:cNvPr>
            <p:cNvSpPr/>
            <p:nvPr/>
          </p:nvSpPr>
          <p:spPr>
            <a:xfrm>
              <a:off x="6476591" y="4630881"/>
              <a:ext cx="4888899" cy="272583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D23C46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 la población campesina como los derechos que protegen la realización del proyecto de vida campesina (Sentencia C-077/17). Igualmente, sentencias como la C-536 de 1997 y la C-644 de 2012 han reconocido las condiciones de vulnerabilidad y discriminación histórica en que han vivido los campesinos, por lo que la garantía de sus derechos debe ser reforzada</a:t>
              </a:r>
              <a:endPara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EBCE84E5-A2D6-BE03-B255-F97A796C6769}"/>
                </a:ext>
              </a:extLst>
            </p:cNvPr>
            <p:cNvSpPr txBox="1"/>
            <p:nvPr/>
          </p:nvSpPr>
          <p:spPr>
            <a:xfrm>
              <a:off x="6645581" y="4721278"/>
              <a:ext cx="4621811" cy="2749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Ley 160 de 1994, Sistema Nacional de Reforma Agraria y Desarrollo Rural Campesino, 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los municipios </a:t>
              </a: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crearán el Consejo Municipal de Desarrollo Rural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, el cual servirá como instancia superior de concertación entre las autoridades locales, las comunidades rurales y las entidades públicas en materia de desarrollo rural. 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Programas de reforma agraria, los Consejos de Desarrollo Rural o las instancias de participación que hagan sus veces, podrán crear un Comité de Reforma Agraria para facilitar la realización de las reuniones de concertación y las actividades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26" name="Google Shape;141;p22">
            <a:extLst>
              <a:ext uri="{FF2B5EF4-FFF2-40B4-BE49-F238E27FC236}">
                <a16:creationId xmlns:a16="http://schemas.microsoft.com/office/drawing/2014/main" id="{9ADF0825-F666-C0B6-5265-7AEDE7A6D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8369" y="381299"/>
            <a:ext cx="98035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5" tIns="34275" rIns="68575" bIns="34275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kumimoji="0" lang="es-MX" alt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elvetica"/>
                <a:ea typeface="Work Sans Medium" panose="00000600000000000000" pitchFamily="50" charset="0"/>
                <a:cs typeface="Work Sans Medium" panose="00000600000000000000" pitchFamily="50" charset="0"/>
                <a:sym typeface="Work Sans Light" pitchFamily="34" charset="0"/>
              </a:rPr>
              <a:t>Normatividad competencias municipios </a:t>
            </a:r>
            <a:r>
              <a:rPr lang="es-MX" altLang="es-CO" sz="32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Helvetica"/>
                <a:ea typeface="Work Sans Medium" panose="00000600000000000000" pitchFamily="50" charset="0"/>
                <a:cs typeface="Work Sans Medium" panose="00000600000000000000" pitchFamily="50" charset="0"/>
                <a:sym typeface="Work Sans Light" pitchFamily="34" charset="0"/>
              </a:rPr>
              <a:t>y departamentos </a:t>
            </a:r>
            <a:r>
              <a:rPr kumimoji="0" lang="es-MX" alt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elvetica"/>
                <a:ea typeface="Work Sans Medium" panose="00000600000000000000" pitchFamily="50" charset="0"/>
                <a:cs typeface="Work Sans Medium" panose="00000600000000000000" pitchFamily="50" charset="0"/>
                <a:sym typeface="Work Sans Light" pitchFamily="34" charset="0"/>
              </a:rPr>
              <a:t>en materia de campesinado</a:t>
            </a:r>
            <a:endParaRPr kumimoji="0" lang="es-CO" altLang="es-CO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elvetica"/>
              <a:ea typeface="Work Sans Medium" panose="00000600000000000000" pitchFamily="50" charset="0"/>
              <a:cs typeface="Work Sans Medium" panose="00000600000000000000" pitchFamily="50" charset="0"/>
              <a:sym typeface="Work Sans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733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9310-5653-EBB2-8A1C-3401D80F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DE89084-41E4-0F5B-1695-ED3D84B90CD3}"/>
              </a:ext>
            </a:extLst>
          </p:cNvPr>
          <p:cNvGrpSpPr/>
          <p:nvPr/>
        </p:nvGrpSpPr>
        <p:grpSpPr>
          <a:xfrm>
            <a:off x="0" y="672519"/>
            <a:ext cx="3538854" cy="157480"/>
            <a:chOff x="0" y="741552"/>
            <a:chExt cx="3538854" cy="15748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EA0DFEB-3A36-6E9B-59D9-576F37320C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47253C1-11A0-1CA7-9044-36AEF21B398A}"/>
                </a:ext>
              </a:extLst>
            </p:cNvPr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Google Shape;141;p22">
            <a:extLst>
              <a:ext uri="{FF2B5EF4-FFF2-40B4-BE49-F238E27FC236}">
                <a16:creationId xmlns:a16="http://schemas.microsoft.com/office/drawing/2014/main" id="{E7CAF1B5-C41B-CFB0-2F92-7D744E64D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680" y="457200"/>
            <a:ext cx="98035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5" tIns="34275" rIns="68575" bIns="34275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kumimoji="0" lang="es-MX" altLang="es-CO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elvetica"/>
                <a:ea typeface="Work Sans Medium" panose="00000600000000000000" pitchFamily="50" charset="0"/>
                <a:cs typeface="Work Sans Medium" panose="00000600000000000000" pitchFamily="50" charset="0"/>
                <a:sym typeface="Work Sans Light" pitchFamily="34" charset="0"/>
              </a:rPr>
              <a:t>Normatividad competencias municipios y departamentos en materia de campesinado</a:t>
            </a:r>
            <a:endParaRPr kumimoji="0" lang="es-CO" altLang="es-CO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elvetica"/>
              <a:ea typeface="Work Sans Medium" panose="00000600000000000000" pitchFamily="50" charset="0"/>
              <a:cs typeface="Work Sans Medium" panose="00000600000000000000" pitchFamily="50" charset="0"/>
              <a:sym typeface="Work Sans Light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4208432-5EE3-6D3B-6317-5163176EC886}"/>
              </a:ext>
            </a:extLst>
          </p:cNvPr>
          <p:cNvSpPr/>
          <p:nvPr/>
        </p:nvSpPr>
        <p:spPr>
          <a:xfrm>
            <a:off x="533400" y="1680253"/>
            <a:ext cx="5370368" cy="1765417"/>
          </a:xfrm>
          <a:prstGeom prst="rect">
            <a:avLst/>
          </a:prstGeom>
          <a:solidFill>
            <a:schemeClr val="bg1"/>
          </a:solidFill>
          <a:ln w="28575">
            <a:solidFill>
              <a:srgbClr val="D23C46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la población campesina como los derechos que protegen la realización del proyecto de vida campesina (Sentencia C-077/17). Igualmente, sentencias como la C-536 de 1997 y la C-644 de 2012 han reconocido las condiciones de vulnerabilidad y discriminación histórica en que han vivido los campesinos, por lo que la garantía de sus derechos debe ser reforzada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B62FC0-F7E0-CD8D-704C-EE370C82DB68}"/>
              </a:ext>
            </a:extLst>
          </p:cNvPr>
          <p:cNvSpPr txBox="1"/>
          <p:nvPr/>
        </p:nvSpPr>
        <p:spPr>
          <a:xfrm>
            <a:off x="669035" y="1814455"/>
            <a:ext cx="512980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Ley No 2223 de 2022: CONMEMORACIÓN DEL DIA DEL CAMPESINO 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todas las entidades públicas del orden territorial y nacional deben realizar actos públicos de celebración del Día del Campesino, que serán coordinados con la participación de las asociaciones campesinas departamentales.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70636E4-63B9-1BFB-81E7-7B0378C1FA02}"/>
              </a:ext>
            </a:extLst>
          </p:cNvPr>
          <p:cNvGrpSpPr/>
          <p:nvPr/>
        </p:nvGrpSpPr>
        <p:grpSpPr>
          <a:xfrm>
            <a:off x="7160444" y="1680253"/>
            <a:ext cx="3816925" cy="2713214"/>
            <a:chOff x="8175222" y="1490169"/>
            <a:chExt cx="3816925" cy="271321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F7E1E62-A14A-E3BD-3C3F-D7DDDEAED639}"/>
                </a:ext>
              </a:extLst>
            </p:cNvPr>
            <p:cNvSpPr/>
            <p:nvPr/>
          </p:nvSpPr>
          <p:spPr>
            <a:xfrm>
              <a:off x="8175222" y="1490169"/>
              <a:ext cx="3816925" cy="271321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D23C46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21421A28-D709-4573-F532-D99947BECB10}"/>
                </a:ext>
              </a:extLst>
            </p:cNvPr>
            <p:cNvSpPr txBox="1"/>
            <p:nvPr/>
          </p:nvSpPr>
          <p:spPr>
            <a:xfrm>
              <a:off x="8344940" y="1525726"/>
              <a:ext cx="3477491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LEY 2219 DE 2022: FORTALECIEMIENTO DE ASOCIACIONES CAMPESINAS Y DE LAS ASOCIACIONES AGROPECUARIAS </a:t>
              </a:r>
              <a:r>
                <a:rPr kumimoji="0" lang="es-E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Programas especiales para el fortalecimiento de las asociaciones campesinas y agropecuarias, en asuntos relacionados con la organización, capacitación, participación comunitaria, la cultura, el desarrollo de la economía campesina y el ambiente.</a:t>
              </a:r>
              <a:endPara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9D6A8C9-04C5-F481-BAFE-863E54CF3312}"/>
              </a:ext>
            </a:extLst>
          </p:cNvPr>
          <p:cNvSpPr/>
          <p:nvPr/>
        </p:nvSpPr>
        <p:spPr>
          <a:xfrm>
            <a:off x="533400" y="4022393"/>
            <a:ext cx="5835063" cy="1631216"/>
          </a:xfrm>
          <a:prstGeom prst="rect">
            <a:avLst/>
          </a:prstGeom>
          <a:solidFill>
            <a:schemeClr val="bg1"/>
          </a:solidFill>
          <a:ln w="28575">
            <a:solidFill>
              <a:srgbClr val="D23C46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la población campesina como los derechos que protegen la realización del proyecto de vida campesina (Sentencia C-077/17). Igualmente, sentencias como la C-536 de 1997 y la C-644 de 2012 han reconocido las condiciones de vulnerabilidad y discriminación histórica en que han vivido los campesinos, por lo que la garantía de sus derechos debe ser reforzada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D142999-FEE5-CF11-B78D-C0A32CEF2056}"/>
              </a:ext>
            </a:extLst>
          </p:cNvPr>
          <p:cNvSpPr txBox="1"/>
          <p:nvPr/>
        </p:nvSpPr>
        <p:spPr>
          <a:xfrm>
            <a:off x="669035" y="4114845"/>
            <a:ext cx="550904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Ley 2462 de 2025 , Ley de mujer rural.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400" kern="1200" dirty="0">
                <a:solidFill>
                  <a:prstClr val="black"/>
                </a:solidFill>
                <a:latin typeface="Helvetica"/>
                <a:ea typeface="+mn-ea"/>
                <a:cs typeface="+mn-cs"/>
              </a:rPr>
              <a:t>F</a:t>
            </a:r>
            <a:r>
              <a:rPr kumimoji="0" lang="es-MX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ortalece</a:t>
            </a: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los derechos de las mujeres rurales, campesinas y pescadoras, garantizando igualdad de oportunidades en acceso a tierra, crédito, asistencia técnica y participación, además de reconocer su rol en el trabajo doméstico y comunitario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D55891-FBFF-52E9-003C-885E33B9E143}"/>
              </a:ext>
            </a:extLst>
          </p:cNvPr>
          <p:cNvSpPr txBox="1"/>
          <p:nvPr/>
        </p:nvSpPr>
        <p:spPr>
          <a:xfrm>
            <a:off x="7057624" y="4757866"/>
            <a:ext cx="410980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LEY 2294 DE 2023: </a:t>
            </a:r>
          </a:p>
          <a:p>
            <a:pPr algn="just" rtl="0"/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Artículo: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359: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Reconocimiento,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apoyo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 y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fortalecimiento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 de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las </a:t>
            </a:r>
            <a:r>
              <a:rPr lang="es-ES" sz="1400" kern="1200" spc="-35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5" dirty="0">
                <a:solidFill>
                  <a:prstClr val="black"/>
                </a:solidFill>
                <a:latin typeface="Calibri"/>
                <a:cs typeface="Calibri"/>
              </a:rPr>
              <a:t>Territorialidades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Campesinas.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20" dirty="0">
                <a:solidFill>
                  <a:prstClr val="black"/>
                </a:solidFill>
                <a:latin typeface="Calibri"/>
                <a:cs typeface="Calibri"/>
              </a:rPr>
              <a:t>(Territorios</a:t>
            </a:r>
            <a:r>
              <a:rPr lang="es-ES" sz="1400" kern="12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Campesinos 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Agroalimentarios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 y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los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Ecosistemas</a:t>
            </a:r>
            <a:r>
              <a:rPr lang="es-ES" sz="1400" kern="1200" spc="34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Acuáticos</a:t>
            </a:r>
            <a:r>
              <a:rPr lang="es-ES" sz="1400" kern="1200" spc="34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5" dirty="0">
                <a:solidFill>
                  <a:prstClr val="black"/>
                </a:solidFill>
                <a:latin typeface="Calibri"/>
                <a:cs typeface="Calibri"/>
              </a:rPr>
              <a:t>Agroalimentarios, </a:t>
            </a:r>
            <a:r>
              <a:rPr lang="es-ES" sz="1400" kern="12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5" dirty="0">
                <a:solidFill>
                  <a:prstClr val="black"/>
                </a:solidFill>
                <a:latin typeface="Calibri"/>
                <a:cs typeface="Calibri"/>
              </a:rPr>
              <a:t>entre</a:t>
            </a:r>
            <a:r>
              <a:rPr lang="es-ES" sz="1400" kern="12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otros).</a:t>
            </a:r>
          </a:p>
          <a:p>
            <a:pPr algn="just" rtl="0"/>
            <a:r>
              <a:rPr lang="es-ES" sz="1400" kern="1200" spc="-10" dirty="0">
                <a:solidFill>
                  <a:prstClr val="black"/>
                </a:solidFill>
                <a:latin typeface="Calibri"/>
                <a:cs typeface="Calibri"/>
              </a:rPr>
              <a:t>Artículo 361: Trazador presupuestal. </a:t>
            </a:r>
            <a:endParaRPr lang="es-ES" sz="1400" kern="12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5104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12730-FC0F-D35C-3ABD-820FE463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4FD8B1-21D5-F6F4-07F2-5A68F2BF4836}"/>
              </a:ext>
            </a:extLst>
          </p:cNvPr>
          <p:cNvSpPr/>
          <p:nvPr/>
        </p:nvSpPr>
        <p:spPr>
          <a:xfrm>
            <a:off x="4036440" y="4115942"/>
            <a:ext cx="5393690" cy="0"/>
          </a:xfrm>
          <a:custGeom>
            <a:avLst/>
            <a:gdLst/>
            <a:ahLst/>
            <a:cxnLst/>
            <a:rect l="l" t="t" r="r" b="b"/>
            <a:pathLst>
              <a:path w="5393690">
                <a:moveTo>
                  <a:pt x="0" y="0"/>
                </a:moveTo>
                <a:lnTo>
                  <a:pt x="539330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FEBD58-7209-7D58-FF27-3A1842BAB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2362200"/>
            <a:ext cx="6438011" cy="103105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10820" algn="ctr">
              <a:lnSpc>
                <a:spcPct val="100000"/>
              </a:lnSpc>
              <a:spcBef>
                <a:spcPts val="360"/>
              </a:spcBef>
            </a:pPr>
            <a:r>
              <a:rPr lang="en-US" spc="-80" dirty="0"/>
              <a:t>ELEMENTOS HACIA DONDE DEBEMOS AVANZAR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210381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CCFB5-7F37-5319-4BC7-0D6E9646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90730AE-3BDD-2A22-D7E4-70487DB65897}"/>
              </a:ext>
            </a:extLst>
          </p:cNvPr>
          <p:cNvGrpSpPr/>
          <p:nvPr/>
        </p:nvGrpSpPr>
        <p:grpSpPr>
          <a:xfrm>
            <a:off x="10741152" y="734875"/>
            <a:ext cx="942340" cy="197485"/>
            <a:chOff x="10741152" y="734875"/>
            <a:chExt cx="942340" cy="1974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DDC9371-E72A-4EC3-0273-C8469EADCD70}"/>
                </a:ext>
              </a:extLst>
            </p:cNvPr>
            <p:cNvSpPr/>
            <p:nvPr/>
          </p:nvSpPr>
          <p:spPr>
            <a:xfrm>
              <a:off x="10741152" y="740034"/>
              <a:ext cx="35560" cy="189230"/>
            </a:xfrm>
            <a:custGeom>
              <a:avLst/>
              <a:gdLst/>
              <a:ahLst/>
              <a:cxnLst/>
              <a:rect l="l" t="t" r="r" b="b"/>
              <a:pathLst>
                <a:path w="35559" h="189230">
                  <a:moveTo>
                    <a:pt x="35371" y="0"/>
                  </a:moveTo>
                  <a:lnTo>
                    <a:pt x="0" y="0"/>
                  </a:lnTo>
                  <a:lnTo>
                    <a:pt x="0" y="189107"/>
                  </a:lnTo>
                  <a:lnTo>
                    <a:pt x="35371" y="189107"/>
                  </a:lnTo>
                  <a:lnTo>
                    <a:pt x="35371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87C443D-D33D-D184-D0B8-804A490A87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8110" y="793884"/>
              <a:ext cx="127128" cy="135256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B91330C-9CE3-FA8C-8B35-89817DCA8AF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5640" y="758253"/>
              <a:ext cx="250048" cy="17351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965B87B-C486-B931-564D-A03F3AD51D2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5976" y="793359"/>
              <a:ext cx="90441" cy="135781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E7CAC25-6457-9592-9BB6-B85A723A0126}"/>
                </a:ext>
              </a:extLst>
            </p:cNvPr>
            <p:cNvSpPr/>
            <p:nvPr/>
          </p:nvSpPr>
          <p:spPr>
            <a:xfrm>
              <a:off x="11356200" y="734885"/>
              <a:ext cx="40005" cy="194310"/>
            </a:xfrm>
            <a:custGeom>
              <a:avLst/>
              <a:gdLst/>
              <a:ahLst/>
              <a:cxnLst/>
              <a:rect l="l" t="t" r="r" b="b"/>
              <a:pathLst>
                <a:path w="40004" h="194309">
                  <a:moveTo>
                    <a:pt x="37299" y="61709"/>
                  </a:moveTo>
                  <a:lnTo>
                    <a:pt x="2451" y="61709"/>
                  </a:lnTo>
                  <a:lnTo>
                    <a:pt x="2451" y="194259"/>
                  </a:lnTo>
                  <a:lnTo>
                    <a:pt x="37299" y="194259"/>
                  </a:lnTo>
                  <a:lnTo>
                    <a:pt x="37299" y="61709"/>
                  </a:lnTo>
                  <a:close/>
                </a:path>
                <a:path w="40004" h="194309">
                  <a:moveTo>
                    <a:pt x="39484" y="0"/>
                  </a:moveTo>
                  <a:lnTo>
                    <a:pt x="0" y="0"/>
                  </a:lnTo>
                  <a:lnTo>
                    <a:pt x="0" y="34404"/>
                  </a:lnTo>
                  <a:lnTo>
                    <a:pt x="39484" y="34404"/>
                  </a:lnTo>
                  <a:lnTo>
                    <a:pt x="39484" y="0"/>
                  </a:lnTo>
                  <a:close/>
                </a:path>
              </a:pathLst>
            </a:custGeom>
            <a:solidFill>
              <a:srgbClr val="CD3B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84B88F9-8AE7-CEC7-401A-CE9B2E25785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24316" y="793884"/>
              <a:ext cx="137372" cy="13788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58E85FC2-8C1B-C34B-C8DC-C9D0B730A40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2594" y="793359"/>
              <a:ext cx="90348" cy="135781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E7366D05-4E3C-BDDE-DB74-5E8756BE9AD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16236" y="268144"/>
            <a:ext cx="372015" cy="411479"/>
          </a:xfrm>
          <a:prstGeom prst="rect">
            <a:avLst/>
          </a:prstGeom>
        </p:spPr>
      </p:pic>
      <p:grpSp>
        <p:nvGrpSpPr>
          <p:cNvPr id="11" name="object 11">
            <a:extLst>
              <a:ext uri="{FF2B5EF4-FFF2-40B4-BE49-F238E27FC236}">
                <a16:creationId xmlns:a16="http://schemas.microsoft.com/office/drawing/2014/main" id="{F3473C2A-D85A-B421-C325-46DFD92FEA59}"/>
              </a:ext>
            </a:extLst>
          </p:cNvPr>
          <p:cNvGrpSpPr/>
          <p:nvPr/>
        </p:nvGrpSpPr>
        <p:grpSpPr>
          <a:xfrm>
            <a:off x="11009151" y="1052329"/>
            <a:ext cx="386715" cy="33655"/>
            <a:chOff x="11009151" y="1052329"/>
            <a:chExt cx="386715" cy="3365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51B311C-7D7E-4BC9-6C1D-4957528D1ED5}"/>
                </a:ext>
              </a:extLst>
            </p:cNvPr>
            <p:cNvSpPr/>
            <p:nvPr/>
          </p:nvSpPr>
          <p:spPr>
            <a:xfrm>
              <a:off x="11009151" y="1052329"/>
              <a:ext cx="193675" cy="33655"/>
            </a:xfrm>
            <a:custGeom>
              <a:avLst/>
              <a:gdLst/>
              <a:ahLst/>
              <a:cxnLst/>
              <a:rect l="l" t="t" r="r" b="b"/>
              <a:pathLst>
                <a:path w="193675" h="33655">
                  <a:moveTo>
                    <a:pt x="193138" y="0"/>
                  </a:moveTo>
                  <a:lnTo>
                    <a:pt x="0" y="0"/>
                  </a:lnTo>
                  <a:lnTo>
                    <a:pt x="0" y="33532"/>
                  </a:lnTo>
                  <a:lnTo>
                    <a:pt x="193138" y="33532"/>
                  </a:lnTo>
                  <a:lnTo>
                    <a:pt x="193138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686E884-C939-7524-31F0-9DD63154AF1D}"/>
                </a:ext>
              </a:extLst>
            </p:cNvPr>
            <p:cNvSpPr/>
            <p:nvPr/>
          </p:nvSpPr>
          <p:spPr>
            <a:xfrm>
              <a:off x="11202290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76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76" y="33444"/>
                  </a:lnTo>
                  <a:lnTo>
                    <a:pt x="96476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1C56C6E-811A-21A3-5BE2-7D930141AC13}"/>
                </a:ext>
              </a:extLst>
            </p:cNvPr>
            <p:cNvSpPr/>
            <p:nvPr/>
          </p:nvSpPr>
          <p:spPr>
            <a:xfrm>
              <a:off x="11298766" y="1052329"/>
              <a:ext cx="96520" cy="33655"/>
            </a:xfrm>
            <a:custGeom>
              <a:avLst/>
              <a:gdLst/>
              <a:ahLst/>
              <a:cxnLst/>
              <a:rect l="l" t="t" r="r" b="b"/>
              <a:pathLst>
                <a:path w="96520" h="33655">
                  <a:moveTo>
                    <a:pt x="96487" y="0"/>
                  </a:moveTo>
                  <a:lnTo>
                    <a:pt x="0" y="0"/>
                  </a:lnTo>
                  <a:lnTo>
                    <a:pt x="0" y="33444"/>
                  </a:lnTo>
                  <a:lnTo>
                    <a:pt x="96487" y="33444"/>
                  </a:lnTo>
                  <a:lnTo>
                    <a:pt x="96487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2AA01114-E0BF-3174-9EE3-3A2B1B74D885}"/>
              </a:ext>
            </a:extLst>
          </p:cNvPr>
          <p:cNvGrpSpPr/>
          <p:nvPr/>
        </p:nvGrpSpPr>
        <p:grpSpPr>
          <a:xfrm>
            <a:off x="0" y="6684757"/>
            <a:ext cx="12192000" cy="173355"/>
            <a:chOff x="0" y="6684757"/>
            <a:chExt cx="12192000" cy="17335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BAEF7E72-625C-E62B-10E1-D89D1246451C}"/>
                </a:ext>
              </a:extLst>
            </p:cNvPr>
            <p:cNvSpPr/>
            <p:nvPr/>
          </p:nvSpPr>
          <p:spPr>
            <a:xfrm>
              <a:off x="0" y="6684757"/>
              <a:ext cx="6098540" cy="173355"/>
            </a:xfrm>
            <a:custGeom>
              <a:avLst/>
              <a:gdLst/>
              <a:ahLst/>
              <a:cxnLst/>
              <a:rect l="l" t="t" r="r" b="b"/>
              <a:pathLst>
                <a:path w="6098540" h="173354">
                  <a:moveTo>
                    <a:pt x="6098428" y="173240"/>
                  </a:moveTo>
                  <a:lnTo>
                    <a:pt x="6098428" y="0"/>
                  </a:lnTo>
                  <a:lnTo>
                    <a:pt x="0" y="0"/>
                  </a:lnTo>
                  <a:lnTo>
                    <a:pt x="0" y="173240"/>
                  </a:lnTo>
                  <a:lnTo>
                    <a:pt x="6098428" y="17324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87097AB-B49F-420B-7A45-8055B481FC9A}"/>
                </a:ext>
              </a:extLst>
            </p:cNvPr>
            <p:cNvSpPr/>
            <p:nvPr/>
          </p:nvSpPr>
          <p:spPr>
            <a:xfrm>
              <a:off x="6098428" y="6684757"/>
              <a:ext cx="3048635" cy="173355"/>
            </a:xfrm>
            <a:custGeom>
              <a:avLst/>
              <a:gdLst/>
              <a:ahLst/>
              <a:cxnLst/>
              <a:rect l="l" t="t" r="r" b="b"/>
              <a:pathLst>
                <a:path w="3048634" h="173354">
                  <a:moveTo>
                    <a:pt x="3048099" y="0"/>
                  </a:moveTo>
                  <a:lnTo>
                    <a:pt x="0" y="0"/>
                  </a:lnTo>
                  <a:lnTo>
                    <a:pt x="0" y="173240"/>
                  </a:lnTo>
                  <a:lnTo>
                    <a:pt x="3048099" y="173240"/>
                  </a:lnTo>
                  <a:lnTo>
                    <a:pt x="3048099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7807721-B94D-94CA-BF67-1ECA774128E2}"/>
                </a:ext>
              </a:extLst>
            </p:cNvPr>
            <p:cNvSpPr/>
            <p:nvPr/>
          </p:nvSpPr>
          <p:spPr>
            <a:xfrm>
              <a:off x="9147036" y="6684757"/>
              <a:ext cx="3045460" cy="173355"/>
            </a:xfrm>
            <a:custGeom>
              <a:avLst/>
              <a:gdLst/>
              <a:ahLst/>
              <a:cxnLst/>
              <a:rect l="l" t="t" r="r" b="b"/>
              <a:pathLst>
                <a:path w="3045459" h="173354">
                  <a:moveTo>
                    <a:pt x="0" y="0"/>
                  </a:moveTo>
                  <a:lnTo>
                    <a:pt x="0" y="173240"/>
                  </a:lnTo>
                  <a:lnTo>
                    <a:pt x="3044962" y="173240"/>
                  </a:lnTo>
                  <a:lnTo>
                    <a:pt x="3044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D9368F98-C773-6D80-5889-9151751B1970}"/>
              </a:ext>
            </a:extLst>
          </p:cNvPr>
          <p:cNvGrpSpPr/>
          <p:nvPr/>
        </p:nvGrpSpPr>
        <p:grpSpPr>
          <a:xfrm>
            <a:off x="0" y="741552"/>
            <a:ext cx="3538854" cy="157480"/>
            <a:chOff x="0" y="741552"/>
            <a:chExt cx="3538854" cy="157480"/>
          </a:xfrm>
        </p:grpSpPr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EFCEA98B-5A32-9792-60AA-585AECF94FA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1247" y="741552"/>
              <a:ext cx="157099" cy="157099"/>
            </a:xfrm>
            <a:prstGeom prst="rect">
              <a:avLst/>
            </a:prstGeom>
          </p:spPr>
        </p:pic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199E6338-D657-3DD1-693F-FB96BC925FDD}"/>
                </a:ext>
              </a:extLst>
            </p:cNvPr>
            <p:cNvSpPr/>
            <p:nvPr/>
          </p:nvSpPr>
          <p:spPr>
            <a:xfrm>
              <a:off x="0" y="820038"/>
              <a:ext cx="3381375" cy="0"/>
            </a:xfrm>
            <a:custGeom>
              <a:avLst/>
              <a:gdLst/>
              <a:ahLst/>
              <a:cxnLst/>
              <a:rect l="l" t="t" r="r" b="b"/>
              <a:pathLst>
                <a:path w="3381375">
                  <a:moveTo>
                    <a:pt x="3381248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7" name="Diagrama 26">
            <a:extLst>
              <a:ext uri="{FF2B5EF4-FFF2-40B4-BE49-F238E27FC236}">
                <a16:creationId xmlns:a16="http://schemas.microsoft.com/office/drawing/2014/main" id="{84D18270-9877-802E-968B-B6EFB54999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1572904"/>
              </p:ext>
            </p:extLst>
          </p:nvPr>
        </p:nvGraphicFramePr>
        <p:xfrm>
          <a:off x="1524000" y="1447800"/>
          <a:ext cx="9067799" cy="4419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522189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984" y="-6984"/>
            <a:ext cx="12205335" cy="6865620"/>
            <a:chOff x="-6984" y="-6984"/>
            <a:chExt cx="12205335" cy="68656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4324" y="-1"/>
              <a:ext cx="8067675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3"/>
              <a:ext cx="6928484" cy="6858634"/>
            </a:xfrm>
            <a:custGeom>
              <a:avLst/>
              <a:gdLst/>
              <a:ahLst/>
              <a:cxnLst/>
              <a:rect l="l" t="t" r="r" b="b"/>
              <a:pathLst>
                <a:path w="6928484" h="6858634">
                  <a:moveTo>
                    <a:pt x="3509456" y="0"/>
                  </a:moveTo>
                  <a:lnTo>
                    <a:pt x="0" y="0"/>
                  </a:lnTo>
                  <a:lnTo>
                    <a:pt x="0" y="6845344"/>
                  </a:lnTo>
                  <a:lnTo>
                    <a:pt x="3204903" y="6845344"/>
                  </a:lnTo>
                  <a:lnTo>
                    <a:pt x="3253440" y="6849263"/>
                  </a:lnTo>
                  <a:lnTo>
                    <a:pt x="3302137" y="6852470"/>
                  </a:lnTo>
                  <a:lnTo>
                    <a:pt x="3350996" y="6854964"/>
                  </a:lnTo>
                  <a:lnTo>
                    <a:pt x="3400018" y="6856746"/>
                  </a:lnTo>
                  <a:lnTo>
                    <a:pt x="3449206" y="6857815"/>
                  </a:lnTo>
                  <a:lnTo>
                    <a:pt x="3498561" y="6858171"/>
                  </a:lnTo>
                  <a:lnTo>
                    <a:pt x="3547044" y="6857835"/>
                  </a:lnTo>
                  <a:lnTo>
                    <a:pt x="3595364" y="6856831"/>
                  </a:lnTo>
                  <a:lnTo>
                    <a:pt x="3643519" y="6855162"/>
                  </a:lnTo>
                  <a:lnTo>
                    <a:pt x="3691504" y="6852834"/>
                  </a:lnTo>
                  <a:lnTo>
                    <a:pt x="3739314" y="6849850"/>
                  </a:lnTo>
                  <a:lnTo>
                    <a:pt x="3786945" y="6846216"/>
                  </a:lnTo>
                  <a:lnTo>
                    <a:pt x="3834392" y="6841935"/>
                  </a:lnTo>
                  <a:lnTo>
                    <a:pt x="3881652" y="6837011"/>
                  </a:lnTo>
                  <a:lnTo>
                    <a:pt x="3928719" y="6831450"/>
                  </a:lnTo>
                  <a:lnTo>
                    <a:pt x="3975590" y="6825256"/>
                  </a:lnTo>
                  <a:lnTo>
                    <a:pt x="4022259" y="6818433"/>
                  </a:lnTo>
                  <a:lnTo>
                    <a:pt x="4068723" y="6810985"/>
                  </a:lnTo>
                  <a:lnTo>
                    <a:pt x="4114977" y="6802917"/>
                  </a:lnTo>
                  <a:lnTo>
                    <a:pt x="4161017" y="6794233"/>
                  </a:lnTo>
                  <a:lnTo>
                    <a:pt x="4206838" y="6784939"/>
                  </a:lnTo>
                  <a:lnTo>
                    <a:pt x="4252435" y="6775037"/>
                  </a:lnTo>
                  <a:lnTo>
                    <a:pt x="4297806" y="6764533"/>
                  </a:lnTo>
                  <a:lnTo>
                    <a:pt x="4342944" y="6753431"/>
                  </a:lnTo>
                  <a:lnTo>
                    <a:pt x="4387845" y="6741735"/>
                  </a:lnTo>
                  <a:lnTo>
                    <a:pt x="4432506" y="6729450"/>
                  </a:lnTo>
                  <a:lnTo>
                    <a:pt x="4476922" y="6716580"/>
                  </a:lnTo>
                  <a:lnTo>
                    <a:pt x="4521088" y="6703130"/>
                  </a:lnTo>
                  <a:lnTo>
                    <a:pt x="4565000" y="6689103"/>
                  </a:lnTo>
                  <a:lnTo>
                    <a:pt x="4608654" y="6674505"/>
                  </a:lnTo>
                  <a:lnTo>
                    <a:pt x="4652044" y="6659340"/>
                  </a:lnTo>
                  <a:lnTo>
                    <a:pt x="4695168" y="6643612"/>
                  </a:lnTo>
                  <a:lnTo>
                    <a:pt x="4738020" y="6627326"/>
                  </a:lnTo>
                  <a:lnTo>
                    <a:pt x="4780595" y="6610486"/>
                  </a:lnTo>
                  <a:lnTo>
                    <a:pt x="4822890" y="6593096"/>
                  </a:lnTo>
                  <a:lnTo>
                    <a:pt x="4864900" y="6575161"/>
                  </a:lnTo>
                  <a:lnTo>
                    <a:pt x="4906621" y="6556685"/>
                  </a:lnTo>
                  <a:lnTo>
                    <a:pt x="4948048" y="6537673"/>
                  </a:lnTo>
                  <a:lnTo>
                    <a:pt x="4989177" y="6518130"/>
                  </a:lnTo>
                  <a:lnTo>
                    <a:pt x="5030004" y="6498058"/>
                  </a:lnTo>
                  <a:lnTo>
                    <a:pt x="5070523" y="6477464"/>
                  </a:lnTo>
                  <a:lnTo>
                    <a:pt x="5110731" y="6456350"/>
                  </a:lnTo>
                  <a:lnTo>
                    <a:pt x="5150623" y="6434723"/>
                  </a:lnTo>
                  <a:lnTo>
                    <a:pt x="5190195" y="6412585"/>
                  </a:lnTo>
                  <a:lnTo>
                    <a:pt x="5229442" y="6389942"/>
                  </a:lnTo>
                  <a:lnTo>
                    <a:pt x="5268361" y="6366798"/>
                  </a:lnTo>
                  <a:lnTo>
                    <a:pt x="5306946" y="6343158"/>
                  </a:lnTo>
                  <a:lnTo>
                    <a:pt x="5345193" y="6319025"/>
                  </a:lnTo>
                  <a:lnTo>
                    <a:pt x="5383097" y="6294404"/>
                  </a:lnTo>
                  <a:lnTo>
                    <a:pt x="5420655" y="6269300"/>
                  </a:lnTo>
                  <a:lnTo>
                    <a:pt x="5457862" y="6243717"/>
                  </a:lnTo>
                  <a:lnTo>
                    <a:pt x="5494714" y="6217659"/>
                  </a:lnTo>
                  <a:lnTo>
                    <a:pt x="5531205" y="6191131"/>
                  </a:lnTo>
                  <a:lnTo>
                    <a:pt x="5567332" y="6164138"/>
                  </a:lnTo>
                  <a:lnTo>
                    <a:pt x="5603091" y="6136682"/>
                  </a:lnTo>
                  <a:lnTo>
                    <a:pt x="5638476" y="6108770"/>
                  </a:lnTo>
                  <a:lnTo>
                    <a:pt x="5673484" y="6080406"/>
                  </a:lnTo>
                  <a:lnTo>
                    <a:pt x="5708110" y="6051593"/>
                  </a:lnTo>
                  <a:lnTo>
                    <a:pt x="5742349" y="6022336"/>
                  </a:lnTo>
                  <a:lnTo>
                    <a:pt x="5776198" y="5992640"/>
                  </a:lnTo>
                  <a:lnTo>
                    <a:pt x="5809651" y="5962509"/>
                  </a:lnTo>
                  <a:lnTo>
                    <a:pt x="5842705" y="5931948"/>
                  </a:lnTo>
                  <a:lnTo>
                    <a:pt x="5875355" y="5900960"/>
                  </a:lnTo>
                  <a:lnTo>
                    <a:pt x="5907596" y="5869551"/>
                  </a:lnTo>
                  <a:lnTo>
                    <a:pt x="5939424" y="5837725"/>
                  </a:lnTo>
                  <a:lnTo>
                    <a:pt x="5970836" y="5805485"/>
                  </a:lnTo>
                  <a:lnTo>
                    <a:pt x="6001825" y="5772837"/>
                  </a:lnTo>
                  <a:lnTo>
                    <a:pt x="6032389" y="5739785"/>
                  </a:lnTo>
                  <a:lnTo>
                    <a:pt x="6062522" y="5706333"/>
                  </a:lnTo>
                  <a:lnTo>
                    <a:pt x="6092220" y="5672487"/>
                  </a:lnTo>
                  <a:lnTo>
                    <a:pt x="6121478" y="5638249"/>
                  </a:lnTo>
                  <a:lnTo>
                    <a:pt x="6150293" y="5603625"/>
                  </a:lnTo>
                  <a:lnTo>
                    <a:pt x="6178660" y="5568618"/>
                  </a:lnTo>
                  <a:lnTo>
                    <a:pt x="6206575" y="5533234"/>
                  </a:lnTo>
                  <a:lnTo>
                    <a:pt x="6234032" y="5497477"/>
                  </a:lnTo>
                  <a:lnTo>
                    <a:pt x="6261028" y="5461351"/>
                  </a:lnTo>
                  <a:lnTo>
                    <a:pt x="6287558" y="5424861"/>
                  </a:lnTo>
                  <a:lnTo>
                    <a:pt x="6313618" y="5388011"/>
                  </a:lnTo>
                  <a:lnTo>
                    <a:pt x="6339204" y="5350805"/>
                  </a:lnTo>
                  <a:lnTo>
                    <a:pt x="6364310" y="5313248"/>
                  </a:lnTo>
                  <a:lnTo>
                    <a:pt x="6388933" y="5275344"/>
                  </a:lnTo>
                  <a:lnTo>
                    <a:pt x="6413068" y="5237098"/>
                  </a:lnTo>
                  <a:lnTo>
                    <a:pt x="6436711" y="5198514"/>
                  </a:lnTo>
                  <a:lnTo>
                    <a:pt x="6459857" y="5159596"/>
                  </a:lnTo>
                  <a:lnTo>
                    <a:pt x="6482502" y="5120349"/>
                  </a:lnTo>
                  <a:lnTo>
                    <a:pt x="6504642" y="5080778"/>
                  </a:lnTo>
                  <a:lnTo>
                    <a:pt x="6526272" y="5040886"/>
                  </a:lnTo>
                  <a:lnTo>
                    <a:pt x="6547387" y="5000678"/>
                  </a:lnTo>
                  <a:lnTo>
                    <a:pt x="6567984" y="4960159"/>
                  </a:lnTo>
                  <a:lnTo>
                    <a:pt x="6588058" y="4919333"/>
                  </a:lnTo>
                  <a:lnTo>
                    <a:pt x="6607604" y="4878204"/>
                  </a:lnTo>
                  <a:lnTo>
                    <a:pt x="6626618" y="4836776"/>
                  </a:lnTo>
                  <a:lnTo>
                    <a:pt x="6645096" y="4795055"/>
                  </a:lnTo>
                  <a:lnTo>
                    <a:pt x="6663033" y="4753045"/>
                  </a:lnTo>
                  <a:lnTo>
                    <a:pt x="6680425" y="4710749"/>
                  </a:lnTo>
                  <a:lnTo>
                    <a:pt x="6697267" y="4668173"/>
                  </a:lnTo>
                  <a:lnTo>
                    <a:pt x="6713555" y="4625320"/>
                  </a:lnTo>
                  <a:lnTo>
                    <a:pt x="6729285" y="4582196"/>
                  </a:lnTo>
                  <a:lnTo>
                    <a:pt x="6744452" y="4538804"/>
                  </a:lnTo>
                  <a:lnTo>
                    <a:pt x="6759052" y="4495149"/>
                  </a:lnTo>
                  <a:lnTo>
                    <a:pt x="6773080" y="4451236"/>
                  </a:lnTo>
                  <a:lnTo>
                    <a:pt x="6786532" y="4407068"/>
                  </a:lnTo>
                  <a:lnTo>
                    <a:pt x="6799403" y="4362651"/>
                  </a:lnTo>
                  <a:lnTo>
                    <a:pt x="6811690" y="4317988"/>
                  </a:lnTo>
                  <a:lnTo>
                    <a:pt x="6823388" y="4273085"/>
                  </a:lnTo>
                  <a:lnTo>
                    <a:pt x="6834491" y="4227945"/>
                  </a:lnTo>
                  <a:lnTo>
                    <a:pt x="6844997" y="4182572"/>
                  </a:lnTo>
                  <a:lnTo>
                    <a:pt x="6854900" y="4136972"/>
                  </a:lnTo>
                  <a:lnTo>
                    <a:pt x="6864196" y="4091149"/>
                  </a:lnTo>
                  <a:lnTo>
                    <a:pt x="6872881" y="4045107"/>
                  </a:lnTo>
                  <a:lnTo>
                    <a:pt x="6880950" y="3998850"/>
                  </a:lnTo>
                  <a:lnTo>
                    <a:pt x="6888399" y="3952383"/>
                  </a:lnTo>
                  <a:lnTo>
                    <a:pt x="6895223" y="3905710"/>
                  </a:lnTo>
                  <a:lnTo>
                    <a:pt x="6901418" y="3858836"/>
                  </a:lnTo>
                  <a:lnTo>
                    <a:pt x="6906980" y="3811765"/>
                  </a:lnTo>
                  <a:lnTo>
                    <a:pt x="6911904" y="3764502"/>
                  </a:lnTo>
                  <a:lnTo>
                    <a:pt x="6916186" y="3717051"/>
                  </a:lnTo>
                  <a:lnTo>
                    <a:pt x="6919821" y="3669416"/>
                  </a:lnTo>
                  <a:lnTo>
                    <a:pt x="6922805" y="3621602"/>
                  </a:lnTo>
                  <a:lnTo>
                    <a:pt x="6925134" y="3573613"/>
                  </a:lnTo>
                  <a:lnTo>
                    <a:pt x="6926803" y="3525453"/>
                  </a:lnTo>
                  <a:lnTo>
                    <a:pt x="6927807" y="3477128"/>
                  </a:lnTo>
                  <a:lnTo>
                    <a:pt x="6928143" y="3428641"/>
                  </a:lnTo>
                  <a:lnTo>
                    <a:pt x="6927808" y="3380262"/>
                  </a:lnTo>
                  <a:lnTo>
                    <a:pt x="6926808" y="3332044"/>
                  </a:lnTo>
                  <a:lnTo>
                    <a:pt x="6925146" y="3283991"/>
                  </a:lnTo>
                  <a:lnTo>
                    <a:pt x="6922827" y="3236108"/>
                  </a:lnTo>
                  <a:lnTo>
                    <a:pt x="6919854" y="3188399"/>
                  </a:lnTo>
                  <a:lnTo>
                    <a:pt x="6916234" y="3140867"/>
                  </a:lnTo>
                  <a:lnTo>
                    <a:pt x="6911969" y="3093519"/>
                  </a:lnTo>
                  <a:lnTo>
                    <a:pt x="6907065" y="3046358"/>
                  </a:lnTo>
                  <a:lnTo>
                    <a:pt x="6901525" y="2999388"/>
                  </a:lnTo>
                  <a:lnTo>
                    <a:pt x="6895354" y="2952614"/>
                  </a:lnTo>
                  <a:lnTo>
                    <a:pt x="6888557" y="2906040"/>
                  </a:lnTo>
                  <a:lnTo>
                    <a:pt x="6881137" y="2859671"/>
                  </a:lnTo>
                  <a:lnTo>
                    <a:pt x="6873100" y="2813511"/>
                  </a:lnTo>
                  <a:lnTo>
                    <a:pt x="6864449" y="2767564"/>
                  </a:lnTo>
                  <a:lnTo>
                    <a:pt x="6855190" y="2721835"/>
                  </a:lnTo>
                  <a:lnTo>
                    <a:pt x="6845325" y="2676328"/>
                  </a:lnTo>
                  <a:lnTo>
                    <a:pt x="6834861" y="2631047"/>
                  </a:lnTo>
                  <a:lnTo>
                    <a:pt x="6823800" y="2585998"/>
                  </a:lnTo>
                  <a:lnTo>
                    <a:pt x="6812148" y="2541184"/>
                  </a:lnTo>
                  <a:lnTo>
                    <a:pt x="6799909" y="2496609"/>
                  </a:lnTo>
                  <a:lnTo>
                    <a:pt x="6787087" y="2452279"/>
                  </a:lnTo>
                  <a:lnTo>
                    <a:pt x="6773687" y="2408197"/>
                  </a:lnTo>
                  <a:lnTo>
                    <a:pt x="6759713" y="2364368"/>
                  </a:lnTo>
                  <a:lnTo>
                    <a:pt x="6745169" y="2320796"/>
                  </a:lnTo>
                  <a:lnTo>
                    <a:pt x="6730060" y="2277486"/>
                  </a:lnTo>
                  <a:lnTo>
                    <a:pt x="6714390" y="2234441"/>
                  </a:lnTo>
                  <a:lnTo>
                    <a:pt x="6698164" y="2191668"/>
                  </a:lnTo>
                  <a:lnTo>
                    <a:pt x="6681385" y="2149169"/>
                  </a:lnTo>
                  <a:lnTo>
                    <a:pt x="6664059" y="2106949"/>
                  </a:lnTo>
                  <a:lnTo>
                    <a:pt x="6646190" y="2065012"/>
                  </a:lnTo>
                  <a:lnTo>
                    <a:pt x="6627782" y="2023364"/>
                  </a:lnTo>
                  <a:lnTo>
                    <a:pt x="6608839" y="1982008"/>
                  </a:lnTo>
                  <a:lnTo>
                    <a:pt x="6589366" y="1940948"/>
                  </a:lnTo>
                  <a:lnTo>
                    <a:pt x="6569367" y="1900190"/>
                  </a:lnTo>
                  <a:lnTo>
                    <a:pt x="6548847" y="1859737"/>
                  </a:lnTo>
                  <a:lnTo>
                    <a:pt x="6527810" y="1819594"/>
                  </a:lnTo>
                  <a:lnTo>
                    <a:pt x="6506260" y="1779765"/>
                  </a:lnTo>
                  <a:lnTo>
                    <a:pt x="6484202" y="1740255"/>
                  </a:lnTo>
                  <a:lnTo>
                    <a:pt x="6461640" y="1701068"/>
                  </a:lnTo>
                  <a:lnTo>
                    <a:pt x="6438579" y="1662209"/>
                  </a:lnTo>
                  <a:lnTo>
                    <a:pt x="6415022" y="1623681"/>
                  </a:lnTo>
                  <a:lnTo>
                    <a:pt x="6390975" y="1585489"/>
                  </a:lnTo>
                  <a:lnTo>
                    <a:pt x="6366442" y="1547638"/>
                  </a:lnTo>
                  <a:lnTo>
                    <a:pt x="6341426" y="1510132"/>
                  </a:lnTo>
                  <a:lnTo>
                    <a:pt x="6315933" y="1472975"/>
                  </a:lnTo>
                  <a:lnTo>
                    <a:pt x="6289967" y="1436172"/>
                  </a:lnTo>
                  <a:lnTo>
                    <a:pt x="6263532" y="1399726"/>
                  </a:lnTo>
                  <a:lnTo>
                    <a:pt x="6236633" y="1363644"/>
                  </a:lnTo>
                  <a:lnTo>
                    <a:pt x="6209273" y="1327928"/>
                  </a:lnTo>
                  <a:lnTo>
                    <a:pt x="6181458" y="1292584"/>
                  </a:lnTo>
                  <a:lnTo>
                    <a:pt x="6153192" y="1257615"/>
                  </a:lnTo>
                  <a:lnTo>
                    <a:pt x="6124479" y="1223026"/>
                  </a:lnTo>
                  <a:lnTo>
                    <a:pt x="6095323" y="1188822"/>
                  </a:lnTo>
                  <a:lnTo>
                    <a:pt x="6065729" y="1155006"/>
                  </a:lnTo>
                  <a:lnTo>
                    <a:pt x="6035701" y="1121584"/>
                  </a:lnTo>
                  <a:lnTo>
                    <a:pt x="6005244" y="1088559"/>
                  </a:lnTo>
                  <a:lnTo>
                    <a:pt x="5974362" y="1055936"/>
                  </a:lnTo>
                  <a:lnTo>
                    <a:pt x="5943059" y="1023719"/>
                  </a:lnTo>
                  <a:lnTo>
                    <a:pt x="5911341" y="991914"/>
                  </a:lnTo>
                  <a:lnTo>
                    <a:pt x="5879210" y="960523"/>
                  </a:lnTo>
                  <a:lnTo>
                    <a:pt x="5846672" y="929552"/>
                  </a:lnTo>
                  <a:lnTo>
                    <a:pt x="5813731" y="899004"/>
                  </a:lnTo>
                  <a:lnTo>
                    <a:pt x="5780391" y="868885"/>
                  </a:lnTo>
                  <a:lnTo>
                    <a:pt x="5746657" y="839199"/>
                  </a:lnTo>
                  <a:lnTo>
                    <a:pt x="5712532" y="809950"/>
                  </a:lnTo>
                  <a:lnTo>
                    <a:pt x="5678023" y="781142"/>
                  </a:lnTo>
                  <a:lnTo>
                    <a:pt x="5643132" y="752779"/>
                  </a:lnTo>
                  <a:lnTo>
                    <a:pt x="5607864" y="724868"/>
                  </a:lnTo>
                  <a:lnTo>
                    <a:pt x="5572224" y="697410"/>
                  </a:lnTo>
                  <a:lnTo>
                    <a:pt x="5536216" y="670412"/>
                  </a:lnTo>
                  <a:lnTo>
                    <a:pt x="5499845" y="643877"/>
                  </a:lnTo>
                  <a:lnTo>
                    <a:pt x="5463114" y="617809"/>
                  </a:lnTo>
                  <a:lnTo>
                    <a:pt x="5426028" y="592214"/>
                  </a:lnTo>
                  <a:lnTo>
                    <a:pt x="5388592" y="567096"/>
                  </a:lnTo>
                  <a:lnTo>
                    <a:pt x="5350809" y="542458"/>
                  </a:lnTo>
                  <a:lnTo>
                    <a:pt x="5312685" y="518305"/>
                  </a:lnTo>
                  <a:lnTo>
                    <a:pt x="5274224" y="494643"/>
                  </a:lnTo>
                  <a:lnTo>
                    <a:pt x="5235430" y="471474"/>
                  </a:lnTo>
                  <a:lnTo>
                    <a:pt x="5196307" y="448803"/>
                  </a:lnTo>
                  <a:lnTo>
                    <a:pt x="5156859" y="426636"/>
                  </a:lnTo>
                  <a:lnTo>
                    <a:pt x="5117093" y="404976"/>
                  </a:lnTo>
                  <a:lnTo>
                    <a:pt x="5077010" y="383827"/>
                  </a:lnTo>
                  <a:lnTo>
                    <a:pt x="5036617" y="363194"/>
                  </a:lnTo>
                  <a:lnTo>
                    <a:pt x="4995917" y="343082"/>
                  </a:lnTo>
                  <a:lnTo>
                    <a:pt x="4954914" y="323494"/>
                  </a:lnTo>
                  <a:lnTo>
                    <a:pt x="4913614" y="304436"/>
                  </a:lnTo>
                  <a:lnTo>
                    <a:pt x="4872020" y="285911"/>
                  </a:lnTo>
                  <a:lnTo>
                    <a:pt x="4830137" y="267923"/>
                  </a:lnTo>
                  <a:lnTo>
                    <a:pt x="4787970" y="250479"/>
                  </a:lnTo>
                  <a:lnTo>
                    <a:pt x="4745522" y="233581"/>
                  </a:lnTo>
                  <a:lnTo>
                    <a:pt x="4702798" y="217234"/>
                  </a:lnTo>
                  <a:lnTo>
                    <a:pt x="4659802" y="201442"/>
                  </a:lnTo>
                  <a:lnTo>
                    <a:pt x="4616539" y="186210"/>
                  </a:lnTo>
                  <a:lnTo>
                    <a:pt x="4573013" y="171543"/>
                  </a:lnTo>
                  <a:lnTo>
                    <a:pt x="4529229" y="157444"/>
                  </a:lnTo>
                  <a:lnTo>
                    <a:pt x="4485191" y="143918"/>
                  </a:lnTo>
                  <a:lnTo>
                    <a:pt x="4440903" y="130969"/>
                  </a:lnTo>
                  <a:lnTo>
                    <a:pt x="4396370" y="118602"/>
                  </a:lnTo>
                  <a:lnTo>
                    <a:pt x="4351596" y="106822"/>
                  </a:lnTo>
                  <a:lnTo>
                    <a:pt x="4306585" y="95631"/>
                  </a:lnTo>
                  <a:lnTo>
                    <a:pt x="4261342" y="85036"/>
                  </a:lnTo>
                  <a:lnTo>
                    <a:pt x="4215871" y="75040"/>
                  </a:lnTo>
                  <a:lnTo>
                    <a:pt x="4170177" y="65648"/>
                  </a:lnTo>
                  <a:lnTo>
                    <a:pt x="4124264" y="56864"/>
                  </a:lnTo>
                  <a:lnTo>
                    <a:pt x="4078136" y="48692"/>
                  </a:lnTo>
                  <a:lnTo>
                    <a:pt x="4031798" y="41137"/>
                  </a:lnTo>
                  <a:lnTo>
                    <a:pt x="3985254" y="34204"/>
                  </a:lnTo>
                  <a:lnTo>
                    <a:pt x="3938509" y="27896"/>
                  </a:lnTo>
                  <a:lnTo>
                    <a:pt x="3891566" y="22218"/>
                  </a:lnTo>
                  <a:lnTo>
                    <a:pt x="3844431" y="17174"/>
                  </a:lnTo>
                  <a:lnTo>
                    <a:pt x="3797108" y="12769"/>
                  </a:lnTo>
                  <a:lnTo>
                    <a:pt x="3749600" y="9007"/>
                  </a:lnTo>
                  <a:lnTo>
                    <a:pt x="3701913" y="5893"/>
                  </a:lnTo>
                  <a:lnTo>
                    <a:pt x="3654051" y="3431"/>
                  </a:lnTo>
                  <a:lnTo>
                    <a:pt x="3606018" y="1625"/>
                  </a:lnTo>
                  <a:lnTo>
                    <a:pt x="3557818" y="480"/>
                  </a:lnTo>
                  <a:lnTo>
                    <a:pt x="3509456" y="0"/>
                  </a:lnTo>
                  <a:close/>
                </a:path>
              </a:pathLst>
            </a:custGeom>
            <a:solidFill>
              <a:srgbClr val="D23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473" y="2566069"/>
              <a:ext cx="204153" cy="2041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2951480" cy="2872740"/>
            </a:xfrm>
            <a:custGeom>
              <a:avLst/>
              <a:gdLst/>
              <a:ahLst/>
              <a:cxnLst/>
              <a:rect l="l" t="t" r="r" b="b"/>
              <a:pathLst>
                <a:path w="2951480" h="2872740">
                  <a:moveTo>
                    <a:pt x="2542816" y="0"/>
                  </a:moveTo>
                  <a:lnTo>
                    <a:pt x="2586351" y="53852"/>
                  </a:lnTo>
                  <a:lnTo>
                    <a:pt x="2613328" y="89684"/>
                  </a:lnTo>
                  <a:lnTo>
                    <a:pt x="2639400" y="126221"/>
                  </a:lnTo>
                  <a:lnTo>
                    <a:pt x="2664549" y="163446"/>
                  </a:lnTo>
                  <a:lnTo>
                    <a:pt x="2688761" y="201343"/>
                  </a:lnTo>
                  <a:lnTo>
                    <a:pt x="2712017" y="239895"/>
                  </a:lnTo>
                  <a:lnTo>
                    <a:pt x="2734301" y="279086"/>
                  </a:lnTo>
                  <a:lnTo>
                    <a:pt x="2755596" y="318898"/>
                  </a:lnTo>
                  <a:lnTo>
                    <a:pt x="2775886" y="359316"/>
                  </a:lnTo>
                  <a:lnTo>
                    <a:pt x="2795155" y="400321"/>
                  </a:lnTo>
                  <a:lnTo>
                    <a:pt x="2813384" y="441899"/>
                  </a:lnTo>
                  <a:lnTo>
                    <a:pt x="2830559" y="484031"/>
                  </a:lnTo>
                  <a:lnTo>
                    <a:pt x="2846662" y="526702"/>
                  </a:lnTo>
                  <a:lnTo>
                    <a:pt x="2861675" y="569895"/>
                  </a:lnTo>
                  <a:lnTo>
                    <a:pt x="2875584" y="613592"/>
                  </a:lnTo>
                  <a:lnTo>
                    <a:pt x="2888371" y="657778"/>
                  </a:lnTo>
                  <a:lnTo>
                    <a:pt x="2900019" y="702436"/>
                  </a:lnTo>
                  <a:lnTo>
                    <a:pt x="2910512" y="747549"/>
                  </a:lnTo>
                  <a:lnTo>
                    <a:pt x="2919832" y="793100"/>
                  </a:lnTo>
                  <a:lnTo>
                    <a:pt x="2927964" y="839073"/>
                  </a:lnTo>
                  <a:lnTo>
                    <a:pt x="2934891" y="885450"/>
                  </a:lnTo>
                  <a:lnTo>
                    <a:pt x="2940596" y="932216"/>
                  </a:lnTo>
                  <a:lnTo>
                    <a:pt x="2945062" y="979354"/>
                  </a:lnTo>
                  <a:lnTo>
                    <a:pt x="2948273" y="1026847"/>
                  </a:lnTo>
                  <a:lnTo>
                    <a:pt x="2950211" y="1074678"/>
                  </a:lnTo>
                  <a:lnTo>
                    <a:pt x="2950861" y="1122831"/>
                  </a:lnTo>
                  <a:lnTo>
                    <a:pt x="2950211" y="1170983"/>
                  </a:lnTo>
                  <a:lnTo>
                    <a:pt x="2948273" y="1218814"/>
                  </a:lnTo>
                  <a:lnTo>
                    <a:pt x="2945062" y="1266307"/>
                  </a:lnTo>
                  <a:lnTo>
                    <a:pt x="2940596" y="1313445"/>
                  </a:lnTo>
                  <a:lnTo>
                    <a:pt x="2934891" y="1360211"/>
                  </a:lnTo>
                  <a:lnTo>
                    <a:pt x="2927964" y="1406589"/>
                  </a:lnTo>
                  <a:lnTo>
                    <a:pt x="2919832" y="1452562"/>
                  </a:lnTo>
                  <a:lnTo>
                    <a:pt x="2910512" y="1498114"/>
                  </a:lnTo>
                  <a:lnTo>
                    <a:pt x="2900019" y="1543227"/>
                  </a:lnTo>
                  <a:lnTo>
                    <a:pt x="2888371" y="1587885"/>
                  </a:lnTo>
                  <a:lnTo>
                    <a:pt x="2875584" y="1632071"/>
                  </a:lnTo>
                  <a:lnTo>
                    <a:pt x="2861675" y="1675769"/>
                  </a:lnTo>
                  <a:lnTo>
                    <a:pt x="2846662" y="1718963"/>
                  </a:lnTo>
                  <a:lnTo>
                    <a:pt x="2830559" y="1761634"/>
                  </a:lnTo>
                  <a:lnTo>
                    <a:pt x="2813384" y="1803767"/>
                  </a:lnTo>
                  <a:lnTo>
                    <a:pt x="2795155" y="1845345"/>
                  </a:lnTo>
                  <a:lnTo>
                    <a:pt x="2775886" y="1886352"/>
                  </a:lnTo>
                  <a:lnTo>
                    <a:pt x="2755596" y="1926770"/>
                  </a:lnTo>
                  <a:lnTo>
                    <a:pt x="2734301" y="1966583"/>
                  </a:lnTo>
                  <a:lnTo>
                    <a:pt x="2712017" y="2005774"/>
                  </a:lnTo>
                  <a:lnTo>
                    <a:pt x="2688761" y="2044327"/>
                  </a:lnTo>
                  <a:lnTo>
                    <a:pt x="2664549" y="2082224"/>
                  </a:lnTo>
                  <a:lnTo>
                    <a:pt x="2639400" y="2119450"/>
                  </a:lnTo>
                  <a:lnTo>
                    <a:pt x="2613328" y="2155988"/>
                  </a:lnTo>
                  <a:lnTo>
                    <a:pt x="2586351" y="2191821"/>
                  </a:lnTo>
                  <a:lnTo>
                    <a:pt x="2558486" y="2226931"/>
                  </a:lnTo>
                  <a:lnTo>
                    <a:pt x="2529749" y="2261304"/>
                  </a:lnTo>
                  <a:lnTo>
                    <a:pt x="2500157" y="2294921"/>
                  </a:lnTo>
                  <a:lnTo>
                    <a:pt x="2469726" y="2327766"/>
                  </a:lnTo>
                  <a:lnTo>
                    <a:pt x="2438474" y="2359823"/>
                  </a:lnTo>
                  <a:lnTo>
                    <a:pt x="2406416" y="2391075"/>
                  </a:lnTo>
                  <a:lnTo>
                    <a:pt x="2373570" y="2421505"/>
                  </a:lnTo>
                  <a:lnTo>
                    <a:pt x="2339952" y="2451097"/>
                  </a:lnTo>
                  <a:lnTo>
                    <a:pt x="2305579" y="2479833"/>
                  </a:lnTo>
                  <a:lnTo>
                    <a:pt x="2270468" y="2507698"/>
                  </a:lnTo>
                  <a:lnTo>
                    <a:pt x="2234634" y="2534674"/>
                  </a:lnTo>
                  <a:lnTo>
                    <a:pt x="2198096" y="2560745"/>
                  </a:lnTo>
                  <a:lnTo>
                    <a:pt x="2160870" y="2585894"/>
                  </a:lnTo>
                  <a:lnTo>
                    <a:pt x="2122971" y="2610104"/>
                  </a:lnTo>
                  <a:lnTo>
                    <a:pt x="2084418" y="2633360"/>
                  </a:lnTo>
                  <a:lnTo>
                    <a:pt x="2045226" y="2655643"/>
                  </a:lnTo>
                  <a:lnTo>
                    <a:pt x="2005412" y="2676938"/>
                  </a:lnTo>
                  <a:lnTo>
                    <a:pt x="1964994" y="2697228"/>
                  </a:lnTo>
                  <a:lnTo>
                    <a:pt x="1923987" y="2716496"/>
                  </a:lnTo>
                  <a:lnTo>
                    <a:pt x="1882408" y="2734725"/>
                  </a:lnTo>
                  <a:lnTo>
                    <a:pt x="1840275" y="2751899"/>
                  </a:lnTo>
                  <a:lnTo>
                    <a:pt x="1797603" y="2768001"/>
                  </a:lnTo>
                  <a:lnTo>
                    <a:pt x="1754409" y="2783014"/>
                  </a:lnTo>
                  <a:lnTo>
                    <a:pt x="1710711" y="2796923"/>
                  </a:lnTo>
                  <a:lnTo>
                    <a:pt x="1666524" y="2809709"/>
                  </a:lnTo>
                  <a:lnTo>
                    <a:pt x="1621865" y="2821357"/>
                  </a:lnTo>
                  <a:lnTo>
                    <a:pt x="1576752" y="2831849"/>
                  </a:lnTo>
                  <a:lnTo>
                    <a:pt x="1531200" y="2841170"/>
                  </a:lnTo>
                  <a:lnTo>
                    <a:pt x="1485227" y="2849301"/>
                  </a:lnTo>
                  <a:lnTo>
                    <a:pt x="1438849" y="2856228"/>
                  </a:lnTo>
                  <a:lnTo>
                    <a:pt x="1392082" y="2861933"/>
                  </a:lnTo>
                  <a:lnTo>
                    <a:pt x="1344944" y="2866398"/>
                  </a:lnTo>
                  <a:lnTo>
                    <a:pt x="1297451" y="2869609"/>
                  </a:lnTo>
                  <a:lnTo>
                    <a:pt x="1249620" y="2871548"/>
                  </a:lnTo>
                  <a:lnTo>
                    <a:pt x="1201468" y="2872197"/>
                  </a:lnTo>
                  <a:lnTo>
                    <a:pt x="1153318" y="2871548"/>
                  </a:lnTo>
                  <a:lnTo>
                    <a:pt x="1105489" y="2869609"/>
                  </a:lnTo>
                  <a:lnTo>
                    <a:pt x="1057999" y="2866398"/>
                  </a:lnTo>
                  <a:lnTo>
                    <a:pt x="1010864" y="2861932"/>
                  </a:lnTo>
                  <a:lnTo>
                    <a:pt x="964100" y="2856228"/>
                  </a:lnTo>
                  <a:lnTo>
                    <a:pt x="917724" y="2849301"/>
                  </a:lnTo>
                  <a:lnTo>
                    <a:pt x="871753" y="2841170"/>
                  </a:lnTo>
                  <a:lnTo>
                    <a:pt x="826204" y="2831849"/>
                  </a:lnTo>
                  <a:lnTo>
                    <a:pt x="781092" y="2821357"/>
                  </a:lnTo>
                  <a:lnTo>
                    <a:pt x="736436" y="2809709"/>
                  </a:lnTo>
                  <a:lnTo>
                    <a:pt x="692251" y="2796923"/>
                  </a:lnTo>
                  <a:lnTo>
                    <a:pt x="648555" y="2783014"/>
                  </a:lnTo>
                  <a:lnTo>
                    <a:pt x="605363" y="2768001"/>
                  </a:lnTo>
                  <a:lnTo>
                    <a:pt x="562693" y="2751899"/>
                  </a:lnTo>
                  <a:lnTo>
                    <a:pt x="520561" y="2734725"/>
                  </a:lnTo>
                  <a:lnTo>
                    <a:pt x="478984" y="2716495"/>
                  </a:lnTo>
                  <a:lnTo>
                    <a:pt x="437979" y="2697228"/>
                  </a:lnTo>
                  <a:lnTo>
                    <a:pt x="397562" y="2676938"/>
                  </a:lnTo>
                  <a:lnTo>
                    <a:pt x="357750" y="2655643"/>
                  </a:lnTo>
                  <a:lnTo>
                    <a:pt x="318559" y="2633360"/>
                  </a:lnTo>
                  <a:lnTo>
                    <a:pt x="280007" y="2610104"/>
                  </a:lnTo>
                  <a:lnTo>
                    <a:pt x="242110" y="2585894"/>
                  </a:lnTo>
                  <a:lnTo>
                    <a:pt x="204885" y="2560745"/>
                  </a:lnTo>
                  <a:lnTo>
                    <a:pt x="168347" y="2534674"/>
                  </a:lnTo>
                  <a:lnTo>
                    <a:pt x="132515" y="2507698"/>
                  </a:lnTo>
                  <a:lnTo>
                    <a:pt x="97405" y="2479833"/>
                  </a:lnTo>
                  <a:lnTo>
                    <a:pt x="63033" y="2451097"/>
                  </a:lnTo>
                  <a:lnTo>
                    <a:pt x="29416" y="2421505"/>
                  </a:lnTo>
                  <a:lnTo>
                    <a:pt x="0" y="2394251"/>
                  </a:lnTo>
                </a:path>
              </a:pathLst>
            </a:custGeom>
            <a:ln w="138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82798" y="1368854"/>
              <a:ext cx="183359" cy="1833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768281" y="4"/>
              <a:ext cx="1424305" cy="2638425"/>
            </a:xfrm>
            <a:custGeom>
              <a:avLst/>
              <a:gdLst/>
              <a:ahLst/>
              <a:cxnLst/>
              <a:rect l="l" t="t" r="r" b="b"/>
              <a:pathLst>
                <a:path w="1424304" h="2638425">
                  <a:moveTo>
                    <a:pt x="1423715" y="2638229"/>
                  </a:moveTo>
                  <a:lnTo>
                    <a:pt x="1382350" y="2627460"/>
                  </a:lnTo>
                  <a:lnTo>
                    <a:pt x="1337210" y="2614488"/>
                  </a:lnTo>
                  <a:lnTo>
                    <a:pt x="1292574" y="2600443"/>
                  </a:lnTo>
                  <a:lnTo>
                    <a:pt x="1248458" y="2585339"/>
                  </a:lnTo>
                  <a:lnTo>
                    <a:pt x="1204874" y="2569193"/>
                  </a:lnTo>
                  <a:lnTo>
                    <a:pt x="1161836" y="2552021"/>
                  </a:lnTo>
                  <a:lnTo>
                    <a:pt x="1119356" y="2533838"/>
                  </a:lnTo>
                  <a:lnTo>
                    <a:pt x="1077450" y="2514662"/>
                  </a:lnTo>
                  <a:lnTo>
                    <a:pt x="1036129" y="2494507"/>
                  </a:lnTo>
                  <a:lnTo>
                    <a:pt x="995407" y="2473391"/>
                  </a:lnTo>
                  <a:lnTo>
                    <a:pt x="955298" y="2451328"/>
                  </a:lnTo>
                  <a:lnTo>
                    <a:pt x="915814" y="2428336"/>
                  </a:lnTo>
                  <a:lnTo>
                    <a:pt x="876971" y="2404430"/>
                  </a:lnTo>
                  <a:lnTo>
                    <a:pt x="838780" y="2379626"/>
                  </a:lnTo>
                  <a:lnTo>
                    <a:pt x="801255" y="2353940"/>
                  </a:lnTo>
                  <a:lnTo>
                    <a:pt x="764409" y="2327389"/>
                  </a:lnTo>
                  <a:lnTo>
                    <a:pt x="728256" y="2299988"/>
                  </a:lnTo>
                  <a:lnTo>
                    <a:pt x="692810" y="2271753"/>
                  </a:lnTo>
                  <a:lnTo>
                    <a:pt x="658083" y="2242701"/>
                  </a:lnTo>
                  <a:lnTo>
                    <a:pt x="624090" y="2212848"/>
                  </a:lnTo>
                  <a:lnTo>
                    <a:pt x="590842" y="2182209"/>
                  </a:lnTo>
                  <a:lnTo>
                    <a:pt x="558355" y="2150801"/>
                  </a:lnTo>
                  <a:lnTo>
                    <a:pt x="526641" y="2118639"/>
                  </a:lnTo>
                  <a:lnTo>
                    <a:pt x="495713" y="2085740"/>
                  </a:lnTo>
                  <a:lnTo>
                    <a:pt x="465585" y="2052120"/>
                  </a:lnTo>
                  <a:lnTo>
                    <a:pt x="436270" y="2017795"/>
                  </a:lnTo>
                  <a:lnTo>
                    <a:pt x="407783" y="1982781"/>
                  </a:lnTo>
                  <a:lnTo>
                    <a:pt x="380135" y="1947094"/>
                  </a:lnTo>
                  <a:lnTo>
                    <a:pt x="353341" y="1910749"/>
                  </a:lnTo>
                  <a:lnTo>
                    <a:pt x="327413" y="1873764"/>
                  </a:lnTo>
                  <a:lnTo>
                    <a:pt x="302366" y="1836154"/>
                  </a:lnTo>
                  <a:lnTo>
                    <a:pt x="278212" y="1797935"/>
                  </a:lnTo>
                  <a:lnTo>
                    <a:pt x="254966" y="1759124"/>
                  </a:lnTo>
                  <a:lnTo>
                    <a:pt x="232640" y="1719735"/>
                  </a:lnTo>
                  <a:lnTo>
                    <a:pt x="211247" y="1679786"/>
                  </a:lnTo>
                  <a:lnTo>
                    <a:pt x="190802" y="1639292"/>
                  </a:lnTo>
                  <a:lnTo>
                    <a:pt x="171317" y="1598270"/>
                  </a:lnTo>
                  <a:lnTo>
                    <a:pt x="152806" y="1556735"/>
                  </a:lnTo>
                  <a:lnTo>
                    <a:pt x="135282" y="1514704"/>
                  </a:lnTo>
                  <a:lnTo>
                    <a:pt x="118759" y="1472192"/>
                  </a:lnTo>
                  <a:lnTo>
                    <a:pt x="103250" y="1429216"/>
                  </a:lnTo>
                  <a:lnTo>
                    <a:pt x="88769" y="1385792"/>
                  </a:lnTo>
                  <a:lnTo>
                    <a:pt x="75328" y="1341935"/>
                  </a:lnTo>
                  <a:lnTo>
                    <a:pt x="62941" y="1297663"/>
                  </a:lnTo>
                  <a:lnTo>
                    <a:pt x="51622" y="1252990"/>
                  </a:lnTo>
                  <a:lnTo>
                    <a:pt x="41384" y="1207933"/>
                  </a:lnTo>
                  <a:lnTo>
                    <a:pt x="32240" y="1162508"/>
                  </a:lnTo>
                  <a:lnTo>
                    <a:pt x="24204" y="1116731"/>
                  </a:lnTo>
                  <a:lnTo>
                    <a:pt x="17289" y="1070618"/>
                  </a:lnTo>
                  <a:lnTo>
                    <a:pt x="11509" y="1024185"/>
                  </a:lnTo>
                  <a:lnTo>
                    <a:pt x="6876" y="977448"/>
                  </a:lnTo>
                  <a:lnTo>
                    <a:pt x="3405" y="930424"/>
                  </a:lnTo>
                  <a:lnTo>
                    <a:pt x="1108" y="883127"/>
                  </a:lnTo>
                  <a:lnTo>
                    <a:pt x="0" y="835576"/>
                  </a:lnTo>
                  <a:lnTo>
                    <a:pt x="92" y="787784"/>
                  </a:lnTo>
                  <a:lnTo>
                    <a:pt x="1400" y="739769"/>
                  </a:lnTo>
                  <a:lnTo>
                    <a:pt x="3935" y="691547"/>
                  </a:lnTo>
                  <a:lnTo>
                    <a:pt x="7712" y="643133"/>
                  </a:lnTo>
                  <a:lnTo>
                    <a:pt x="12713" y="594830"/>
                  </a:lnTo>
                  <a:lnTo>
                    <a:pt x="18901" y="546939"/>
                  </a:lnTo>
                  <a:lnTo>
                    <a:pt x="26259" y="499473"/>
                  </a:lnTo>
                  <a:lnTo>
                    <a:pt x="34773" y="452446"/>
                  </a:lnTo>
                  <a:lnTo>
                    <a:pt x="44424" y="405870"/>
                  </a:lnTo>
                  <a:lnTo>
                    <a:pt x="55199" y="359760"/>
                  </a:lnTo>
                  <a:lnTo>
                    <a:pt x="67080" y="314129"/>
                  </a:lnTo>
                  <a:lnTo>
                    <a:pt x="80051" y="268991"/>
                  </a:lnTo>
                  <a:lnTo>
                    <a:pt x="94097" y="224357"/>
                  </a:lnTo>
                  <a:lnTo>
                    <a:pt x="109201" y="180243"/>
                  </a:lnTo>
                  <a:lnTo>
                    <a:pt x="125347" y="136660"/>
                  </a:lnTo>
                  <a:lnTo>
                    <a:pt x="142519" y="93624"/>
                  </a:lnTo>
                  <a:lnTo>
                    <a:pt x="160702" y="51147"/>
                  </a:lnTo>
                  <a:lnTo>
                    <a:pt x="179879" y="9241"/>
                  </a:lnTo>
                  <a:lnTo>
                    <a:pt x="184387" y="0"/>
                  </a:lnTo>
                </a:path>
              </a:pathLst>
            </a:custGeom>
            <a:ln w="12524">
              <a:solidFill>
                <a:srgbClr val="D13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86450" y="6374167"/>
              <a:ext cx="6805930" cy="0"/>
            </a:xfrm>
            <a:custGeom>
              <a:avLst/>
              <a:gdLst/>
              <a:ahLst/>
              <a:cxnLst/>
              <a:rect l="l" t="t" r="r" b="b"/>
              <a:pathLst>
                <a:path w="6805930">
                  <a:moveTo>
                    <a:pt x="0" y="0"/>
                  </a:moveTo>
                  <a:lnTo>
                    <a:pt x="6805549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58495" y="3790315"/>
            <a:ext cx="33375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45" dirty="0"/>
              <a:t>Gracias</a:t>
            </a:r>
            <a:endParaRPr sz="7200"/>
          </a:p>
        </p:txBody>
      </p:sp>
      <p:grpSp>
        <p:nvGrpSpPr>
          <p:cNvPr id="11" name="object 11"/>
          <p:cNvGrpSpPr/>
          <p:nvPr/>
        </p:nvGrpSpPr>
        <p:grpSpPr>
          <a:xfrm>
            <a:off x="553453" y="506794"/>
            <a:ext cx="1330325" cy="1155700"/>
            <a:chOff x="553453" y="506794"/>
            <a:chExt cx="1330325" cy="1155700"/>
          </a:xfrm>
        </p:grpSpPr>
        <p:sp>
          <p:nvSpPr>
            <p:cNvPr id="12" name="object 12"/>
            <p:cNvSpPr/>
            <p:nvPr/>
          </p:nvSpPr>
          <p:spPr>
            <a:xfrm>
              <a:off x="553453" y="1173772"/>
              <a:ext cx="50165" cy="267335"/>
            </a:xfrm>
            <a:custGeom>
              <a:avLst/>
              <a:gdLst/>
              <a:ahLst/>
              <a:cxnLst/>
              <a:rect l="l" t="t" r="r" b="b"/>
              <a:pathLst>
                <a:path w="50165" h="267334">
                  <a:moveTo>
                    <a:pt x="49955" y="0"/>
                  </a:moveTo>
                  <a:lnTo>
                    <a:pt x="0" y="0"/>
                  </a:lnTo>
                  <a:lnTo>
                    <a:pt x="0" y="267080"/>
                  </a:lnTo>
                  <a:lnTo>
                    <a:pt x="49955" y="267080"/>
                  </a:lnTo>
                  <a:lnTo>
                    <a:pt x="499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142" y="1249827"/>
              <a:ext cx="179546" cy="1910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0502" y="1199503"/>
              <a:ext cx="353148" cy="2450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6426" y="1249085"/>
              <a:ext cx="127732" cy="19176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22095" y="1166494"/>
              <a:ext cx="55880" cy="274955"/>
            </a:xfrm>
            <a:custGeom>
              <a:avLst/>
              <a:gdLst/>
              <a:ahLst/>
              <a:cxnLst/>
              <a:rect l="l" t="t" r="r" b="b"/>
              <a:pathLst>
                <a:path w="55880" h="274955">
                  <a:moveTo>
                    <a:pt x="52679" y="87160"/>
                  </a:moveTo>
                  <a:lnTo>
                    <a:pt x="3454" y="87160"/>
                  </a:lnTo>
                  <a:lnTo>
                    <a:pt x="3454" y="274370"/>
                  </a:lnTo>
                  <a:lnTo>
                    <a:pt x="52679" y="274370"/>
                  </a:lnTo>
                  <a:lnTo>
                    <a:pt x="52679" y="87160"/>
                  </a:lnTo>
                  <a:close/>
                </a:path>
                <a:path w="55880" h="274955">
                  <a:moveTo>
                    <a:pt x="55765" y="0"/>
                  </a:moveTo>
                  <a:lnTo>
                    <a:pt x="0" y="0"/>
                  </a:lnTo>
                  <a:lnTo>
                    <a:pt x="0" y="48590"/>
                  </a:lnTo>
                  <a:lnTo>
                    <a:pt x="55765" y="48590"/>
                  </a:lnTo>
                  <a:lnTo>
                    <a:pt x="557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8298" y="1249827"/>
              <a:ext cx="194014" cy="1947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5962" y="1249085"/>
              <a:ext cx="127600" cy="1917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1959" y="506794"/>
              <a:ext cx="525404" cy="5816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31953" y="1614834"/>
              <a:ext cx="273050" cy="47625"/>
            </a:xfrm>
            <a:custGeom>
              <a:avLst/>
              <a:gdLst/>
              <a:ahLst/>
              <a:cxnLst/>
              <a:rect l="l" t="t" r="r" b="b"/>
              <a:pathLst>
                <a:path w="273050" h="47625">
                  <a:moveTo>
                    <a:pt x="272773" y="0"/>
                  </a:moveTo>
                  <a:lnTo>
                    <a:pt x="0" y="0"/>
                  </a:lnTo>
                  <a:lnTo>
                    <a:pt x="0" y="47358"/>
                  </a:lnTo>
                  <a:lnTo>
                    <a:pt x="272773" y="47358"/>
                  </a:lnTo>
                  <a:lnTo>
                    <a:pt x="272773" y="0"/>
                  </a:lnTo>
                  <a:close/>
                </a:path>
              </a:pathLst>
            </a:custGeom>
            <a:solidFill>
              <a:srgbClr val="FCC5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4727" y="1614834"/>
              <a:ext cx="136525" cy="47625"/>
            </a:xfrm>
            <a:custGeom>
              <a:avLst/>
              <a:gdLst/>
              <a:ahLst/>
              <a:cxnLst/>
              <a:rect l="l" t="t" r="r" b="b"/>
              <a:pathLst>
                <a:path w="136525" h="47625">
                  <a:moveTo>
                    <a:pt x="136254" y="0"/>
                  </a:moveTo>
                  <a:lnTo>
                    <a:pt x="0" y="0"/>
                  </a:lnTo>
                  <a:lnTo>
                    <a:pt x="0" y="47234"/>
                  </a:lnTo>
                  <a:lnTo>
                    <a:pt x="136254" y="47234"/>
                  </a:lnTo>
                  <a:lnTo>
                    <a:pt x="136254" y="0"/>
                  </a:lnTo>
                  <a:close/>
                </a:path>
              </a:pathLst>
            </a:custGeom>
            <a:solidFill>
              <a:srgbClr val="213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40982" y="1614834"/>
              <a:ext cx="136525" cy="47625"/>
            </a:xfrm>
            <a:custGeom>
              <a:avLst/>
              <a:gdLst/>
              <a:ahLst/>
              <a:cxnLst/>
              <a:rect l="l" t="t" r="r" b="b"/>
              <a:pathLst>
                <a:path w="136525" h="47625">
                  <a:moveTo>
                    <a:pt x="136271" y="0"/>
                  </a:moveTo>
                  <a:lnTo>
                    <a:pt x="0" y="0"/>
                  </a:lnTo>
                  <a:lnTo>
                    <a:pt x="0" y="47234"/>
                  </a:lnTo>
                  <a:lnTo>
                    <a:pt x="136271" y="47234"/>
                  </a:lnTo>
                  <a:lnTo>
                    <a:pt x="136271" y="0"/>
                  </a:lnTo>
                  <a:close/>
                </a:path>
              </a:pathLst>
            </a:custGeom>
            <a:solidFill>
              <a:srgbClr val="D60D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BIERNO DEL CAMBIO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</TotalTime>
  <Words>2214</Words>
  <Application>Microsoft Office PowerPoint</Application>
  <PresentationFormat>Panorámica</PresentationFormat>
  <Paragraphs>158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Arial MT</vt:lpstr>
      <vt:lpstr>Calibri</vt:lpstr>
      <vt:lpstr>Helvetica</vt:lpstr>
      <vt:lpstr>Open Sans</vt:lpstr>
      <vt:lpstr>Tahoma</vt:lpstr>
      <vt:lpstr>Trebuchet MS</vt:lpstr>
      <vt:lpstr>Office Theme</vt:lpstr>
      <vt:lpstr>Tema de Office</vt:lpstr>
      <vt:lpstr>Presentación de PowerPoint</vt:lpstr>
      <vt:lpstr>Presentación de PowerPoint</vt:lpstr>
      <vt:lpstr>Presentación de PowerPoint</vt:lpstr>
      <vt:lpstr>¿QUÉ ES LA DECLARACION DE DERECHOS DEL CAMPESINADO?</vt:lpstr>
      <vt:lpstr>Presentación de PowerPoint</vt:lpstr>
      <vt:lpstr>Derechos reconocidos en la Declaración </vt:lpstr>
      <vt:lpstr>¿ A QUE SUJETO NOS ESTAMOS REFIRIENDO?</vt:lpstr>
      <vt:lpstr>Presentación de PowerPoint</vt:lpstr>
      <vt:lpstr>MULTIDIMENSIONALIDAD E INTEGRALIDAD VIDAS CAMPESINAS</vt:lpstr>
      <vt:lpstr>¿PORQUE ERA NECESARIO MODIFICAR EL ARTICULO 64?</vt:lpstr>
      <vt:lpstr>Presentación de PowerPoint</vt:lpstr>
      <vt:lpstr>¿QUÉ NOS DICE EL ARTICULO 64?</vt:lpstr>
      <vt:lpstr>Presentación de PowerPoint</vt:lpstr>
      <vt:lpstr>Presentación de PowerPoint</vt:lpstr>
      <vt:lpstr>Presentación de PowerPoint</vt:lpstr>
      <vt:lpstr>DESARROLLOS NORMATIVOS Y DE POLÍTICA PÚBLICA </vt:lpstr>
      <vt:lpstr>Normatividad Campesinado</vt:lpstr>
      <vt:lpstr>COMPETENCIAS DEPARTAMENTALES Y MUNICIPALES EN MATERIA DE CAMPESINADO </vt:lpstr>
      <vt:lpstr>Presentación de PowerPoint</vt:lpstr>
      <vt:lpstr>Presentación de PowerPoint</vt:lpstr>
      <vt:lpstr>ELEMENTOS HACIA DONDE DEBEMOS AVANZAR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TATIANA PC</dc:creator>
  <cp:lastModifiedBy>Luis Mauricio Castellanos Castellanos</cp:lastModifiedBy>
  <cp:revision>19</cp:revision>
  <dcterms:created xsi:type="dcterms:W3CDTF">2025-07-23T20:58:11Z</dcterms:created>
  <dcterms:modified xsi:type="dcterms:W3CDTF">2026-02-03T17:25:14Z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2025-07-23T00:00:00Z</vt:filetime>
  </property>
  <property fmtid="{D5CDD505-2E9C-101B-9397-08002B2CF9AE}" pid="5" name="Producer">
    <vt:lpwstr>Microsoft® PowerPoint® 2019</vt:lpwstr>
  </property>
</Properties>
</file>